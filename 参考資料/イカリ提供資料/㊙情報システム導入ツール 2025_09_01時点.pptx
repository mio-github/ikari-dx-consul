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1" r:id="rId2"/>
  </p:sldIdLst>
  <p:sldSz cx="9144000" cy="6858000" type="screen4x3"/>
  <p:notesSz cx="8428038" cy="122809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FFDF"/>
    <a:srgbClr val="97FFC6"/>
    <a:srgbClr val="19FF81"/>
    <a:srgbClr val="FF8181"/>
    <a:srgbClr val="C59EE2"/>
    <a:srgbClr val="D6BBEB"/>
    <a:srgbClr val="FFC5C5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29" autoAdjust="0"/>
    <p:restoredTop sz="96061" autoAdjust="0"/>
  </p:normalViewPr>
  <p:slideViewPr>
    <p:cSldViewPr>
      <p:cViewPr varScale="1">
        <p:scale>
          <a:sx n="110" d="100"/>
          <a:sy n="110" d="100"/>
        </p:scale>
        <p:origin x="223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52838" cy="614363"/>
          </a:xfrm>
          <a:prstGeom prst="rect">
            <a:avLst/>
          </a:prstGeom>
        </p:spPr>
        <p:txBody>
          <a:bodyPr vert="horz" lIns="113060" tIns="56530" rIns="113060" bIns="5653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775200" y="0"/>
            <a:ext cx="3651250" cy="614363"/>
          </a:xfrm>
          <a:prstGeom prst="rect">
            <a:avLst/>
          </a:prstGeom>
        </p:spPr>
        <p:txBody>
          <a:bodyPr vert="horz" lIns="113060" tIns="56530" rIns="113060" bIns="5653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ea typeface="+mn-ea"/>
              </a:defRPr>
            </a:lvl1pPr>
          </a:lstStyle>
          <a:p>
            <a:pPr>
              <a:defRPr/>
            </a:pPr>
            <a:fld id="{4F83A272-E1FC-4356-A8D9-01996B4BC817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6175" y="922338"/>
            <a:ext cx="6135688" cy="460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3060" tIns="56530" rIns="113060" bIns="5653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842963" y="5832475"/>
            <a:ext cx="6742112" cy="5526088"/>
          </a:xfrm>
          <a:prstGeom prst="rect">
            <a:avLst/>
          </a:prstGeom>
        </p:spPr>
        <p:txBody>
          <a:bodyPr vert="horz" lIns="113060" tIns="56530" rIns="113060" bIns="56530" rtlCol="0">
            <a:normAutofit/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11664950"/>
            <a:ext cx="3652838" cy="614363"/>
          </a:xfrm>
          <a:prstGeom prst="rect">
            <a:avLst/>
          </a:prstGeom>
        </p:spPr>
        <p:txBody>
          <a:bodyPr vert="horz" lIns="113060" tIns="56530" rIns="113060" bIns="5653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775200" y="11664950"/>
            <a:ext cx="3651250" cy="614363"/>
          </a:xfrm>
          <a:prstGeom prst="rect">
            <a:avLst/>
          </a:prstGeom>
        </p:spPr>
        <p:txBody>
          <a:bodyPr vert="horz" lIns="113060" tIns="56530" rIns="113060" bIns="5653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ea typeface="+mn-ea"/>
              </a:defRPr>
            </a:lvl1pPr>
          </a:lstStyle>
          <a:p>
            <a:pPr>
              <a:defRPr/>
            </a:pPr>
            <a:fld id="{5018F56F-EC97-46BA-87FA-D390E55B240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 dirty="0"/>
          </a:p>
        </p:txBody>
      </p:sp>
      <p:sp>
        <p:nvSpPr>
          <p:cNvPr id="4100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  <a:lvl2pPr marL="915988" indent="-352425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2pPr>
            <a:lvl3pPr marL="1411288" indent="-280988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3pPr>
            <a:lvl4pPr marL="1978025" indent="-280988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4pPr>
            <a:lvl5pPr marL="2541588" indent="-280988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5pPr>
            <a:lvl6pPr marL="2998788" indent="-280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6pPr>
            <a:lvl7pPr marL="3455988" indent="-280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7pPr>
            <a:lvl8pPr marL="3913188" indent="-280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8pPr>
            <a:lvl9pPr marL="4370388" indent="-280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F27DF6F-92DE-4E63-B9D3-82B63D60FC2D}" type="slidenum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7C1EC-F4E3-481E-9219-3E06020F8B72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A4129-1EBD-467D-A7DD-A2DA3976E47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1965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5825B-C469-4F76-BE46-E332FB3B026D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311FE-EFA1-4080-8394-690F842A097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8706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16E5A6-6A48-4B30-BD06-CD46EA2A465D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ED950-BDE7-4E64-B7FC-E9C8B46F766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89511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86897-C9A3-4C47-91A3-821B4A561B83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1B894-678B-44D7-8420-D4ACC65CD73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6668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FB485-CE4D-45A6-8E40-AEFEF68FCA66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64D94-5556-4511-A3D8-190EE3DD23C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164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DD2B1-E0F4-4162-B453-48EDC0EDAD74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6EF1FE-45C2-4554-86E5-4AF372DBB5C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739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D3748-A304-4ADD-9CAF-C3F68177FF64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00EC8-1950-4A2A-A273-59D445854C8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842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13551-0A33-4946-A35D-6962C6E9E87C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99CB40-BD1F-41D0-9B1D-F11FBC48D4E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13112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AAC64-4BD7-418A-A658-2E3A11BD7649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C27C6-3D5C-41E6-B65A-DB2B2A9F9EC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553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06716-502D-4C4E-8DD2-0864AC1B7817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E3159-B482-4714-B081-CA919AC6C18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947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E27-0764-46CB-9DF6-4CA1C3D2E9FF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E69D2-6EC3-4DF8-8EDE-05EC4949929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4234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385C837-3887-4AE8-B80D-4F403E4D9EB4}" type="datetimeFigureOut">
              <a:rPr lang="ja-JP" altLang="en-US"/>
              <a:pPr>
                <a:defRPr/>
              </a:pPr>
              <a:t>2025/11/7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AE98C81-0989-4EAF-87CF-17480B96FCA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tmp"/><Relationship Id="rId39" Type="http://schemas.openxmlformats.org/officeDocument/2006/relationships/image" Target="../media/image37.tmp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tmp"/><Relationship Id="rId47" Type="http://schemas.openxmlformats.org/officeDocument/2006/relationships/image" Target="../media/image4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tmp"/><Relationship Id="rId11" Type="http://schemas.openxmlformats.org/officeDocument/2006/relationships/image" Target="../media/image9.png"/><Relationship Id="rId24" Type="http://schemas.openxmlformats.org/officeDocument/2006/relationships/image" Target="../media/image22.tmp"/><Relationship Id="rId32" Type="http://schemas.openxmlformats.org/officeDocument/2006/relationships/image" Target="../media/image30.png"/><Relationship Id="rId37" Type="http://schemas.openxmlformats.org/officeDocument/2006/relationships/image" Target="../media/image35.tmp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tmp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tmp"/><Relationship Id="rId35" Type="http://schemas.openxmlformats.org/officeDocument/2006/relationships/image" Target="../media/image33.tmp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12" Type="http://schemas.openxmlformats.org/officeDocument/2006/relationships/image" Target="../media/image10.jpeg"/><Relationship Id="rId17" Type="http://schemas.openxmlformats.org/officeDocument/2006/relationships/image" Target="../media/image15.png"/><Relationship Id="rId25" Type="http://schemas.openxmlformats.org/officeDocument/2006/relationships/image" Target="../media/image23.tmp"/><Relationship Id="rId33" Type="http://schemas.openxmlformats.org/officeDocument/2006/relationships/image" Target="../media/image31.png"/><Relationship Id="rId38" Type="http://schemas.openxmlformats.org/officeDocument/2006/relationships/image" Target="../media/image36.tmp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正方形/長方形 215"/>
          <p:cNvSpPr/>
          <p:nvPr/>
        </p:nvSpPr>
        <p:spPr>
          <a:xfrm>
            <a:off x="355600" y="5577130"/>
            <a:ext cx="8705845" cy="10760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 dirty="0"/>
          </a:p>
        </p:txBody>
      </p:sp>
      <p:sp>
        <p:nvSpPr>
          <p:cNvPr id="270" name="正方形/長方形 269"/>
          <p:cNvSpPr/>
          <p:nvPr/>
        </p:nvSpPr>
        <p:spPr bwMode="auto">
          <a:xfrm>
            <a:off x="402611" y="5638542"/>
            <a:ext cx="673584" cy="75002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139" name="正方形/長方形 138"/>
          <p:cNvSpPr/>
          <p:nvPr/>
        </p:nvSpPr>
        <p:spPr bwMode="auto">
          <a:xfrm>
            <a:off x="38100" y="968375"/>
            <a:ext cx="538163" cy="5808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138" name="正方形/長方形 137"/>
          <p:cNvSpPr/>
          <p:nvPr/>
        </p:nvSpPr>
        <p:spPr bwMode="auto">
          <a:xfrm>
            <a:off x="1890229" y="3792645"/>
            <a:ext cx="682785" cy="66529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" name="正方形/長方形 1"/>
          <p:cNvSpPr/>
          <p:nvPr/>
        </p:nvSpPr>
        <p:spPr bwMode="auto">
          <a:xfrm>
            <a:off x="2365725" y="5688951"/>
            <a:ext cx="609815" cy="68727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8201" name="テキスト ボックス 253"/>
          <p:cNvSpPr txBox="1">
            <a:spLocks noChangeArrowheads="1"/>
          </p:cNvSpPr>
          <p:nvPr/>
        </p:nvSpPr>
        <p:spPr bwMode="auto">
          <a:xfrm rot="5400000">
            <a:off x="8686007" y="5276056"/>
            <a:ext cx="188912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>
                <a:latin typeface="Calibri" panose="020F0502020204030204" pitchFamily="34" charset="0"/>
              </a:rPr>
              <a:t>▼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410548" y="5626309"/>
            <a:ext cx="680410" cy="1183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 dirty="0"/>
          </a:p>
        </p:txBody>
      </p:sp>
      <p:sp>
        <p:nvSpPr>
          <p:cNvPr id="8" name="正方形/長方形 7"/>
          <p:cNvSpPr/>
          <p:nvPr/>
        </p:nvSpPr>
        <p:spPr>
          <a:xfrm>
            <a:off x="3690493" y="5628330"/>
            <a:ext cx="574241" cy="79717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9" name="正方形/長方形 8"/>
          <p:cNvSpPr/>
          <p:nvPr/>
        </p:nvSpPr>
        <p:spPr>
          <a:xfrm>
            <a:off x="3668615" y="5642184"/>
            <a:ext cx="523777" cy="1307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 dirty="0"/>
          </a:p>
        </p:txBody>
      </p:sp>
      <p:sp>
        <p:nvSpPr>
          <p:cNvPr id="8206" name="テキスト ボックス 286"/>
          <p:cNvSpPr txBox="1">
            <a:spLocks noChangeArrowheads="1"/>
          </p:cNvSpPr>
          <p:nvPr/>
        </p:nvSpPr>
        <p:spPr bwMode="auto">
          <a:xfrm>
            <a:off x="3693592" y="5635692"/>
            <a:ext cx="545969" cy="14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資産管理</a:t>
            </a:r>
            <a:endParaRPr lang="en-US" altLang="ja-JP" sz="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308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341" y="5961270"/>
            <a:ext cx="459746" cy="193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9" name="テキスト ボックス 325"/>
          <p:cNvSpPr txBox="1">
            <a:spLocks noChangeArrowheads="1"/>
          </p:cNvSpPr>
          <p:nvPr/>
        </p:nvSpPr>
        <p:spPr bwMode="auto">
          <a:xfrm>
            <a:off x="439123" y="5629483"/>
            <a:ext cx="782897" cy="132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5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総合経営管理システム</a:t>
            </a:r>
            <a:endParaRPr lang="en-US" altLang="ja-JP" sz="5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正方形/長方形 23"/>
          <p:cNvSpPr/>
          <p:nvPr/>
        </p:nvSpPr>
        <p:spPr bwMode="auto">
          <a:xfrm>
            <a:off x="1073397" y="5617842"/>
            <a:ext cx="686024" cy="73254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30" name="正方形/長方形 29"/>
          <p:cNvSpPr/>
          <p:nvPr/>
        </p:nvSpPr>
        <p:spPr bwMode="auto">
          <a:xfrm>
            <a:off x="4400768" y="5635469"/>
            <a:ext cx="696614" cy="96018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31" name="正方形/長方形 30"/>
          <p:cNvSpPr/>
          <p:nvPr/>
        </p:nvSpPr>
        <p:spPr bwMode="auto">
          <a:xfrm>
            <a:off x="4384488" y="5637421"/>
            <a:ext cx="541759" cy="13874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 dirty="0"/>
          </a:p>
        </p:txBody>
      </p:sp>
      <p:sp>
        <p:nvSpPr>
          <p:cNvPr id="8219" name="テキスト ボックス 338"/>
          <p:cNvSpPr txBox="1">
            <a:spLocks noChangeArrowheads="1"/>
          </p:cNvSpPr>
          <p:nvPr/>
        </p:nvSpPr>
        <p:spPr bwMode="auto">
          <a:xfrm>
            <a:off x="4349420" y="5608846"/>
            <a:ext cx="71135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ファイルサーバー</a:t>
            </a:r>
            <a:endParaRPr lang="en-US" altLang="ja-JP" sz="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5" name="正方形/長方形 34"/>
          <p:cNvSpPr/>
          <p:nvPr/>
        </p:nvSpPr>
        <p:spPr bwMode="auto">
          <a:xfrm>
            <a:off x="5956536" y="5679807"/>
            <a:ext cx="673539" cy="96018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36" name="正方形/長方形 35"/>
          <p:cNvSpPr/>
          <p:nvPr/>
        </p:nvSpPr>
        <p:spPr bwMode="auto">
          <a:xfrm>
            <a:off x="5929191" y="5657264"/>
            <a:ext cx="682970" cy="16482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 dirty="0"/>
          </a:p>
        </p:txBody>
      </p:sp>
      <p:sp>
        <p:nvSpPr>
          <p:cNvPr id="42" name="正方形/長方形 41"/>
          <p:cNvSpPr/>
          <p:nvPr/>
        </p:nvSpPr>
        <p:spPr bwMode="auto">
          <a:xfrm>
            <a:off x="6699324" y="5645357"/>
            <a:ext cx="532512" cy="94899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43" name="正方形/長方形 42"/>
          <p:cNvSpPr/>
          <p:nvPr/>
        </p:nvSpPr>
        <p:spPr bwMode="auto">
          <a:xfrm>
            <a:off x="6690489" y="5648532"/>
            <a:ext cx="518999" cy="1365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 dirty="0"/>
          </a:p>
        </p:txBody>
      </p:sp>
      <p:sp>
        <p:nvSpPr>
          <p:cNvPr id="8229" name="テキスト ボックス 338"/>
          <p:cNvSpPr txBox="1">
            <a:spLocks noChangeArrowheads="1"/>
          </p:cNvSpPr>
          <p:nvPr/>
        </p:nvSpPr>
        <p:spPr bwMode="auto">
          <a:xfrm>
            <a:off x="6629347" y="5633554"/>
            <a:ext cx="68263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AWS</a:t>
            </a:r>
            <a:r>
              <a:rPr lang="ja-JP" altLang="en-US" sz="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サーバー</a:t>
            </a:r>
            <a:endParaRPr lang="en-US" altLang="ja-JP" sz="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0" name="正方形/長方形 49"/>
          <p:cNvSpPr/>
          <p:nvPr/>
        </p:nvSpPr>
        <p:spPr bwMode="auto">
          <a:xfrm>
            <a:off x="8328973" y="5597378"/>
            <a:ext cx="589048" cy="16485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 dirty="0"/>
          </a:p>
        </p:txBody>
      </p:sp>
      <p:sp>
        <p:nvSpPr>
          <p:cNvPr id="8234" name="テキスト ボックス 338"/>
          <p:cNvSpPr txBox="1">
            <a:spLocks noChangeArrowheads="1"/>
          </p:cNvSpPr>
          <p:nvPr/>
        </p:nvSpPr>
        <p:spPr bwMode="auto">
          <a:xfrm>
            <a:off x="8298835" y="5577130"/>
            <a:ext cx="755692" cy="184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人事給与会計</a:t>
            </a:r>
            <a:endParaRPr lang="en-US" altLang="ja-JP" sz="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55" name="直線コネクタ 54"/>
          <p:cNvCxnSpPr>
            <a:cxnSpLocks/>
            <a:stCxn id="93" idx="1"/>
          </p:cNvCxnSpPr>
          <p:nvPr/>
        </p:nvCxnSpPr>
        <p:spPr>
          <a:xfrm flipH="1" flipV="1">
            <a:off x="3169947" y="4471334"/>
            <a:ext cx="832164" cy="37533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10" name="Picture 79" descr="Clou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060" y="4467235"/>
            <a:ext cx="1523104" cy="868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21" name="Picture 6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482" y="2222368"/>
            <a:ext cx="434975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66" name="テキスト ボックス 185"/>
          <p:cNvSpPr txBox="1">
            <a:spLocks noChangeArrowheads="1"/>
          </p:cNvSpPr>
          <p:nvPr/>
        </p:nvSpPr>
        <p:spPr bwMode="auto">
          <a:xfrm>
            <a:off x="3713584" y="2312062"/>
            <a:ext cx="884238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1088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インターネット</a:t>
            </a:r>
          </a:p>
        </p:txBody>
      </p:sp>
      <p:pic>
        <p:nvPicPr>
          <p:cNvPr id="3123" name="Picture 45" descr="droppedImage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526" y="2798030"/>
            <a:ext cx="3476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</p:pic>
      <p:sp>
        <p:nvSpPr>
          <p:cNvPr id="8272" name="テキスト ボックス 122"/>
          <p:cNvSpPr txBox="1">
            <a:spLocks noChangeArrowheads="1"/>
          </p:cNvSpPr>
          <p:nvPr/>
        </p:nvSpPr>
        <p:spPr bwMode="auto">
          <a:xfrm>
            <a:off x="122050" y="4466555"/>
            <a:ext cx="7524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68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DOCOMO</a:t>
            </a:r>
            <a:r>
              <a:rPr lang="ja-JP" altLang="en-US" sz="968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網</a:t>
            </a:r>
          </a:p>
        </p:txBody>
      </p:sp>
      <p:pic>
        <p:nvPicPr>
          <p:cNvPr id="123" name="Picture 40" descr="ICON_Laptop_Q30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30410" y="4404468"/>
            <a:ext cx="292100" cy="325437"/>
          </a:xfrm>
          <a:prstGeom prst="rect">
            <a:avLst/>
          </a:prstGeom>
          <a:noFill/>
          <a:ln>
            <a:noFill/>
          </a:ln>
          <a:effectLst>
            <a:outerShdw blurRad="76200" sy="23000" kx="-1199993" algn="bl" rotWithShape="0">
              <a:srgbClr val="00000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30" name="Picture 39" descr="droppedImage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808" y="4646285"/>
            <a:ext cx="182562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</p:pic>
      <p:sp>
        <p:nvSpPr>
          <p:cNvPr id="8276" name="テキスト ボックス 92"/>
          <p:cNvSpPr txBox="1">
            <a:spLocks noChangeArrowheads="1"/>
          </p:cNvSpPr>
          <p:nvPr/>
        </p:nvSpPr>
        <p:spPr bwMode="auto">
          <a:xfrm>
            <a:off x="304305" y="4840183"/>
            <a:ext cx="75565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solidFill>
                  <a:srgbClr val="953735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PKI</a:t>
            </a:r>
            <a:r>
              <a:rPr lang="ja-JP" altLang="en-US" sz="605" dirty="0">
                <a:solidFill>
                  <a:srgbClr val="953735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認証</a:t>
            </a:r>
            <a:br>
              <a:rPr lang="en-US" altLang="ja-JP" sz="605" dirty="0">
                <a:solidFill>
                  <a:srgbClr val="953735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</a:br>
            <a:r>
              <a:rPr lang="ja-JP" altLang="en-US" sz="605" dirty="0">
                <a:solidFill>
                  <a:srgbClr val="953735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プラットフォーム（</a:t>
            </a:r>
            <a:r>
              <a:rPr lang="en-US" altLang="ja-JP" sz="605" dirty="0">
                <a:solidFill>
                  <a:srgbClr val="953735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BIG-IP)</a:t>
            </a:r>
          </a:p>
        </p:txBody>
      </p:sp>
      <p:sp>
        <p:nvSpPr>
          <p:cNvPr id="129" name="正方形/長方形 128"/>
          <p:cNvSpPr/>
          <p:nvPr/>
        </p:nvSpPr>
        <p:spPr>
          <a:xfrm>
            <a:off x="130175" y="680065"/>
            <a:ext cx="9032875" cy="2047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8280" name="テキスト ボックス 182"/>
          <p:cNvSpPr txBox="1">
            <a:spLocks noChangeArrowheads="1"/>
          </p:cNvSpPr>
          <p:nvPr/>
        </p:nvSpPr>
        <p:spPr bwMode="auto">
          <a:xfrm>
            <a:off x="343341" y="693737"/>
            <a:ext cx="80867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968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クラウドサービスなど</a:t>
            </a:r>
            <a:endParaRPr lang="en-US" altLang="ja-JP" sz="968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282" name="テキスト ボックス 166"/>
          <p:cNvSpPr txBox="1">
            <a:spLocks noChangeArrowheads="1"/>
          </p:cNvSpPr>
          <p:nvPr/>
        </p:nvSpPr>
        <p:spPr bwMode="auto">
          <a:xfrm>
            <a:off x="29370" y="1149577"/>
            <a:ext cx="582612" cy="335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エドムインクルメント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140" name="正方形/長方形 139"/>
          <p:cNvSpPr/>
          <p:nvPr/>
        </p:nvSpPr>
        <p:spPr bwMode="auto">
          <a:xfrm>
            <a:off x="649288" y="987425"/>
            <a:ext cx="520700" cy="58896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8285" name="テキスト ボックス 166"/>
          <p:cNvSpPr txBox="1">
            <a:spLocks noChangeArrowheads="1"/>
          </p:cNvSpPr>
          <p:nvPr/>
        </p:nvSpPr>
        <p:spPr bwMode="auto">
          <a:xfrm>
            <a:off x="626368" y="1302747"/>
            <a:ext cx="527050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サイドソナー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m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ソナー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145" name="正方形/長方形 144"/>
          <p:cNvSpPr/>
          <p:nvPr/>
        </p:nvSpPr>
        <p:spPr>
          <a:xfrm>
            <a:off x="1882527" y="3604644"/>
            <a:ext cx="690487" cy="16328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148" name="正方形/長方形 147"/>
          <p:cNvSpPr/>
          <p:nvPr/>
        </p:nvSpPr>
        <p:spPr>
          <a:xfrm>
            <a:off x="42863" y="974725"/>
            <a:ext cx="530225" cy="177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8289" name="テキスト ボックス 165"/>
          <p:cNvSpPr txBox="1">
            <a:spLocks noChangeArrowheads="1"/>
          </p:cNvSpPr>
          <p:nvPr/>
        </p:nvSpPr>
        <p:spPr bwMode="auto">
          <a:xfrm>
            <a:off x="2295230" y="3628347"/>
            <a:ext cx="265112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本社</a:t>
            </a:r>
          </a:p>
        </p:txBody>
      </p:sp>
      <p:sp>
        <p:nvSpPr>
          <p:cNvPr id="149" name="正方形/長方形 148"/>
          <p:cNvSpPr/>
          <p:nvPr/>
        </p:nvSpPr>
        <p:spPr>
          <a:xfrm>
            <a:off x="652463" y="990600"/>
            <a:ext cx="519112" cy="1492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8292" name="テキスト ボックス 165"/>
          <p:cNvSpPr txBox="1">
            <a:spLocks noChangeArrowheads="1"/>
          </p:cNvSpPr>
          <p:nvPr/>
        </p:nvSpPr>
        <p:spPr bwMode="auto">
          <a:xfrm>
            <a:off x="38100" y="990600"/>
            <a:ext cx="593725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ホームページ</a:t>
            </a:r>
          </a:p>
        </p:txBody>
      </p:sp>
      <p:sp>
        <p:nvSpPr>
          <p:cNvPr id="8293" name="テキスト ボックス 165"/>
          <p:cNvSpPr txBox="1">
            <a:spLocks noChangeArrowheads="1"/>
          </p:cNvSpPr>
          <p:nvPr/>
        </p:nvSpPr>
        <p:spPr bwMode="auto">
          <a:xfrm>
            <a:off x="692134" y="986834"/>
            <a:ext cx="500062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b="1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uSonar</a:t>
            </a:r>
            <a:endParaRPr lang="ja-JP" altLang="en-US" sz="605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50" name="正方形/長方形 149"/>
          <p:cNvSpPr/>
          <p:nvPr/>
        </p:nvSpPr>
        <p:spPr bwMode="auto">
          <a:xfrm>
            <a:off x="7356044" y="985125"/>
            <a:ext cx="554037" cy="103258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153" name="正方形/長方形 152"/>
          <p:cNvSpPr/>
          <p:nvPr/>
        </p:nvSpPr>
        <p:spPr>
          <a:xfrm>
            <a:off x="7360806" y="981950"/>
            <a:ext cx="546100" cy="1682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cxnSp>
        <p:nvCxnSpPr>
          <p:cNvPr id="170" name="直線コネクタ 169"/>
          <p:cNvCxnSpPr/>
          <p:nvPr/>
        </p:nvCxnSpPr>
        <p:spPr>
          <a:xfrm flipV="1">
            <a:off x="4153527" y="2117395"/>
            <a:ext cx="0" cy="2016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06" name="テキスト ボックス 253"/>
          <p:cNvSpPr txBox="1">
            <a:spLocks noChangeArrowheads="1"/>
          </p:cNvSpPr>
          <p:nvPr/>
        </p:nvSpPr>
        <p:spPr bwMode="auto">
          <a:xfrm rot="5400000">
            <a:off x="8976519" y="2026444"/>
            <a:ext cx="188913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>
                <a:latin typeface="Calibri" panose="020F0502020204030204" pitchFamily="34" charset="0"/>
              </a:rPr>
              <a:t>▼</a:t>
            </a:r>
          </a:p>
        </p:txBody>
      </p:sp>
      <p:sp>
        <p:nvSpPr>
          <p:cNvPr id="208" name="正方形/長方形 207"/>
          <p:cNvSpPr/>
          <p:nvPr/>
        </p:nvSpPr>
        <p:spPr>
          <a:xfrm>
            <a:off x="7990" y="-1698"/>
            <a:ext cx="9144000" cy="4095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8330" name="テキスト ボックス 7"/>
          <p:cNvSpPr txBox="1">
            <a:spLocks noChangeArrowheads="1"/>
          </p:cNvSpPr>
          <p:nvPr/>
        </p:nvSpPr>
        <p:spPr bwMode="auto">
          <a:xfrm>
            <a:off x="31554" y="20414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2116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運用構成図　</a:t>
            </a:r>
            <a:r>
              <a:rPr lang="en-US" altLang="ja-JP" sz="2116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2025/9/1</a:t>
            </a:r>
            <a:r>
              <a:rPr lang="ja-JP" altLang="en-US" sz="2116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時点</a:t>
            </a:r>
          </a:p>
        </p:txBody>
      </p:sp>
      <p:sp>
        <p:nvSpPr>
          <p:cNvPr id="226" name="テキスト ボックス 225"/>
          <p:cNvSpPr txBox="1"/>
          <p:nvPr/>
        </p:nvSpPr>
        <p:spPr>
          <a:xfrm>
            <a:off x="3744981" y="5369445"/>
            <a:ext cx="2008187" cy="2587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1088" dirty="0">
                <a:latin typeface="+mn-ea"/>
                <a:ea typeface="+mn-ea"/>
              </a:rPr>
              <a:t>データセンター</a:t>
            </a:r>
          </a:p>
        </p:txBody>
      </p:sp>
      <p:pic>
        <p:nvPicPr>
          <p:cNvPr id="3174" name="Picture 79" descr="C:\Users\ACE030155\Desktop\1504_t120f_bezel_cw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230" y="3850912"/>
            <a:ext cx="3603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45" name="テキスト ボックス 166"/>
          <p:cNvSpPr txBox="1">
            <a:spLocks noChangeArrowheads="1"/>
          </p:cNvSpPr>
          <p:nvPr/>
        </p:nvSpPr>
        <p:spPr bwMode="auto">
          <a:xfrm>
            <a:off x="1918102" y="4311451"/>
            <a:ext cx="558800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映像サーバー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241" name="直線コネクタ 240"/>
          <p:cNvCxnSpPr>
            <a:cxnSpLocks/>
            <a:stCxn id="54" idx="0"/>
            <a:endCxn id="3121" idx="2"/>
          </p:cNvCxnSpPr>
          <p:nvPr/>
        </p:nvCxnSpPr>
        <p:spPr>
          <a:xfrm flipV="1">
            <a:off x="2126484" y="2658931"/>
            <a:ext cx="1995486" cy="9698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正方形/長方形 242"/>
          <p:cNvSpPr/>
          <p:nvPr/>
        </p:nvSpPr>
        <p:spPr bwMode="auto">
          <a:xfrm>
            <a:off x="8456612" y="998537"/>
            <a:ext cx="631823" cy="169551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8348" name="テキスト ボックス 166"/>
          <p:cNvSpPr txBox="1">
            <a:spLocks noChangeArrowheads="1"/>
          </p:cNvSpPr>
          <p:nvPr/>
        </p:nvSpPr>
        <p:spPr bwMode="auto">
          <a:xfrm>
            <a:off x="8429625" y="1362075"/>
            <a:ext cx="714375" cy="521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イカリナビ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Exchage</a:t>
            </a: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メール）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Teams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OneDrive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OneNote</a:t>
            </a:r>
          </a:p>
        </p:txBody>
      </p:sp>
      <p:sp>
        <p:nvSpPr>
          <p:cNvPr id="245" name="正方形/長方形 244"/>
          <p:cNvSpPr/>
          <p:nvPr/>
        </p:nvSpPr>
        <p:spPr>
          <a:xfrm>
            <a:off x="8429625" y="984250"/>
            <a:ext cx="631825" cy="1444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8350" name="テキスト ボックス 165"/>
          <p:cNvSpPr txBox="1">
            <a:spLocks noChangeArrowheads="1"/>
          </p:cNvSpPr>
          <p:nvPr/>
        </p:nvSpPr>
        <p:spPr bwMode="auto">
          <a:xfrm>
            <a:off x="8472488" y="992188"/>
            <a:ext cx="508000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Office365</a:t>
            </a:r>
            <a:endParaRPr lang="ja-JP" altLang="en-US" sz="605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05" name="正方形/長方形 204"/>
          <p:cNvSpPr/>
          <p:nvPr/>
        </p:nvSpPr>
        <p:spPr>
          <a:xfrm>
            <a:off x="2352600" y="5638541"/>
            <a:ext cx="642294" cy="13351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 dirty="0"/>
          </a:p>
        </p:txBody>
      </p:sp>
      <p:sp>
        <p:nvSpPr>
          <p:cNvPr id="8362" name="テキスト ボックス 325"/>
          <p:cNvSpPr txBox="1">
            <a:spLocks noChangeArrowheads="1"/>
          </p:cNvSpPr>
          <p:nvPr/>
        </p:nvSpPr>
        <p:spPr bwMode="auto">
          <a:xfrm>
            <a:off x="2372147" y="5638541"/>
            <a:ext cx="655257" cy="209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5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アクティブディレクトリー</a:t>
            </a:r>
            <a:endParaRPr lang="en-US" altLang="ja-JP" sz="5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3183" name="Picture 79" descr="C:\Users\ACE030155\Desktop\1504_t120f_bezel_cw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575" y="5845069"/>
            <a:ext cx="281848" cy="333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64" name="テキスト ボックス 166"/>
          <p:cNvSpPr txBox="1">
            <a:spLocks noChangeArrowheads="1"/>
          </p:cNvSpPr>
          <p:nvPr/>
        </p:nvSpPr>
        <p:spPr bwMode="auto">
          <a:xfrm>
            <a:off x="2336365" y="6139627"/>
            <a:ext cx="671972" cy="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パスワードポリシー</a:t>
            </a:r>
            <a:endParaRPr lang="en-US" altLang="ja-JP" sz="500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ユーザー管理</a:t>
            </a:r>
            <a:endParaRPr lang="en-US" altLang="ja-JP" sz="500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Windows</a:t>
            </a:r>
            <a:r>
              <a:rPr lang="ja-JP" altLang="en-US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パッチ</a:t>
            </a:r>
            <a:endParaRPr lang="en-US" altLang="ja-JP" sz="500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218" name="正方形/長方形 217"/>
          <p:cNvSpPr/>
          <p:nvPr/>
        </p:nvSpPr>
        <p:spPr>
          <a:xfrm>
            <a:off x="1078798" y="5624379"/>
            <a:ext cx="673583" cy="14207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800" b="1" dirty="0">
                <a:solidFill>
                  <a:schemeClr val="tx1"/>
                </a:solidFill>
              </a:rPr>
              <a:t>情報基盤</a:t>
            </a:r>
            <a:r>
              <a:rPr lang="en-US" altLang="ja-JP" sz="800" b="1" dirty="0">
                <a:solidFill>
                  <a:schemeClr val="tx1"/>
                </a:solidFill>
              </a:rPr>
              <a:t>SV</a:t>
            </a:r>
            <a:endParaRPr lang="ja-JP" altLang="en-US" sz="800" b="1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/>
          <p:cNvSpPr/>
          <p:nvPr/>
        </p:nvSpPr>
        <p:spPr bwMode="auto">
          <a:xfrm>
            <a:off x="1796690" y="1155602"/>
            <a:ext cx="520700" cy="88274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22" name="正方形/長方形 221"/>
          <p:cNvSpPr/>
          <p:nvPr/>
        </p:nvSpPr>
        <p:spPr>
          <a:xfrm>
            <a:off x="1811338" y="981075"/>
            <a:ext cx="520700" cy="165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229" name="正方形/長方形 228"/>
          <p:cNvSpPr/>
          <p:nvPr/>
        </p:nvSpPr>
        <p:spPr bwMode="auto">
          <a:xfrm>
            <a:off x="1198563" y="1008241"/>
            <a:ext cx="574675" cy="58698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42" name="正方形/長方形 241"/>
          <p:cNvSpPr/>
          <p:nvPr/>
        </p:nvSpPr>
        <p:spPr>
          <a:xfrm>
            <a:off x="1195388" y="996723"/>
            <a:ext cx="577850" cy="15081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266" name="正方形/長方形 265"/>
          <p:cNvSpPr/>
          <p:nvPr/>
        </p:nvSpPr>
        <p:spPr bwMode="auto">
          <a:xfrm>
            <a:off x="7921877" y="973931"/>
            <a:ext cx="546100" cy="103743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67" name="正方形/長方形 266"/>
          <p:cNvSpPr/>
          <p:nvPr/>
        </p:nvSpPr>
        <p:spPr>
          <a:xfrm>
            <a:off x="7908384" y="984428"/>
            <a:ext cx="536575" cy="1555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pic>
        <p:nvPicPr>
          <p:cNvPr id="3196" name="図 27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" b="-17"/>
          <a:stretch>
            <a:fillRect/>
          </a:stretch>
        </p:blipFill>
        <p:spPr bwMode="auto">
          <a:xfrm>
            <a:off x="1850299" y="1005763"/>
            <a:ext cx="430212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" name="正方形/長方形 182"/>
          <p:cNvSpPr/>
          <p:nvPr/>
        </p:nvSpPr>
        <p:spPr bwMode="auto">
          <a:xfrm>
            <a:off x="4568605" y="1008062"/>
            <a:ext cx="509588" cy="537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184" name="正方形/長方形 183"/>
          <p:cNvSpPr/>
          <p:nvPr/>
        </p:nvSpPr>
        <p:spPr>
          <a:xfrm>
            <a:off x="4552730" y="979487"/>
            <a:ext cx="527050" cy="17145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1088" dirty="0"/>
              <a:t>ファイ</a:t>
            </a:r>
          </a:p>
        </p:txBody>
      </p:sp>
      <p:sp>
        <p:nvSpPr>
          <p:cNvPr id="186" name="テキスト ボックス 166"/>
          <p:cNvSpPr txBox="1">
            <a:spLocks noChangeArrowheads="1"/>
          </p:cNvSpPr>
          <p:nvPr/>
        </p:nvSpPr>
        <p:spPr bwMode="auto">
          <a:xfrm>
            <a:off x="4543205" y="1270000"/>
            <a:ext cx="59848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顧客との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ファイル共有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pic>
        <p:nvPicPr>
          <p:cNvPr id="3204" name="図 22" descr="画面の領域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305" y="1193800"/>
            <a:ext cx="469900" cy="6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0" name="正方形/長方形 189"/>
          <p:cNvSpPr/>
          <p:nvPr/>
        </p:nvSpPr>
        <p:spPr bwMode="auto">
          <a:xfrm>
            <a:off x="5678969" y="1000125"/>
            <a:ext cx="528638" cy="1011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191" name="正方形/長方形 190"/>
          <p:cNvSpPr/>
          <p:nvPr/>
        </p:nvSpPr>
        <p:spPr bwMode="auto">
          <a:xfrm>
            <a:off x="5680557" y="985837"/>
            <a:ext cx="514350" cy="1666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8371" name="テキスト ボックス 165"/>
          <p:cNvSpPr txBox="1">
            <a:spLocks noChangeArrowheads="1"/>
          </p:cNvSpPr>
          <p:nvPr/>
        </p:nvSpPr>
        <p:spPr bwMode="auto">
          <a:xfrm>
            <a:off x="7933783" y="974903"/>
            <a:ext cx="461963" cy="14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メール対策</a:t>
            </a:r>
          </a:p>
        </p:txBody>
      </p:sp>
      <p:pic>
        <p:nvPicPr>
          <p:cNvPr id="3210" name="図 2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1" b="-9"/>
          <a:stretch>
            <a:fillRect/>
          </a:stretch>
        </p:blipFill>
        <p:spPr bwMode="auto">
          <a:xfrm>
            <a:off x="7955214" y="1160565"/>
            <a:ext cx="419100" cy="11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" name="テキスト ボックス 165"/>
          <p:cNvSpPr txBox="1">
            <a:spLocks noChangeArrowheads="1"/>
          </p:cNvSpPr>
          <p:nvPr/>
        </p:nvSpPr>
        <p:spPr bwMode="auto">
          <a:xfrm>
            <a:off x="1222375" y="978694"/>
            <a:ext cx="54768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E-</a:t>
            </a: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ラーニング</a:t>
            </a:r>
          </a:p>
        </p:txBody>
      </p:sp>
      <p:pic>
        <p:nvPicPr>
          <p:cNvPr id="3212" name="図 18" descr="画面の領域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762" y="1179529"/>
            <a:ext cx="173576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13" name="図 19" descr="画面の領域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923" y="1175631"/>
            <a:ext cx="302841" cy="8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" name="正方形/長方形 195"/>
          <p:cNvSpPr/>
          <p:nvPr/>
        </p:nvSpPr>
        <p:spPr bwMode="auto">
          <a:xfrm>
            <a:off x="2585849" y="3772811"/>
            <a:ext cx="1171575" cy="6851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197" name="正方形/長方形 196"/>
          <p:cNvSpPr/>
          <p:nvPr/>
        </p:nvSpPr>
        <p:spPr>
          <a:xfrm>
            <a:off x="2579499" y="3601360"/>
            <a:ext cx="1165482" cy="17621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088">
                <a:solidFill>
                  <a:schemeClr val="tx1"/>
                </a:solidFill>
              </a:rPr>
              <a:t>LCS</a:t>
            </a:r>
            <a:endParaRPr lang="ja-JP" altLang="en-US" sz="1088" dirty="0">
              <a:solidFill>
                <a:schemeClr val="tx1"/>
              </a:solidFill>
            </a:endParaRPr>
          </a:p>
        </p:txBody>
      </p:sp>
      <p:pic>
        <p:nvPicPr>
          <p:cNvPr id="3234" name="Picture 79" descr="C:\Users\ACE030155\Desktop\1504_t120f_bezel_cw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336" y="3804560"/>
            <a:ext cx="36036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35" name="Picture 79" descr="C:\Users\ACE030155\Desktop\1504_t120f_bezel_cw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011" y="3804560"/>
            <a:ext cx="36036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2" name="テキスト ボックス 166"/>
          <p:cNvSpPr txBox="1">
            <a:spLocks noChangeArrowheads="1"/>
          </p:cNvSpPr>
          <p:nvPr/>
        </p:nvSpPr>
        <p:spPr bwMode="auto">
          <a:xfrm>
            <a:off x="2608074" y="4253823"/>
            <a:ext cx="474662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環境分析システム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203" name="テキスト ボックス 166"/>
          <p:cNvSpPr txBox="1">
            <a:spLocks noChangeArrowheads="1"/>
          </p:cNvSpPr>
          <p:nvPr/>
        </p:nvSpPr>
        <p:spPr bwMode="auto">
          <a:xfrm>
            <a:off x="3060511" y="4215723"/>
            <a:ext cx="49688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微生物検査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システム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204" name="正方形/長方形 203"/>
          <p:cNvSpPr/>
          <p:nvPr/>
        </p:nvSpPr>
        <p:spPr bwMode="auto">
          <a:xfrm>
            <a:off x="3744981" y="3783836"/>
            <a:ext cx="1234729" cy="6667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07" name="正方形/長方形 206"/>
          <p:cNvSpPr/>
          <p:nvPr/>
        </p:nvSpPr>
        <p:spPr>
          <a:xfrm>
            <a:off x="3773922" y="3603939"/>
            <a:ext cx="1187450" cy="1666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088" dirty="0">
                <a:solidFill>
                  <a:schemeClr val="tx1"/>
                </a:solidFill>
              </a:rPr>
              <a:t>E</a:t>
            </a:r>
            <a:r>
              <a:rPr lang="ja-JP" altLang="en-US" sz="1088" dirty="0">
                <a:solidFill>
                  <a:schemeClr val="tx1"/>
                </a:solidFill>
              </a:rPr>
              <a:t>センター</a:t>
            </a:r>
          </a:p>
        </p:txBody>
      </p:sp>
      <p:pic>
        <p:nvPicPr>
          <p:cNvPr id="3241" name="Picture 79" descr="C:\Users\ACE030155\Desktop\1504_t120f_bezel_cw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472" y="3807649"/>
            <a:ext cx="36036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" name="テキスト ボックス 166"/>
          <p:cNvSpPr txBox="1">
            <a:spLocks noChangeArrowheads="1"/>
          </p:cNvSpPr>
          <p:nvPr/>
        </p:nvSpPr>
        <p:spPr bwMode="auto">
          <a:xfrm>
            <a:off x="4510147" y="4279055"/>
            <a:ext cx="438150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CX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開発機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227" name="正方形/長方形 226"/>
          <p:cNvSpPr/>
          <p:nvPr/>
        </p:nvSpPr>
        <p:spPr bwMode="auto">
          <a:xfrm>
            <a:off x="6785700" y="1002799"/>
            <a:ext cx="560388" cy="1535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36" name="正方形/長方形 235"/>
          <p:cNvSpPr/>
          <p:nvPr/>
        </p:nvSpPr>
        <p:spPr>
          <a:xfrm>
            <a:off x="6787288" y="985336"/>
            <a:ext cx="555625" cy="1619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8355" name="テキスト ボックス 165"/>
          <p:cNvSpPr txBox="1">
            <a:spLocks noChangeArrowheads="1"/>
          </p:cNvSpPr>
          <p:nvPr/>
        </p:nvSpPr>
        <p:spPr bwMode="auto">
          <a:xfrm>
            <a:off x="5650394" y="982662"/>
            <a:ext cx="588963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ウィルス対策</a:t>
            </a:r>
          </a:p>
        </p:txBody>
      </p:sp>
      <p:sp>
        <p:nvSpPr>
          <p:cNvPr id="244" name="正方形/長方形 243"/>
          <p:cNvSpPr/>
          <p:nvPr/>
        </p:nvSpPr>
        <p:spPr bwMode="auto">
          <a:xfrm>
            <a:off x="3480195" y="969283"/>
            <a:ext cx="530225" cy="10366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46" name="正方形/長方形 245"/>
          <p:cNvSpPr/>
          <p:nvPr/>
        </p:nvSpPr>
        <p:spPr>
          <a:xfrm>
            <a:off x="3484957" y="969283"/>
            <a:ext cx="527050" cy="165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247" name="テキスト ボックス 165"/>
          <p:cNvSpPr txBox="1">
            <a:spLocks noChangeArrowheads="1"/>
          </p:cNvSpPr>
          <p:nvPr/>
        </p:nvSpPr>
        <p:spPr bwMode="auto">
          <a:xfrm>
            <a:off x="3461145" y="983570"/>
            <a:ext cx="601662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メルマガ配信</a:t>
            </a:r>
          </a:p>
        </p:txBody>
      </p:sp>
      <p:pic>
        <p:nvPicPr>
          <p:cNvPr id="3251" name="図 11" descr="画面の領域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397" y="1152725"/>
            <a:ext cx="525462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9" name="正方形/長方形 248"/>
          <p:cNvSpPr/>
          <p:nvPr/>
        </p:nvSpPr>
        <p:spPr bwMode="auto">
          <a:xfrm>
            <a:off x="4024200" y="1021591"/>
            <a:ext cx="528637" cy="103663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51" name="正方形/長方形 250"/>
          <p:cNvSpPr/>
          <p:nvPr/>
        </p:nvSpPr>
        <p:spPr>
          <a:xfrm>
            <a:off x="4016663" y="978101"/>
            <a:ext cx="527050" cy="165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252" name="テキスト ボックス 165"/>
          <p:cNvSpPr txBox="1">
            <a:spLocks noChangeArrowheads="1"/>
          </p:cNvSpPr>
          <p:nvPr/>
        </p:nvSpPr>
        <p:spPr bwMode="auto">
          <a:xfrm>
            <a:off x="4036934" y="988119"/>
            <a:ext cx="603250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遠隔サポート</a:t>
            </a:r>
          </a:p>
        </p:txBody>
      </p:sp>
      <p:pic>
        <p:nvPicPr>
          <p:cNvPr id="3255" name="図 12" descr="画面の領域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951" y="1179714"/>
            <a:ext cx="461962" cy="11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3" name="テキスト ボックス 166"/>
          <p:cNvSpPr txBox="1">
            <a:spLocks noChangeArrowheads="1"/>
          </p:cNvSpPr>
          <p:nvPr/>
        </p:nvSpPr>
        <p:spPr bwMode="auto">
          <a:xfrm>
            <a:off x="3476360" y="1262872"/>
            <a:ext cx="59848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・三重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・検査分析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・営業推進部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pic>
        <p:nvPicPr>
          <p:cNvPr id="3257" name="図 14" descr="画面の領域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888" y="1151949"/>
            <a:ext cx="584200" cy="16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4" name="テキスト ボックス 166"/>
          <p:cNvSpPr txBox="1">
            <a:spLocks noChangeArrowheads="1"/>
          </p:cNvSpPr>
          <p:nvPr/>
        </p:nvSpPr>
        <p:spPr bwMode="auto">
          <a:xfrm>
            <a:off x="7886017" y="1265341"/>
            <a:ext cx="628650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誤送信サービス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pic>
        <p:nvPicPr>
          <p:cNvPr id="3259" name="図 15" descr="画面の領域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416" y="1374463"/>
            <a:ext cx="487363" cy="10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5" name="テキスト ボックス 166"/>
          <p:cNvSpPr txBox="1">
            <a:spLocks noChangeArrowheads="1"/>
          </p:cNvSpPr>
          <p:nvPr/>
        </p:nvSpPr>
        <p:spPr bwMode="auto">
          <a:xfrm>
            <a:off x="7908060" y="1490854"/>
            <a:ext cx="577850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アーカイブ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256" name="テキスト ボックス 165"/>
          <p:cNvSpPr txBox="1">
            <a:spLocks noChangeArrowheads="1"/>
          </p:cNvSpPr>
          <p:nvPr/>
        </p:nvSpPr>
        <p:spPr bwMode="auto">
          <a:xfrm>
            <a:off x="4568605" y="1000125"/>
            <a:ext cx="506413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ファイル共有</a:t>
            </a:r>
          </a:p>
        </p:txBody>
      </p:sp>
      <p:sp>
        <p:nvSpPr>
          <p:cNvPr id="258" name="正方形/長方形 257"/>
          <p:cNvSpPr/>
          <p:nvPr/>
        </p:nvSpPr>
        <p:spPr bwMode="auto">
          <a:xfrm>
            <a:off x="5091150" y="1014097"/>
            <a:ext cx="561975" cy="100679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59" name="正方形/長方形 258"/>
          <p:cNvSpPr/>
          <p:nvPr/>
        </p:nvSpPr>
        <p:spPr>
          <a:xfrm>
            <a:off x="5106056" y="989012"/>
            <a:ext cx="547687" cy="1682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260" name="テキスト ボックス 165"/>
          <p:cNvSpPr txBox="1">
            <a:spLocks noChangeArrowheads="1"/>
          </p:cNvSpPr>
          <p:nvPr/>
        </p:nvSpPr>
        <p:spPr bwMode="auto">
          <a:xfrm>
            <a:off x="7340169" y="1005763"/>
            <a:ext cx="565150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ログイン管理</a:t>
            </a:r>
          </a:p>
        </p:txBody>
      </p:sp>
      <p:pic>
        <p:nvPicPr>
          <p:cNvPr id="3265" name="図 17" descr="画面の領域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694" y="1188325"/>
            <a:ext cx="530225" cy="11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66" name="図 18" descr="画面の領域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044" y="1318500"/>
            <a:ext cx="336550" cy="14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1" name="テキスト ボックス 166"/>
          <p:cNvSpPr txBox="1">
            <a:spLocks noChangeArrowheads="1"/>
          </p:cNvSpPr>
          <p:nvPr/>
        </p:nvSpPr>
        <p:spPr bwMode="auto">
          <a:xfrm>
            <a:off x="7327899" y="1432676"/>
            <a:ext cx="665063" cy="428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・シングルサイオン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・端末認証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・デバイス証明書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238" name="正方形/長方形 237"/>
          <p:cNvSpPr/>
          <p:nvPr/>
        </p:nvSpPr>
        <p:spPr bwMode="auto">
          <a:xfrm>
            <a:off x="1186512" y="1603356"/>
            <a:ext cx="574675" cy="58044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48" name="正方形/長方形 247"/>
          <p:cNvSpPr/>
          <p:nvPr/>
        </p:nvSpPr>
        <p:spPr>
          <a:xfrm>
            <a:off x="1204994" y="1605921"/>
            <a:ext cx="577850" cy="1492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250" name="テキスト ボックス 165"/>
          <p:cNvSpPr txBox="1">
            <a:spLocks noChangeArrowheads="1"/>
          </p:cNvSpPr>
          <p:nvPr/>
        </p:nvSpPr>
        <p:spPr bwMode="auto">
          <a:xfrm>
            <a:off x="1230394" y="1612271"/>
            <a:ext cx="547687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規程管理</a:t>
            </a:r>
          </a:p>
        </p:txBody>
      </p:sp>
      <p:sp>
        <p:nvSpPr>
          <p:cNvPr id="265" name="テキスト ボックス 166"/>
          <p:cNvSpPr txBox="1">
            <a:spLocks noChangeArrowheads="1"/>
          </p:cNvSpPr>
          <p:nvPr/>
        </p:nvSpPr>
        <p:spPr bwMode="auto">
          <a:xfrm>
            <a:off x="1217694" y="1947233"/>
            <a:ext cx="628650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文書の版管理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pic>
        <p:nvPicPr>
          <p:cNvPr id="3274" name="図 3" descr="画面の領域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106" y="1850396"/>
            <a:ext cx="552450" cy="11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9" name="図 3" descr="画面の領域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113" y="1180599"/>
            <a:ext cx="485775" cy="9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8" name="テキスト ボックス 165"/>
          <p:cNvSpPr txBox="1">
            <a:spLocks noChangeArrowheads="1"/>
          </p:cNvSpPr>
          <p:nvPr/>
        </p:nvSpPr>
        <p:spPr bwMode="auto">
          <a:xfrm>
            <a:off x="6801284" y="987896"/>
            <a:ext cx="561975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b="1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</a:t>
            </a:r>
            <a:endParaRPr lang="en-US" altLang="ja-JP" sz="605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71" name="正方形/長方形 270"/>
          <p:cNvSpPr/>
          <p:nvPr/>
        </p:nvSpPr>
        <p:spPr bwMode="auto">
          <a:xfrm>
            <a:off x="3055223" y="5735240"/>
            <a:ext cx="562720" cy="69910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>
              <a:solidFill>
                <a:schemeClr val="tx1"/>
              </a:solidFill>
            </a:endParaRPr>
          </a:p>
        </p:txBody>
      </p:sp>
      <p:sp>
        <p:nvSpPr>
          <p:cNvPr id="272" name="正方形/長方形 271"/>
          <p:cNvSpPr/>
          <p:nvPr/>
        </p:nvSpPr>
        <p:spPr bwMode="auto">
          <a:xfrm>
            <a:off x="3048789" y="5654773"/>
            <a:ext cx="535140" cy="12906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050" dirty="0"/>
              <a:t>USB</a:t>
            </a:r>
            <a:endParaRPr lang="ja-JP" altLang="en-US" sz="1050" dirty="0"/>
          </a:p>
        </p:txBody>
      </p:sp>
      <p:sp>
        <p:nvSpPr>
          <p:cNvPr id="273" name="テキスト ボックス 338"/>
          <p:cNvSpPr txBox="1">
            <a:spLocks noChangeArrowheads="1"/>
          </p:cNvSpPr>
          <p:nvPr/>
        </p:nvSpPr>
        <p:spPr bwMode="auto">
          <a:xfrm>
            <a:off x="3030252" y="5637855"/>
            <a:ext cx="6442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オフラインバックアップ</a:t>
            </a:r>
            <a:endParaRPr lang="en-US" altLang="ja-JP" sz="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80" name="正方形/長方形 279"/>
          <p:cNvSpPr/>
          <p:nvPr/>
        </p:nvSpPr>
        <p:spPr>
          <a:xfrm>
            <a:off x="5358661" y="91777"/>
            <a:ext cx="661987" cy="26511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81" name="テキスト ボックス 166"/>
          <p:cNvSpPr txBox="1">
            <a:spLocks noChangeArrowheads="1"/>
          </p:cNvSpPr>
          <p:nvPr/>
        </p:nvSpPr>
        <p:spPr bwMode="auto">
          <a:xfrm>
            <a:off x="5368812" y="133113"/>
            <a:ext cx="731837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今後の予定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292" name="テキスト ボックス 166"/>
          <p:cNvSpPr txBox="1">
            <a:spLocks noChangeArrowheads="1"/>
          </p:cNvSpPr>
          <p:nvPr/>
        </p:nvSpPr>
        <p:spPr bwMode="auto">
          <a:xfrm>
            <a:off x="5660679" y="1649397"/>
            <a:ext cx="5984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CX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用ホスト型</a:t>
            </a: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WAF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（開発）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SiteGuardLite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296" name="直線コネクタ 295"/>
          <p:cNvCxnSpPr>
            <a:cxnSpLocks/>
            <a:stCxn id="197" idx="0"/>
            <a:endCxn id="3121" idx="2"/>
          </p:cNvCxnSpPr>
          <p:nvPr/>
        </p:nvCxnSpPr>
        <p:spPr>
          <a:xfrm flipV="1">
            <a:off x="3162240" y="2658931"/>
            <a:ext cx="959730" cy="94242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線コネクタ 296"/>
          <p:cNvCxnSpPr>
            <a:cxnSpLocks/>
            <a:stCxn id="207" idx="0"/>
            <a:endCxn id="3121" idx="2"/>
          </p:cNvCxnSpPr>
          <p:nvPr/>
        </p:nvCxnSpPr>
        <p:spPr>
          <a:xfrm flipH="1" flipV="1">
            <a:off x="4121970" y="2658931"/>
            <a:ext cx="245677" cy="945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正方形/長方形 236"/>
          <p:cNvSpPr/>
          <p:nvPr/>
        </p:nvSpPr>
        <p:spPr bwMode="auto">
          <a:xfrm>
            <a:off x="58242" y="1596383"/>
            <a:ext cx="538163" cy="608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>
              <a:highlight>
                <a:srgbClr val="C5FFDF"/>
              </a:highlight>
            </a:endParaRPr>
          </a:p>
        </p:txBody>
      </p:sp>
      <p:sp>
        <p:nvSpPr>
          <p:cNvPr id="269" name="正方形/長方形 268"/>
          <p:cNvSpPr/>
          <p:nvPr/>
        </p:nvSpPr>
        <p:spPr>
          <a:xfrm>
            <a:off x="46246" y="1599286"/>
            <a:ext cx="530225" cy="18321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282" name="正方形/長方形 281"/>
          <p:cNvSpPr/>
          <p:nvPr/>
        </p:nvSpPr>
        <p:spPr bwMode="auto">
          <a:xfrm>
            <a:off x="641220" y="1576058"/>
            <a:ext cx="538163" cy="608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93" name="正方形/長方形 292"/>
          <p:cNvSpPr/>
          <p:nvPr/>
        </p:nvSpPr>
        <p:spPr>
          <a:xfrm>
            <a:off x="643397" y="1606615"/>
            <a:ext cx="530225" cy="18321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298" name="テキスト ボックス 165"/>
          <p:cNvSpPr txBox="1">
            <a:spLocks noChangeArrowheads="1"/>
          </p:cNvSpPr>
          <p:nvPr/>
        </p:nvSpPr>
        <p:spPr bwMode="auto">
          <a:xfrm>
            <a:off x="682625" y="1613696"/>
            <a:ext cx="593725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出張予約</a:t>
            </a:r>
          </a:p>
        </p:txBody>
      </p:sp>
      <p:pic>
        <p:nvPicPr>
          <p:cNvPr id="10" name="図 9" descr="画面の領域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49" y="1821798"/>
            <a:ext cx="355876" cy="181778"/>
          </a:xfrm>
          <a:prstGeom prst="rect">
            <a:avLst/>
          </a:prstGeom>
        </p:spPr>
      </p:pic>
      <p:sp>
        <p:nvSpPr>
          <p:cNvPr id="300" name="正方形/長方形 299"/>
          <p:cNvSpPr/>
          <p:nvPr/>
        </p:nvSpPr>
        <p:spPr bwMode="auto">
          <a:xfrm>
            <a:off x="66675" y="2193132"/>
            <a:ext cx="510456" cy="13460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301" name="正方形/長方形 300"/>
          <p:cNvSpPr/>
          <p:nvPr/>
        </p:nvSpPr>
        <p:spPr>
          <a:xfrm>
            <a:off x="55182" y="2211703"/>
            <a:ext cx="530225" cy="18321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302" name="テキスト ボックス 165"/>
          <p:cNvSpPr txBox="1">
            <a:spLocks noChangeArrowheads="1"/>
          </p:cNvSpPr>
          <p:nvPr/>
        </p:nvSpPr>
        <p:spPr bwMode="auto">
          <a:xfrm>
            <a:off x="53427" y="2232854"/>
            <a:ext cx="593725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人材管理</a:t>
            </a:r>
          </a:p>
        </p:txBody>
      </p:sp>
      <p:sp>
        <p:nvSpPr>
          <p:cNvPr id="304" name="正方形/長方形 303"/>
          <p:cNvSpPr/>
          <p:nvPr/>
        </p:nvSpPr>
        <p:spPr bwMode="auto">
          <a:xfrm>
            <a:off x="632394" y="2188884"/>
            <a:ext cx="538163" cy="608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305" name="正方形/長方形 304"/>
          <p:cNvSpPr/>
          <p:nvPr/>
        </p:nvSpPr>
        <p:spPr>
          <a:xfrm>
            <a:off x="646556" y="2214563"/>
            <a:ext cx="530225" cy="18321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306" name="テキスト ボックス 165"/>
          <p:cNvSpPr txBox="1">
            <a:spLocks noChangeArrowheads="1"/>
          </p:cNvSpPr>
          <p:nvPr/>
        </p:nvSpPr>
        <p:spPr bwMode="auto">
          <a:xfrm>
            <a:off x="630746" y="2239596"/>
            <a:ext cx="593725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社宅管理</a:t>
            </a:r>
          </a:p>
        </p:txBody>
      </p:sp>
      <p:sp>
        <p:nvSpPr>
          <p:cNvPr id="308" name="正方形/長方形 307"/>
          <p:cNvSpPr/>
          <p:nvPr/>
        </p:nvSpPr>
        <p:spPr bwMode="auto">
          <a:xfrm>
            <a:off x="1219183" y="2205285"/>
            <a:ext cx="538163" cy="608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309" name="正方形/長方形 308"/>
          <p:cNvSpPr/>
          <p:nvPr/>
        </p:nvSpPr>
        <p:spPr>
          <a:xfrm>
            <a:off x="1230013" y="2223761"/>
            <a:ext cx="530225" cy="18321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310" name="テキスト ボックス 165"/>
          <p:cNvSpPr txBox="1">
            <a:spLocks noChangeArrowheads="1"/>
          </p:cNvSpPr>
          <p:nvPr/>
        </p:nvSpPr>
        <p:spPr bwMode="auto">
          <a:xfrm>
            <a:off x="1261425" y="2242291"/>
            <a:ext cx="593725" cy="148916"/>
          </a:xfrm>
          <a:prstGeom prst="rect">
            <a:avLst/>
          </a:prstGeom>
          <a:noFill/>
          <a:ln>
            <a:noFill/>
          </a:ln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生命保険</a:t>
            </a:r>
          </a:p>
        </p:txBody>
      </p:sp>
      <p:sp>
        <p:nvSpPr>
          <p:cNvPr id="312" name="正方形/長方形 311"/>
          <p:cNvSpPr/>
          <p:nvPr/>
        </p:nvSpPr>
        <p:spPr bwMode="auto">
          <a:xfrm>
            <a:off x="1807225" y="2200942"/>
            <a:ext cx="538163" cy="608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313" name="正方形/長方形 312"/>
          <p:cNvSpPr/>
          <p:nvPr/>
        </p:nvSpPr>
        <p:spPr>
          <a:xfrm>
            <a:off x="1815163" y="2218202"/>
            <a:ext cx="530225" cy="18321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600" dirty="0">
              <a:solidFill>
                <a:schemeClr val="tx1"/>
              </a:solidFill>
            </a:endParaRPr>
          </a:p>
        </p:txBody>
      </p:sp>
      <p:sp>
        <p:nvSpPr>
          <p:cNvPr id="316" name="テキスト ボックス 166"/>
          <p:cNvSpPr txBox="1">
            <a:spLocks noChangeArrowheads="1"/>
          </p:cNvSpPr>
          <p:nvPr/>
        </p:nvSpPr>
        <p:spPr bwMode="auto">
          <a:xfrm>
            <a:off x="17808" y="2408062"/>
            <a:ext cx="552630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イースタッフィング（人事）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17" name="テキスト ボックス 166"/>
          <p:cNvSpPr txBox="1">
            <a:spLocks noChangeArrowheads="1"/>
          </p:cNvSpPr>
          <p:nvPr/>
        </p:nvSpPr>
        <p:spPr bwMode="auto">
          <a:xfrm>
            <a:off x="1220143" y="2407394"/>
            <a:ext cx="615950" cy="428223"/>
          </a:xfrm>
          <a:prstGeom prst="rect">
            <a:avLst/>
          </a:prstGeom>
          <a:noFill/>
          <a:ln>
            <a:noFill/>
          </a:ln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第一生命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団体生命インターネットサービス（総務）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18" name="テキスト ボックス 166"/>
          <p:cNvSpPr txBox="1">
            <a:spLocks noChangeArrowheads="1"/>
          </p:cNvSpPr>
          <p:nvPr/>
        </p:nvSpPr>
        <p:spPr bwMode="auto">
          <a:xfrm>
            <a:off x="641094" y="2400176"/>
            <a:ext cx="500063" cy="3351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レオパレス・リーシング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（総務）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19" name="テキスト ボックス 165"/>
          <p:cNvSpPr txBox="1">
            <a:spLocks noChangeArrowheads="1"/>
          </p:cNvSpPr>
          <p:nvPr/>
        </p:nvSpPr>
        <p:spPr bwMode="auto">
          <a:xfrm>
            <a:off x="1823244" y="2242744"/>
            <a:ext cx="593725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文具購入</a:t>
            </a:r>
          </a:p>
        </p:txBody>
      </p:sp>
      <p:sp>
        <p:nvSpPr>
          <p:cNvPr id="320" name="テキスト ボックス 166"/>
          <p:cNvSpPr txBox="1">
            <a:spLocks noChangeArrowheads="1"/>
          </p:cNvSpPr>
          <p:nvPr/>
        </p:nvSpPr>
        <p:spPr bwMode="auto">
          <a:xfrm>
            <a:off x="1844495" y="2421712"/>
            <a:ext cx="405387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Amaon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　</a:t>
            </a: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Business</a:t>
            </a:r>
          </a:p>
        </p:txBody>
      </p:sp>
      <p:sp>
        <p:nvSpPr>
          <p:cNvPr id="321" name="テキスト ボックス 166"/>
          <p:cNvSpPr txBox="1">
            <a:spLocks noChangeArrowheads="1"/>
          </p:cNvSpPr>
          <p:nvPr/>
        </p:nvSpPr>
        <p:spPr bwMode="auto">
          <a:xfrm>
            <a:off x="708515" y="1983099"/>
            <a:ext cx="405387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（経理）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27" name="正方形/長方形 326"/>
          <p:cNvSpPr/>
          <p:nvPr/>
        </p:nvSpPr>
        <p:spPr bwMode="auto">
          <a:xfrm>
            <a:off x="6212263" y="993900"/>
            <a:ext cx="563562" cy="10240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328" name="テキスト ボックス 166"/>
          <p:cNvSpPr txBox="1">
            <a:spLocks noChangeArrowheads="1"/>
          </p:cNvSpPr>
          <p:nvPr/>
        </p:nvSpPr>
        <p:spPr bwMode="auto">
          <a:xfrm>
            <a:off x="6228770" y="1161108"/>
            <a:ext cx="527050" cy="521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CX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システム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DataSpaider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WebForcus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AI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同定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（開発）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29" name="正方形/長方形 328"/>
          <p:cNvSpPr/>
          <p:nvPr/>
        </p:nvSpPr>
        <p:spPr>
          <a:xfrm>
            <a:off x="6210675" y="984376"/>
            <a:ext cx="558800" cy="16351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330" name="テキスト ボックス 165"/>
          <p:cNvSpPr txBox="1">
            <a:spLocks noChangeArrowheads="1"/>
          </p:cNvSpPr>
          <p:nvPr/>
        </p:nvSpPr>
        <p:spPr bwMode="auto">
          <a:xfrm>
            <a:off x="6291638" y="1016126"/>
            <a:ext cx="392112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ＡＷＳ</a:t>
            </a:r>
          </a:p>
        </p:txBody>
      </p:sp>
      <p:sp>
        <p:nvSpPr>
          <p:cNvPr id="333" name="テキスト ボックス 166"/>
          <p:cNvSpPr txBox="1">
            <a:spLocks noChangeArrowheads="1"/>
          </p:cNvSpPr>
          <p:nvPr/>
        </p:nvSpPr>
        <p:spPr bwMode="auto">
          <a:xfrm>
            <a:off x="6241379" y="1663463"/>
            <a:ext cx="615950" cy="335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トラップ受発注システム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（異物検査）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34" name="正方形/長方形 333"/>
          <p:cNvSpPr/>
          <p:nvPr/>
        </p:nvSpPr>
        <p:spPr bwMode="auto">
          <a:xfrm>
            <a:off x="2932535" y="962026"/>
            <a:ext cx="537892" cy="105886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335" name="正方形/長方形 334"/>
          <p:cNvSpPr/>
          <p:nvPr/>
        </p:nvSpPr>
        <p:spPr>
          <a:xfrm>
            <a:off x="2952919" y="977415"/>
            <a:ext cx="520700" cy="165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336" name="テキスト ボックス 165"/>
          <p:cNvSpPr txBox="1">
            <a:spLocks noChangeArrowheads="1"/>
          </p:cNvSpPr>
          <p:nvPr/>
        </p:nvSpPr>
        <p:spPr bwMode="auto">
          <a:xfrm>
            <a:off x="3042520" y="992466"/>
            <a:ext cx="506413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MDM</a:t>
            </a:r>
            <a:endParaRPr lang="ja-JP" altLang="en-US" sz="605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38" name="正方形/長方形 337"/>
          <p:cNvSpPr/>
          <p:nvPr/>
        </p:nvSpPr>
        <p:spPr bwMode="auto">
          <a:xfrm>
            <a:off x="2400151" y="965106"/>
            <a:ext cx="537892" cy="121358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>
              <a:solidFill>
                <a:schemeClr val="tx1"/>
              </a:solidFill>
            </a:endParaRPr>
          </a:p>
        </p:txBody>
      </p:sp>
      <p:sp>
        <p:nvSpPr>
          <p:cNvPr id="339" name="正方形/長方形 338"/>
          <p:cNvSpPr/>
          <p:nvPr/>
        </p:nvSpPr>
        <p:spPr>
          <a:xfrm>
            <a:off x="2415168" y="974725"/>
            <a:ext cx="520700" cy="165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088" dirty="0">
                <a:solidFill>
                  <a:schemeClr val="tx1"/>
                </a:solidFill>
              </a:rPr>
              <a:t>Zoom</a:t>
            </a:r>
            <a:endParaRPr lang="ja-JP" altLang="en-US" sz="1088" dirty="0">
              <a:solidFill>
                <a:schemeClr val="tx1"/>
              </a:solidFill>
            </a:endParaRPr>
          </a:p>
        </p:txBody>
      </p:sp>
      <p:sp>
        <p:nvSpPr>
          <p:cNvPr id="344" name="テキスト ボックス 166"/>
          <p:cNvSpPr txBox="1">
            <a:spLocks noChangeArrowheads="1"/>
          </p:cNvSpPr>
          <p:nvPr/>
        </p:nvSpPr>
        <p:spPr bwMode="auto">
          <a:xfrm>
            <a:off x="1827578" y="1162017"/>
            <a:ext cx="522278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defPPr>
              <a:defRPr lang="ja-JP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ビリングサービス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46" name="テキスト ボックス 435"/>
          <p:cNvSpPr txBox="1">
            <a:spLocks noChangeArrowheads="1"/>
          </p:cNvSpPr>
          <p:nvPr/>
        </p:nvSpPr>
        <p:spPr bwMode="auto">
          <a:xfrm>
            <a:off x="2917143" y="1316091"/>
            <a:ext cx="331241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タブット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  <p:sp>
        <p:nvSpPr>
          <p:cNvPr id="348" name="正方形/長方形 347"/>
          <p:cNvSpPr/>
          <p:nvPr/>
        </p:nvSpPr>
        <p:spPr>
          <a:xfrm>
            <a:off x="5076512" y="1543115"/>
            <a:ext cx="589500" cy="53245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94" name="テキスト ボックス 166"/>
          <p:cNvSpPr txBox="1">
            <a:spLocks noChangeArrowheads="1"/>
          </p:cNvSpPr>
          <p:nvPr/>
        </p:nvSpPr>
        <p:spPr bwMode="auto">
          <a:xfrm>
            <a:off x="2428912" y="1159190"/>
            <a:ext cx="459265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顧客との</a:t>
            </a: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WEB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会議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299" name="テキスト ボックス 166"/>
          <p:cNvSpPr txBox="1">
            <a:spLocks noChangeArrowheads="1"/>
          </p:cNvSpPr>
          <p:nvPr/>
        </p:nvSpPr>
        <p:spPr bwMode="auto">
          <a:xfrm>
            <a:off x="1157090" y="1318255"/>
            <a:ext cx="709163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イカリスマートキャンパス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14" name="テキスト ボックス 166"/>
          <p:cNvSpPr txBox="1">
            <a:spLocks noChangeArrowheads="1"/>
          </p:cNvSpPr>
          <p:nvPr/>
        </p:nvSpPr>
        <p:spPr bwMode="auto">
          <a:xfrm>
            <a:off x="16966" y="2621946"/>
            <a:ext cx="488091" cy="335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インタビューメーカー（人事）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22" name="テキスト ボックス 166"/>
          <p:cNvSpPr txBox="1">
            <a:spLocks noChangeArrowheads="1"/>
          </p:cNvSpPr>
          <p:nvPr/>
        </p:nvSpPr>
        <p:spPr bwMode="auto">
          <a:xfrm>
            <a:off x="8458200" y="1842970"/>
            <a:ext cx="673641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pic>
        <p:nvPicPr>
          <p:cNvPr id="12" name="図 11" descr="画面の領域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08" y="5886622"/>
            <a:ext cx="488289" cy="450728"/>
          </a:xfrm>
          <a:prstGeom prst="rect">
            <a:avLst/>
          </a:prstGeom>
        </p:spPr>
      </p:pic>
      <p:sp>
        <p:nvSpPr>
          <p:cNvPr id="277" name="正方形/長方形 276"/>
          <p:cNvSpPr/>
          <p:nvPr/>
        </p:nvSpPr>
        <p:spPr bwMode="auto">
          <a:xfrm>
            <a:off x="5147093" y="5648532"/>
            <a:ext cx="716555" cy="9461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289" name="正方形/長方形 288"/>
          <p:cNvSpPr/>
          <p:nvPr/>
        </p:nvSpPr>
        <p:spPr bwMode="auto">
          <a:xfrm>
            <a:off x="5153444" y="5650120"/>
            <a:ext cx="556954" cy="13672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 dirty="0"/>
          </a:p>
        </p:txBody>
      </p:sp>
      <p:sp>
        <p:nvSpPr>
          <p:cNvPr id="295" name="テキスト ボックス 338"/>
          <p:cNvSpPr txBox="1">
            <a:spLocks noChangeArrowheads="1"/>
          </p:cNvSpPr>
          <p:nvPr/>
        </p:nvSpPr>
        <p:spPr bwMode="auto">
          <a:xfrm>
            <a:off x="5132807" y="5643770"/>
            <a:ext cx="60971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5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不許可端末制御</a:t>
            </a:r>
            <a:endParaRPr lang="en-US" altLang="ja-JP" sz="5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23" name="正方形/長方形 322"/>
          <p:cNvSpPr/>
          <p:nvPr/>
        </p:nvSpPr>
        <p:spPr bwMode="auto">
          <a:xfrm>
            <a:off x="1772151" y="5617843"/>
            <a:ext cx="571437" cy="7195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324" name="正方形/長方形 323"/>
          <p:cNvSpPr/>
          <p:nvPr/>
        </p:nvSpPr>
        <p:spPr>
          <a:xfrm>
            <a:off x="1734960" y="5627662"/>
            <a:ext cx="615931" cy="1345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b="1" dirty="0" err="1">
                <a:solidFill>
                  <a:schemeClr val="tx1"/>
                </a:solidFill>
              </a:rPr>
              <a:t>Actionista</a:t>
            </a:r>
            <a:endParaRPr lang="ja-JP" altLang="en-US" sz="900" b="1" dirty="0">
              <a:solidFill>
                <a:schemeClr val="tx1"/>
              </a:solidFill>
            </a:endParaRPr>
          </a:p>
        </p:txBody>
      </p:sp>
      <p:pic>
        <p:nvPicPr>
          <p:cNvPr id="325" name="Picture 79" descr="C:\Users\ACE030155\Desktop\1504_t120f_bezel_cw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767" y="5897238"/>
            <a:ext cx="281848" cy="333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図 17" descr="画面の領域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044" y="5904016"/>
            <a:ext cx="394891" cy="461948"/>
          </a:xfrm>
          <a:prstGeom prst="rect">
            <a:avLst/>
          </a:prstGeom>
        </p:spPr>
      </p:pic>
      <p:pic>
        <p:nvPicPr>
          <p:cNvPr id="19" name="図 18" descr="画面の領域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405" y="5856987"/>
            <a:ext cx="503546" cy="198478"/>
          </a:xfrm>
          <a:prstGeom prst="rect">
            <a:avLst/>
          </a:prstGeom>
        </p:spPr>
      </p:pic>
      <p:pic>
        <p:nvPicPr>
          <p:cNvPr id="20" name="図 19" descr="画面の領域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157" y="5890594"/>
            <a:ext cx="555162" cy="123986"/>
          </a:xfrm>
          <a:prstGeom prst="rect">
            <a:avLst/>
          </a:prstGeom>
        </p:spPr>
      </p:pic>
      <p:pic>
        <p:nvPicPr>
          <p:cNvPr id="326" name="Picture 79" descr="C:\Users\ACE030155\Desktop\1504_t120f_bezel_cw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163" y="5871957"/>
            <a:ext cx="281848" cy="333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1" name="正方形/長方形 330"/>
          <p:cNvSpPr/>
          <p:nvPr/>
        </p:nvSpPr>
        <p:spPr>
          <a:xfrm>
            <a:off x="5107652" y="1580913"/>
            <a:ext cx="547687" cy="1682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349" name="テキスト ボックス 166"/>
          <p:cNvSpPr txBox="1">
            <a:spLocks noChangeArrowheads="1"/>
          </p:cNvSpPr>
          <p:nvPr/>
        </p:nvSpPr>
        <p:spPr bwMode="auto">
          <a:xfrm>
            <a:off x="5059034" y="1573727"/>
            <a:ext cx="624591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スマホ挙動監視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51" name="テキスト ボックス 166"/>
          <p:cNvSpPr txBox="1">
            <a:spLocks noChangeArrowheads="1"/>
          </p:cNvSpPr>
          <p:nvPr/>
        </p:nvSpPr>
        <p:spPr bwMode="auto">
          <a:xfrm>
            <a:off x="6775744" y="1263433"/>
            <a:ext cx="634701" cy="707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Ｋバックアップ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AI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名刺解析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検索拡張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文字結合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RepotonUPro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Smat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at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tools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Smart at Batch</a:t>
            </a:r>
          </a:p>
        </p:txBody>
      </p:sp>
      <p:pic>
        <p:nvPicPr>
          <p:cNvPr id="26" name="図 25" descr="画面の領域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20" y="6240647"/>
            <a:ext cx="230974" cy="268228"/>
          </a:xfrm>
          <a:prstGeom prst="rect">
            <a:avLst/>
          </a:prstGeom>
        </p:spPr>
      </p:pic>
      <p:sp>
        <p:nvSpPr>
          <p:cNvPr id="357" name="テキスト ボックス 166"/>
          <p:cNvSpPr txBox="1">
            <a:spLocks noChangeArrowheads="1"/>
          </p:cNvSpPr>
          <p:nvPr/>
        </p:nvSpPr>
        <p:spPr bwMode="auto">
          <a:xfrm>
            <a:off x="1148575" y="6023815"/>
            <a:ext cx="655445" cy="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総合経営管理システムの過去データ保存</a:t>
            </a:r>
            <a:endParaRPr lang="en-US" altLang="ja-JP" sz="500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58" name="テキスト ボックス 166"/>
          <p:cNvSpPr txBox="1">
            <a:spLocks noChangeArrowheads="1"/>
          </p:cNvSpPr>
          <p:nvPr/>
        </p:nvSpPr>
        <p:spPr bwMode="auto">
          <a:xfrm>
            <a:off x="6674688" y="6391067"/>
            <a:ext cx="607614" cy="209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AWS</a:t>
            </a:r>
            <a:r>
              <a:rPr lang="ja-JP" altLang="en-US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用</a:t>
            </a:r>
            <a:r>
              <a:rPr lang="en-US" altLang="ja-JP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DNS</a:t>
            </a:r>
            <a:r>
              <a:rPr lang="ja-JP" altLang="en-US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サーバー</a:t>
            </a:r>
            <a:endParaRPr lang="en-US" altLang="ja-JP" sz="500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pic>
        <p:nvPicPr>
          <p:cNvPr id="8257" name="図 8256" descr="画面の領域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898" y="3922306"/>
            <a:ext cx="1788331" cy="1289261"/>
          </a:xfrm>
          <a:prstGeom prst="rect">
            <a:avLst/>
          </a:prstGeom>
        </p:spPr>
      </p:pic>
      <p:sp>
        <p:nvSpPr>
          <p:cNvPr id="360" name="テキスト ボックス 166"/>
          <p:cNvSpPr txBox="1">
            <a:spLocks noChangeArrowheads="1"/>
          </p:cNvSpPr>
          <p:nvPr/>
        </p:nvSpPr>
        <p:spPr bwMode="auto">
          <a:xfrm>
            <a:off x="7937029" y="4182981"/>
            <a:ext cx="1124416" cy="33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AWS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Data </a:t>
            </a:r>
            <a:r>
              <a:rPr lang="en-US" altLang="ja-JP" sz="900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Spaider</a:t>
            </a:r>
            <a:endParaRPr lang="en-US" altLang="ja-JP" sz="900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03FBD78B-07A7-4818-B256-02AFBE334ACA}"/>
              </a:ext>
            </a:extLst>
          </p:cNvPr>
          <p:cNvSpPr/>
          <p:nvPr/>
        </p:nvSpPr>
        <p:spPr bwMode="auto">
          <a:xfrm>
            <a:off x="1794213" y="1566124"/>
            <a:ext cx="542234" cy="5258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E928AC10-4924-417C-992E-E9B01FBE97AB}"/>
              </a:ext>
            </a:extLst>
          </p:cNvPr>
          <p:cNvSpPr/>
          <p:nvPr/>
        </p:nvSpPr>
        <p:spPr>
          <a:xfrm>
            <a:off x="1801707" y="1595566"/>
            <a:ext cx="530225" cy="18321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600" dirty="0">
              <a:solidFill>
                <a:schemeClr val="tx1"/>
              </a:solidFill>
            </a:endParaRPr>
          </a:p>
        </p:txBody>
      </p:sp>
      <p:sp>
        <p:nvSpPr>
          <p:cNvPr id="290" name="テキスト ボックス 165">
            <a:extLst>
              <a:ext uri="{FF2B5EF4-FFF2-40B4-BE49-F238E27FC236}">
                <a16:creationId xmlns:a16="http://schemas.microsoft.com/office/drawing/2014/main" id="{2B6B2653-B63F-43D3-8A43-D5F07667B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472" y="1624844"/>
            <a:ext cx="700818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リーガルチェック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4856035-7023-4F7E-A486-B0836D1518AB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64" y="1788212"/>
            <a:ext cx="498340" cy="141835"/>
          </a:xfrm>
          <a:prstGeom prst="rect">
            <a:avLst/>
          </a:prstGeom>
        </p:spPr>
      </p:pic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B7D14F06-91CC-4A0C-A40A-1FB635F25E2C}"/>
              </a:ext>
            </a:extLst>
          </p:cNvPr>
          <p:cNvSpPr/>
          <p:nvPr/>
        </p:nvSpPr>
        <p:spPr>
          <a:xfrm>
            <a:off x="2376802" y="1469279"/>
            <a:ext cx="520700" cy="165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dirty="0" err="1">
                <a:solidFill>
                  <a:schemeClr val="tx1"/>
                </a:solidFill>
              </a:rPr>
              <a:t>TimeProVG</a:t>
            </a:r>
            <a:endParaRPr lang="ja-JP" altLang="en-US" sz="600" dirty="0">
              <a:solidFill>
                <a:schemeClr val="tx1"/>
              </a:solidFill>
            </a:endParaRPr>
          </a:p>
        </p:txBody>
      </p:sp>
      <p:sp>
        <p:nvSpPr>
          <p:cNvPr id="340" name="正方形/長方形 339">
            <a:extLst>
              <a:ext uri="{FF2B5EF4-FFF2-40B4-BE49-F238E27FC236}">
                <a16:creationId xmlns:a16="http://schemas.microsoft.com/office/drawing/2014/main" id="{D4E770B6-759C-409D-9B13-116B7387C7D4}"/>
              </a:ext>
            </a:extLst>
          </p:cNvPr>
          <p:cNvSpPr/>
          <p:nvPr/>
        </p:nvSpPr>
        <p:spPr bwMode="auto">
          <a:xfrm>
            <a:off x="7226674" y="5639094"/>
            <a:ext cx="532512" cy="94899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343" name="正方形/長方形 342">
            <a:extLst>
              <a:ext uri="{FF2B5EF4-FFF2-40B4-BE49-F238E27FC236}">
                <a16:creationId xmlns:a16="http://schemas.microsoft.com/office/drawing/2014/main" id="{517259CB-5B7E-476D-8193-ED7FF43B3781}"/>
              </a:ext>
            </a:extLst>
          </p:cNvPr>
          <p:cNvSpPr/>
          <p:nvPr/>
        </p:nvSpPr>
        <p:spPr bwMode="auto">
          <a:xfrm>
            <a:off x="7251269" y="5669215"/>
            <a:ext cx="498178" cy="14304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 dirty="0"/>
          </a:p>
        </p:txBody>
      </p:sp>
      <p:sp>
        <p:nvSpPr>
          <p:cNvPr id="361" name="テキスト ボックス 338">
            <a:extLst>
              <a:ext uri="{FF2B5EF4-FFF2-40B4-BE49-F238E27FC236}">
                <a16:creationId xmlns:a16="http://schemas.microsoft.com/office/drawing/2014/main" id="{7D4919B6-3F63-4B31-B936-30690560E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754" y="5651307"/>
            <a:ext cx="755692" cy="184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文書自動電子化</a:t>
            </a:r>
            <a:endParaRPr lang="en-US" altLang="ja-JP" sz="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62" name="テキスト ボックス 166">
            <a:extLst>
              <a:ext uri="{FF2B5EF4-FFF2-40B4-BE49-F238E27FC236}">
                <a16:creationId xmlns:a16="http://schemas.microsoft.com/office/drawing/2014/main" id="{645FD2DE-3C13-407E-9BF0-7ABBEBD81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671" y="6268152"/>
            <a:ext cx="604746" cy="286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異物検査システム</a:t>
            </a:r>
            <a:endParaRPr lang="en-US" altLang="ja-JP" sz="500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00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Pcan</a:t>
            </a:r>
            <a:endParaRPr lang="en-US" altLang="ja-JP" sz="500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500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文書電子化</a:t>
            </a:r>
            <a:endParaRPr lang="en-US" altLang="ja-JP" sz="500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B4E6E7F1-821E-4F01-8DD1-841B500BB182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693" y="5853385"/>
            <a:ext cx="466326" cy="88824"/>
          </a:xfrm>
          <a:prstGeom prst="rect">
            <a:avLst/>
          </a:prstGeom>
        </p:spPr>
      </p:pic>
      <p:sp>
        <p:nvSpPr>
          <p:cNvPr id="363" name="正方形/長方形 362">
            <a:extLst>
              <a:ext uri="{FF2B5EF4-FFF2-40B4-BE49-F238E27FC236}">
                <a16:creationId xmlns:a16="http://schemas.microsoft.com/office/drawing/2014/main" id="{0E4B473F-0D3F-4FE3-9472-09F6E015C3F7}"/>
              </a:ext>
            </a:extLst>
          </p:cNvPr>
          <p:cNvSpPr/>
          <p:nvPr/>
        </p:nvSpPr>
        <p:spPr bwMode="auto">
          <a:xfrm>
            <a:off x="8338711" y="5770978"/>
            <a:ext cx="604745" cy="7481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50"/>
          </a:p>
        </p:txBody>
      </p:sp>
      <p:sp>
        <p:nvSpPr>
          <p:cNvPr id="366" name="テキスト ボックス 338">
            <a:extLst>
              <a:ext uri="{FF2B5EF4-FFF2-40B4-BE49-F238E27FC236}">
                <a16:creationId xmlns:a16="http://schemas.microsoft.com/office/drawing/2014/main" id="{2EC72614-8DE6-460E-8617-739D33281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9262" y="4533037"/>
            <a:ext cx="9872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・工程管理システム</a:t>
            </a:r>
            <a:endParaRPr lang="en-US" altLang="ja-JP" sz="8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lang="en-US" altLang="ja-JP" sz="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CX</a:t>
            </a:r>
            <a:r>
              <a:rPr lang="ja-JP" altLang="en-US" sz="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システム</a:t>
            </a:r>
            <a:endParaRPr lang="en-US" altLang="ja-JP" sz="8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lang="en-US" altLang="ja-JP" sz="800" b="1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dbSheet</a:t>
            </a:r>
            <a:endParaRPr lang="en-US" altLang="ja-JP" sz="8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lang="en-US" altLang="ja-JP" sz="8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RDIUS</a:t>
            </a:r>
          </a:p>
        </p:txBody>
      </p: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69609DE6-6539-4C69-873B-EF83DD460E37}"/>
              </a:ext>
            </a:extLst>
          </p:cNvPr>
          <p:cNvSpPr/>
          <p:nvPr/>
        </p:nvSpPr>
        <p:spPr>
          <a:xfrm>
            <a:off x="4037649" y="1337102"/>
            <a:ext cx="527050" cy="165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pic>
        <p:nvPicPr>
          <p:cNvPr id="371" name="Picture 79" descr="C:\Users\ACE030155\Desktop\1504_t120f_bezel_cw.jpg">
            <a:extLst>
              <a:ext uri="{FF2B5EF4-FFF2-40B4-BE49-F238E27FC236}">
                <a16:creationId xmlns:a16="http://schemas.microsoft.com/office/drawing/2014/main" id="{0E21CD2A-9EA5-4F70-AC2D-35B000BA4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3352" y="5963509"/>
            <a:ext cx="281848" cy="333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4" name="テキスト ボックス 166">
            <a:extLst>
              <a:ext uri="{FF2B5EF4-FFF2-40B4-BE49-F238E27FC236}">
                <a16:creationId xmlns:a16="http://schemas.microsoft.com/office/drawing/2014/main" id="{7B23ECD4-DD40-4CD4-BCF6-FD931B1B8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594" y="5655758"/>
            <a:ext cx="696726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無線</a:t>
            </a: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LAN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サーバー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75" name="テキスト ボックス 165">
            <a:extLst>
              <a:ext uri="{FF2B5EF4-FFF2-40B4-BE49-F238E27FC236}">
                <a16:creationId xmlns:a16="http://schemas.microsoft.com/office/drawing/2014/main" id="{77780C0E-20F1-4D3D-B9BF-10E072EEB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5065" y="1352405"/>
            <a:ext cx="593725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WEB</a:t>
            </a: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請求</a:t>
            </a:r>
          </a:p>
        </p:txBody>
      </p:sp>
      <p:pic>
        <p:nvPicPr>
          <p:cNvPr id="376" name="図 375" descr="画面の領域">
            <a:extLst>
              <a:ext uri="{FF2B5EF4-FFF2-40B4-BE49-F238E27FC236}">
                <a16:creationId xmlns:a16="http://schemas.microsoft.com/office/drawing/2014/main" id="{BD6D3099-1E4D-4C27-AC6B-2AF578BD1671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458" y="1534268"/>
            <a:ext cx="548407" cy="84401"/>
          </a:xfrm>
          <a:prstGeom prst="rect">
            <a:avLst/>
          </a:prstGeom>
        </p:spPr>
      </p:pic>
      <p:sp>
        <p:nvSpPr>
          <p:cNvPr id="378" name="テキスト ボックス 165">
            <a:extLst>
              <a:ext uri="{FF2B5EF4-FFF2-40B4-BE49-F238E27FC236}">
                <a16:creationId xmlns:a16="http://schemas.microsoft.com/office/drawing/2014/main" id="{DF564590-6FC4-442E-B6AE-3A74C8A7D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79" y="1618139"/>
            <a:ext cx="593725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電子契約</a:t>
            </a:r>
          </a:p>
        </p:txBody>
      </p:sp>
      <p:sp>
        <p:nvSpPr>
          <p:cNvPr id="382" name="正方形/長方形 381">
            <a:extLst>
              <a:ext uri="{FF2B5EF4-FFF2-40B4-BE49-F238E27FC236}">
                <a16:creationId xmlns:a16="http://schemas.microsoft.com/office/drawing/2014/main" id="{A6BB3E7D-EFC1-4F2C-95E6-BAF5C13D4EAC}"/>
              </a:ext>
            </a:extLst>
          </p:cNvPr>
          <p:cNvSpPr/>
          <p:nvPr/>
        </p:nvSpPr>
        <p:spPr bwMode="auto">
          <a:xfrm>
            <a:off x="4926247" y="3764912"/>
            <a:ext cx="1118940" cy="70642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383" name="正方形/長方形 382">
            <a:extLst>
              <a:ext uri="{FF2B5EF4-FFF2-40B4-BE49-F238E27FC236}">
                <a16:creationId xmlns:a16="http://schemas.microsoft.com/office/drawing/2014/main" id="{543D7941-BF2D-4CC5-8DC9-C3DD8ABB3C37}"/>
              </a:ext>
            </a:extLst>
          </p:cNvPr>
          <p:cNvSpPr/>
          <p:nvPr/>
        </p:nvSpPr>
        <p:spPr>
          <a:xfrm>
            <a:off x="4926248" y="3594175"/>
            <a:ext cx="1118940" cy="16328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1088" dirty="0">
                <a:solidFill>
                  <a:schemeClr val="tx1"/>
                </a:solidFill>
              </a:rPr>
              <a:t>各拠点</a:t>
            </a:r>
          </a:p>
        </p:txBody>
      </p:sp>
      <p:sp>
        <p:nvSpPr>
          <p:cNvPr id="384" name="テキスト ボックス 166">
            <a:extLst>
              <a:ext uri="{FF2B5EF4-FFF2-40B4-BE49-F238E27FC236}">
                <a16:creationId xmlns:a16="http://schemas.microsoft.com/office/drawing/2014/main" id="{A2E88CFE-B5B6-4253-BC5C-75689DF4E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113" y="3842273"/>
            <a:ext cx="595736" cy="428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各営業所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大阪オフィス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日本橋オフィス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富岡オフィス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86" name="テキスト ボックス 166">
            <a:extLst>
              <a:ext uri="{FF2B5EF4-FFF2-40B4-BE49-F238E27FC236}">
                <a16:creationId xmlns:a16="http://schemas.microsoft.com/office/drawing/2014/main" id="{45B0B0A2-D346-44BB-B771-0F1EFD407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628" y="1654355"/>
            <a:ext cx="577850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メール訓練サービス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88" name="正方形/長方形 387">
            <a:extLst>
              <a:ext uri="{FF2B5EF4-FFF2-40B4-BE49-F238E27FC236}">
                <a16:creationId xmlns:a16="http://schemas.microsoft.com/office/drawing/2014/main" id="{E4828EE6-A861-407E-A440-3F477F3D4FFD}"/>
              </a:ext>
            </a:extLst>
          </p:cNvPr>
          <p:cNvSpPr/>
          <p:nvPr/>
        </p:nvSpPr>
        <p:spPr>
          <a:xfrm>
            <a:off x="5094969" y="1765454"/>
            <a:ext cx="547687" cy="22844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389" name="テキスト ボックス 166">
            <a:extLst>
              <a:ext uri="{FF2B5EF4-FFF2-40B4-BE49-F238E27FC236}">
                <a16:creationId xmlns:a16="http://schemas.microsoft.com/office/drawing/2014/main" id="{A1785F55-F45F-43E4-A0EA-468E8AD64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5138" y="1752003"/>
            <a:ext cx="419406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脅威診断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サービス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pic>
        <p:nvPicPr>
          <p:cNvPr id="8267" name="図 8266">
            <a:extLst>
              <a:ext uri="{FF2B5EF4-FFF2-40B4-BE49-F238E27FC236}">
                <a16:creationId xmlns:a16="http://schemas.microsoft.com/office/drawing/2014/main" id="{D1B4C300-D97C-402D-B86F-34B9FCC47592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929" y="5965190"/>
            <a:ext cx="642470" cy="225629"/>
          </a:xfrm>
          <a:prstGeom prst="rect">
            <a:avLst/>
          </a:prstGeom>
        </p:spPr>
      </p:pic>
      <p:sp>
        <p:nvSpPr>
          <p:cNvPr id="350" name="正方形/長方形 349">
            <a:extLst>
              <a:ext uri="{FF2B5EF4-FFF2-40B4-BE49-F238E27FC236}">
                <a16:creationId xmlns:a16="http://schemas.microsoft.com/office/drawing/2014/main" id="{F4D69C4A-E3FD-45AF-BCBF-F019126F090F}"/>
              </a:ext>
            </a:extLst>
          </p:cNvPr>
          <p:cNvSpPr/>
          <p:nvPr/>
        </p:nvSpPr>
        <p:spPr bwMode="auto">
          <a:xfrm>
            <a:off x="2369528" y="2222104"/>
            <a:ext cx="538163" cy="608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364" name="正方形/長方形 363">
            <a:extLst>
              <a:ext uri="{FF2B5EF4-FFF2-40B4-BE49-F238E27FC236}">
                <a16:creationId xmlns:a16="http://schemas.microsoft.com/office/drawing/2014/main" id="{8A6CBC71-5D48-4FD3-8EAF-E0B7332B2A63}"/>
              </a:ext>
            </a:extLst>
          </p:cNvPr>
          <p:cNvSpPr/>
          <p:nvPr/>
        </p:nvSpPr>
        <p:spPr>
          <a:xfrm>
            <a:off x="2372877" y="2218201"/>
            <a:ext cx="530225" cy="18321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600" dirty="0">
              <a:solidFill>
                <a:schemeClr val="tx1"/>
              </a:solidFill>
            </a:endParaRPr>
          </a:p>
        </p:txBody>
      </p:sp>
      <p:sp>
        <p:nvSpPr>
          <p:cNvPr id="367" name="テキスト ボックス 165">
            <a:extLst>
              <a:ext uri="{FF2B5EF4-FFF2-40B4-BE49-F238E27FC236}">
                <a16:creationId xmlns:a16="http://schemas.microsoft.com/office/drawing/2014/main" id="{8F1A5A13-61D4-472E-8D51-4DC0E8819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802" y="2257384"/>
            <a:ext cx="593725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チャットボット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0444A1F9-6C48-4F01-8A09-13C9FD2B2129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336" y="2433158"/>
            <a:ext cx="464894" cy="93394"/>
          </a:xfrm>
          <a:prstGeom prst="rect">
            <a:avLst/>
          </a:prstGeom>
        </p:spPr>
      </p:pic>
      <p:sp>
        <p:nvSpPr>
          <p:cNvPr id="369" name="テキスト ボックス 166">
            <a:extLst>
              <a:ext uri="{FF2B5EF4-FFF2-40B4-BE49-F238E27FC236}">
                <a16:creationId xmlns:a16="http://schemas.microsoft.com/office/drawing/2014/main" id="{F6CC656C-C449-4D05-99FC-69C7DE5E1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5" y="2986436"/>
            <a:ext cx="488091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sonarATS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（人事）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370" name="正方形/長方形 369">
            <a:extLst>
              <a:ext uri="{FF2B5EF4-FFF2-40B4-BE49-F238E27FC236}">
                <a16:creationId xmlns:a16="http://schemas.microsoft.com/office/drawing/2014/main" id="{3D004E30-4286-4A77-A39D-97BF8A239F29}"/>
              </a:ext>
            </a:extLst>
          </p:cNvPr>
          <p:cNvSpPr/>
          <p:nvPr/>
        </p:nvSpPr>
        <p:spPr bwMode="auto">
          <a:xfrm>
            <a:off x="2917764" y="2200780"/>
            <a:ext cx="538163" cy="608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373" name="正方形/長方形 372">
            <a:extLst>
              <a:ext uri="{FF2B5EF4-FFF2-40B4-BE49-F238E27FC236}">
                <a16:creationId xmlns:a16="http://schemas.microsoft.com/office/drawing/2014/main" id="{45BDF65D-100F-4A0F-90F5-11603F420CA3}"/>
              </a:ext>
            </a:extLst>
          </p:cNvPr>
          <p:cNvSpPr/>
          <p:nvPr/>
        </p:nvSpPr>
        <p:spPr>
          <a:xfrm>
            <a:off x="2921732" y="2202844"/>
            <a:ext cx="530225" cy="18321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600" dirty="0">
              <a:solidFill>
                <a:schemeClr val="tx1"/>
              </a:solidFill>
            </a:endParaRPr>
          </a:p>
        </p:txBody>
      </p:sp>
      <p:sp>
        <p:nvSpPr>
          <p:cNvPr id="390" name="テキスト ボックス 165">
            <a:extLst>
              <a:ext uri="{FF2B5EF4-FFF2-40B4-BE49-F238E27FC236}">
                <a16:creationId xmlns:a16="http://schemas.microsoft.com/office/drawing/2014/main" id="{CD656D27-22C6-494C-B4BC-EBEBF3832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870" y="2251078"/>
            <a:ext cx="593725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年調管理</a:t>
            </a:r>
          </a:p>
        </p:txBody>
      </p:sp>
      <p:pic>
        <p:nvPicPr>
          <p:cNvPr id="8274" name="図 8273">
            <a:extLst>
              <a:ext uri="{FF2B5EF4-FFF2-40B4-BE49-F238E27FC236}">
                <a16:creationId xmlns:a16="http://schemas.microsoft.com/office/drawing/2014/main" id="{03B1E31E-499E-4A93-8CCB-7DC390EAD5D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240" y="6040731"/>
            <a:ext cx="552250" cy="195487"/>
          </a:xfrm>
          <a:prstGeom prst="rect">
            <a:avLst/>
          </a:prstGeom>
        </p:spPr>
      </p:pic>
      <p:pic>
        <p:nvPicPr>
          <p:cNvPr id="8277" name="図 8276">
            <a:extLst>
              <a:ext uri="{FF2B5EF4-FFF2-40B4-BE49-F238E27FC236}">
                <a16:creationId xmlns:a16="http://schemas.microsoft.com/office/drawing/2014/main" id="{02C8C106-5E6C-49EA-995A-E3511C90A83F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81" y="1169487"/>
            <a:ext cx="479429" cy="122809"/>
          </a:xfrm>
          <a:prstGeom prst="rect">
            <a:avLst/>
          </a:prstGeom>
        </p:spPr>
      </p:pic>
      <p:sp>
        <p:nvSpPr>
          <p:cNvPr id="394" name="テキスト ボックス 166">
            <a:extLst>
              <a:ext uri="{FF2B5EF4-FFF2-40B4-BE49-F238E27FC236}">
                <a16:creationId xmlns:a16="http://schemas.microsoft.com/office/drawing/2014/main" id="{72A39BCD-57FD-41F3-A9DB-39B4C07AF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0758" y="1898290"/>
            <a:ext cx="577850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Windows 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Defender</a:t>
            </a:r>
          </a:p>
        </p:txBody>
      </p:sp>
      <p:sp>
        <p:nvSpPr>
          <p:cNvPr id="395" name="テキスト ボックス 165">
            <a:extLst>
              <a:ext uri="{FF2B5EF4-FFF2-40B4-BE49-F238E27FC236}">
                <a16:creationId xmlns:a16="http://schemas.microsoft.com/office/drawing/2014/main" id="{728632F9-7C28-47D2-804B-7F1F18EBA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8103" y="2147582"/>
            <a:ext cx="733949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社外</a:t>
            </a:r>
            <a:r>
              <a:rPr lang="en-US" altLang="ja-JP" sz="605" b="1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</a:t>
            </a:r>
            <a:endParaRPr lang="en-US" altLang="ja-JP" sz="605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8283" name="図 8282">
            <a:extLst>
              <a:ext uri="{FF2B5EF4-FFF2-40B4-BE49-F238E27FC236}">
                <a16:creationId xmlns:a16="http://schemas.microsoft.com/office/drawing/2014/main" id="{7D2C792E-551A-4239-ACB6-EC182914C64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139" y="2292064"/>
            <a:ext cx="719748" cy="114106"/>
          </a:xfrm>
          <a:prstGeom prst="rect">
            <a:avLst/>
          </a:prstGeom>
        </p:spPr>
      </p:pic>
      <p:sp>
        <p:nvSpPr>
          <p:cNvPr id="397" name="正方形/長方形 396">
            <a:extLst>
              <a:ext uri="{FF2B5EF4-FFF2-40B4-BE49-F238E27FC236}">
                <a16:creationId xmlns:a16="http://schemas.microsoft.com/office/drawing/2014/main" id="{36E850FB-A884-40FF-9555-1D6DB7D8CA79}"/>
              </a:ext>
            </a:extLst>
          </p:cNvPr>
          <p:cNvSpPr/>
          <p:nvPr/>
        </p:nvSpPr>
        <p:spPr>
          <a:xfrm>
            <a:off x="5665459" y="1491848"/>
            <a:ext cx="558800" cy="16351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700" dirty="0">
                <a:solidFill>
                  <a:schemeClr val="tx1"/>
                </a:solidFill>
              </a:rPr>
              <a:t>AWS</a:t>
            </a:r>
            <a:r>
              <a:rPr lang="ja-JP" altLang="en-US" sz="700" dirty="0">
                <a:solidFill>
                  <a:schemeClr val="tx1"/>
                </a:solidFill>
              </a:rPr>
              <a:t>内</a:t>
            </a:r>
          </a:p>
        </p:txBody>
      </p:sp>
      <p:sp>
        <p:nvSpPr>
          <p:cNvPr id="398" name="テキスト ボックス 165">
            <a:extLst>
              <a:ext uri="{FF2B5EF4-FFF2-40B4-BE49-F238E27FC236}">
                <a16:creationId xmlns:a16="http://schemas.microsoft.com/office/drawing/2014/main" id="{1F288D54-7B58-4BCD-98F1-153BA2399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069" y="990909"/>
            <a:ext cx="444440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Box</a:t>
            </a:r>
          </a:p>
        </p:txBody>
      </p:sp>
      <p:pic>
        <p:nvPicPr>
          <p:cNvPr id="8286" name="図 8285">
            <a:extLst>
              <a:ext uri="{FF2B5EF4-FFF2-40B4-BE49-F238E27FC236}">
                <a16:creationId xmlns:a16="http://schemas.microsoft.com/office/drawing/2014/main" id="{683FA17D-F551-44DB-B6E3-228AADD5C18B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032" y="1235602"/>
            <a:ext cx="261818" cy="178964"/>
          </a:xfrm>
          <a:prstGeom prst="rect">
            <a:avLst/>
          </a:prstGeom>
        </p:spPr>
      </p:pic>
      <p:sp>
        <p:nvSpPr>
          <p:cNvPr id="399" name="正方形/長方形 398">
            <a:extLst>
              <a:ext uri="{FF2B5EF4-FFF2-40B4-BE49-F238E27FC236}">
                <a16:creationId xmlns:a16="http://schemas.microsoft.com/office/drawing/2014/main" id="{F493AB1A-8080-4411-84BE-F5F107308DBB}"/>
              </a:ext>
            </a:extLst>
          </p:cNvPr>
          <p:cNvSpPr/>
          <p:nvPr/>
        </p:nvSpPr>
        <p:spPr bwMode="auto">
          <a:xfrm>
            <a:off x="616941" y="2826401"/>
            <a:ext cx="538163" cy="4768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400" name="正方形/長方形 399">
            <a:extLst>
              <a:ext uri="{FF2B5EF4-FFF2-40B4-BE49-F238E27FC236}">
                <a16:creationId xmlns:a16="http://schemas.microsoft.com/office/drawing/2014/main" id="{A1D646DF-7275-424E-9DCC-B37C368F2895}"/>
              </a:ext>
            </a:extLst>
          </p:cNvPr>
          <p:cNvSpPr/>
          <p:nvPr/>
        </p:nvSpPr>
        <p:spPr>
          <a:xfrm>
            <a:off x="608914" y="2849723"/>
            <a:ext cx="530225" cy="1576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dirty="0">
                <a:solidFill>
                  <a:schemeClr val="tx1"/>
                </a:solidFill>
              </a:rPr>
              <a:t>E-FAX</a:t>
            </a:r>
            <a:r>
              <a:rPr lang="ja-JP" altLang="en-US" sz="600" dirty="0">
                <a:solidFill>
                  <a:schemeClr val="tx1"/>
                </a:solidFill>
              </a:rPr>
              <a:t>（購買）</a:t>
            </a:r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7A5E7AAF-A446-4DD9-8054-5E87BF9B6A24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66" y="3029370"/>
            <a:ext cx="469982" cy="123905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2BAC5950-D8BF-4311-8682-6857AA6D46CB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5" y="1148330"/>
            <a:ext cx="440167" cy="107068"/>
          </a:xfrm>
          <a:prstGeom prst="rect">
            <a:avLst/>
          </a:prstGeom>
        </p:spPr>
      </p:pic>
      <p:sp>
        <p:nvSpPr>
          <p:cNvPr id="401" name="正方形/長方形 400">
            <a:extLst>
              <a:ext uri="{FF2B5EF4-FFF2-40B4-BE49-F238E27FC236}">
                <a16:creationId xmlns:a16="http://schemas.microsoft.com/office/drawing/2014/main" id="{1F928158-FC6C-4F67-84CD-92BF6698C972}"/>
              </a:ext>
            </a:extLst>
          </p:cNvPr>
          <p:cNvSpPr/>
          <p:nvPr/>
        </p:nvSpPr>
        <p:spPr bwMode="auto">
          <a:xfrm>
            <a:off x="6201447" y="2032632"/>
            <a:ext cx="583921" cy="49428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402" name="正方形/長方形 401">
            <a:extLst>
              <a:ext uri="{FF2B5EF4-FFF2-40B4-BE49-F238E27FC236}">
                <a16:creationId xmlns:a16="http://schemas.microsoft.com/office/drawing/2014/main" id="{D3E236E6-587D-4D58-93F5-C587AF1CE98C}"/>
              </a:ext>
            </a:extLst>
          </p:cNvPr>
          <p:cNvSpPr/>
          <p:nvPr/>
        </p:nvSpPr>
        <p:spPr>
          <a:xfrm>
            <a:off x="6207304" y="2037708"/>
            <a:ext cx="558800" cy="16351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 dirty="0"/>
          </a:p>
        </p:txBody>
      </p:sp>
      <p:sp>
        <p:nvSpPr>
          <p:cNvPr id="403" name="テキスト ボックス 165">
            <a:extLst>
              <a:ext uri="{FF2B5EF4-FFF2-40B4-BE49-F238E27FC236}">
                <a16:creationId xmlns:a16="http://schemas.microsoft.com/office/drawing/2014/main" id="{42CFA6AD-A331-415E-B1A7-C2C590C73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4510" y="2039734"/>
            <a:ext cx="444440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Adobe</a:t>
            </a: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E443A8B7-D241-49B0-B07F-5C3055759724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092" y="2254089"/>
            <a:ext cx="417842" cy="143633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DD4CD48A-2495-4329-9B18-05AD2B354B8D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293" y="2438178"/>
            <a:ext cx="557037" cy="97158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27DCCE05-2DE4-4C68-A0FF-F7C8DC53BC8B}"/>
              </a:ext>
            </a:extLst>
          </p:cNvPr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53" y="1958430"/>
            <a:ext cx="528832" cy="119088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3749848-E44A-6B7C-AD0A-26C0124A80DF}"/>
              </a:ext>
            </a:extLst>
          </p:cNvPr>
          <p:cNvSpPr/>
          <p:nvPr/>
        </p:nvSpPr>
        <p:spPr>
          <a:xfrm>
            <a:off x="2915161" y="1483298"/>
            <a:ext cx="520700" cy="165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dirty="0" err="1">
                <a:solidFill>
                  <a:schemeClr val="tx1"/>
                </a:solidFill>
              </a:rPr>
              <a:t>ChatGPT</a:t>
            </a:r>
            <a:endParaRPr lang="ja-JP" altLang="en-US" sz="1088" dirty="0">
              <a:solidFill>
                <a:schemeClr val="tx1"/>
              </a:solidFill>
            </a:endParaRPr>
          </a:p>
        </p:txBody>
      </p:sp>
      <p:pic>
        <p:nvPicPr>
          <p:cNvPr id="54" name="ルーター.png" descr="ルーター.png">
            <a:extLst>
              <a:ext uri="{FF2B5EF4-FFF2-40B4-BE49-F238E27FC236}">
                <a16:creationId xmlns:a16="http://schemas.microsoft.com/office/drawing/2014/main" id="{15E26B83-E746-C68F-CAD2-7D311C7B505B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t="144" b="144"/>
          <a:stretch>
            <a:fillRect/>
          </a:stretch>
        </p:blipFill>
        <p:spPr>
          <a:xfrm>
            <a:off x="2002374" y="3628830"/>
            <a:ext cx="248219" cy="141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ルーター.png" descr="ルーター.png">
            <a:extLst>
              <a:ext uri="{FF2B5EF4-FFF2-40B4-BE49-F238E27FC236}">
                <a16:creationId xmlns:a16="http://schemas.microsoft.com/office/drawing/2014/main" id="{21E167AD-E1F1-64AB-9ACC-4383B73F1024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t="144" b="144"/>
          <a:stretch>
            <a:fillRect/>
          </a:stretch>
        </p:blipFill>
        <p:spPr>
          <a:xfrm>
            <a:off x="4692145" y="3601513"/>
            <a:ext cx="248219" cy="141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ルーター.png" descr="ルーター.png">
            <a:extLst>
              <a:ext uri="{FF2B5EF4-FFF2-40B4-BE49-F238E27FC236}">
                <a16:creationId xmlns:a16="http://schemas.microsoft.com/office/drawing/2014/main" id="{F7DFE47C-F22F-13AC-E4A8-BA8BF92209D2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t="144" b="144"/>
          <a:stretch>
            <a:fillRect/>
          </a:stretch>
        </p:blipFill>
        <p:spPr>
          <a:xfrm>
            <a:off x="7797240" y="3531812"/>
            <a:ext cx="248219" cy="14104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Google Shape;410;p7">
            <a:extLst>
              <a:ext uri="{FF2B5EF4-FFF2-40B4-BE49-F238E27FC236}">
                <a16:creationId xmlns:a16="http://schemas.microsoft.com/office/drawing/2014/main" id="{5C04C76B-4829-2B5D-CE77-F812539089D9}"/>
              </a:ext>
            </a:extLst>
          </p:cNvPr>
          <p:cNvSpPr txBox="1"/>
          <p:nvPr/>
        </p:nvSpPr>
        <p:spPr>
          <a:xfrm>
            <a:off x="7865662" y="3451721"/>
            <a:ext cx="130989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lang="en-US" altLang="ja-JP" sz="1000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SD-WAN</a:t>
            </a:r>
            <a:r>
              <a:rPr lang="ja-JP" altLang="en-US" sz="1000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altLang="ja-JP" sz="1000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FortiGate</a:t>
            </a:r>
            <a:endParaRPr dirty="0"/>
          </a:p>
        </p:txBody>
      </p:sp>
      <p:sp>
        <p:nvSpPr>
          <p:cNvPr id="16" name="テキスト ボックス 166">
            <a:extLst>
              <a:ext uri="{FF2B5EF4-FFF2-40B4-BE49-F238E27FC236}">
                <a16:creationId xmlns:a16="http://schemas.microsoft.com/office/drawing/2014/main" id="{B426B5FC-BFFA-A167-E3C8-C2D55CAAE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248" y="1679067"/>
            <a:ext cx="434975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MANA 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　</a:t>
            </a: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Studio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24E334E-D966-F11D-90BC-56FEB388C657}"/>
              </a:ext>
            </a:extLst>
          </p:cNvPr>
          <p:cNvSpPr/>
          <p:nvPr/>
        </p:nvSpPr>
        <p:spPr bwMode="auto">
          <a:xfrm>
            <a:off x="6526138" y="2588364"/>
            <a:ext cx="583921" cy="517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799FC5C-4D7E-298D-4610-92A6295D7CFF}"/>
              </a:ext>
            </a:extLst>
          </p:cNvPr>
          <p:cNvSpPr/>
          <p:nvPr/>
        </p:nvSpPr>
        <p:spPr>
          <a:xfrm>
            <a:off x="6526138" y="2592625"/>
            <a:ext cx="567193" cy="18642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0" dirty="0">
                <a:solidFill>
                  <a:schemeClr val="tx1"/>
                </a:solidFill>
              </a:rPr>
              <a:t>報告書</a:t>
            </a:r>
            <a:endParaRPr lang="en-US" altLang="ja-JP" sz="600" dirty="0">
              <a:solidFill>
                <a:schemeClr val="tx1"/>
              </a:solidFill>
            </a:endParaRPr>
          </a:p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0" dirty="0">
                <a:solidFill>
                  <a:schemeClr val="tx1"/>
                </a:solidFill>
              </a:rPr>
              <a:t>（事業開発）</a:t>
            </a:r>
          </a:p>
        </p:txBody>
      </p:sp>
      <p:sp>
        <p:nvSpPr>
          <p:cNvPr id="27" name="テキスト ボックス 166">
            <a:extLst>
              <a:ext uri="{FF2B5EF4-FFF2-40B4-BE49-F238E27FC236}">
                <a16:creationId xmlns:a16="http://schemas.microsoft.com/office/drawing/2014/main" id="{5C372403-DBDF-91BF-B54F-A6280856B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175" y="2776947"/>
            <a:ext cx="434975" cy="335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ゲンコネ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ユニフィニティー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3683058-987C-6CF3-C201-A718F1A3FEB7}"/>
              </a:ext>
            </a:extLst>
          </p:cNvPr>
          <p:cNvSpPr/>
          <p:nvPr/>
        </p:nvSpPr>
        <p:spPr bwMode="auto">
          <a:xfrm>
            <a:off x="7335088" y="2053798"/>
            <a:ext cx="583921" cy="49428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AA5B4AC-A7A6-9B60-AF88-9C812C5B0E40}"/>
              </a:ext>
            </a:extLst>
          </p:cNvPr>
          <p:cNvSpPr/>
          <p:nvPr/>
        </p:nvSpPr>
        <p:spPr>
          <a:xfrm>
            <a:off x="7345311" y="2073448"/>
            <a:ext cx="558800" cy="16351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088" dirty="0">
                <a:solidFill>
                  <a:schemeClr val="tx1"/>
                </a:solidFill>
              </a:rPr>
              <a:t>Google</a:t>
            </a:r>
            <a:endParaRPr lang="ja-JP" altLang="en-US" sz="1088" dirty="0">
              <a:solidFill>
                <a:schemeClr val="tx1"/>
              </a:solidFill>
            </a:endParaRPr>
          </a:p>
        </p:txBody>
      </p:sp>
      <p:sp>
        <p:nvSpPr>
          <p:cNvPr id="53" name="テキスト ボックス 166">
            <a:extLst>
              <a:ext uri="{FF2B5EF4-FFF2-40B4-BE49-F238E27FC236}">
                <a16:creationId xmlns:a16="http://schemas.microsoft.com/office/drawing/2014/main" id="{EC846E09-E3CA-B52B-6442-3200036F4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2319" y="2256376"/>
            <a:ext cx="560388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Chrome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管理クラウド</a:t>
            </a: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I</a:t>
            </a:r>
          </a:p>
        </p:txBody>
      </p:sp>
      <p:sp>
        <p:nvSpPr>
          <p:cNvPr id="59" name="テキスト ボックス 166">
            <a:extLst>
              <a:ext uri="{FF2B5EF4-FFF2-40B4-BE49-F238E27FC236}">
                <a16:creationId xmlns:a16="http://schemas.microsoft.com/office/drawing/2014/main" id="{9991E435-12E0-89ED-A447-B874B5809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353" y="3153203"/>
            <a:ext cx="560388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E-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受信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65" name="テキスト ボックス 166">
            <a:extLst>
              <a:ext uri="{FF2B5EF4-FFF2-40B4-BE49-F238E27FC236}">
                <a16:creationId xmlns:a16="http://schemas.microsoft.com/office/drawing/2014/main" id="{1CCEB402-AC7E-C214-6CE0-088331DAC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59" y="3364002"/>
            <a:ext cx="434975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SmartHR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E640BDF1-676C-5077-974C-89B63E5A6765}"/>
              </a:ext>
            </a:extLst>
          </p:cNvPr>
          <p:cNvSpPr/>
          <p:nvPr/>
        </p:nvSpPr>
        <p:spPr>
          <a:xfrm>
            <a:off x="18710" y="2645818"/>
            <a:ext cx="561526" cy="96951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3231D4B-A340-2045-5A72-F3C694DE9ACD}"/>
              </a:ext>
            </a:extLst>
          </p:cNvPr>
          <p:cNvSpPr/>
          <p:nvPr/>
        </p:nvSpPr>
        <p:spPr bwMode="auto">
          <a:xfrm>
            <a:off x="7124841" y="2588364"/>
            <a:ext cx="556804" cy="517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88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70293E02-0FB2-6B4C-04A4-C835BA84A9A2}"/>
              </a:ext>
            </a:extLst>
          </p:cNvPr>
          <p:cNvSpPr/>
          <p:nvPr/>
        </p:nvSpPr>
        <p:spPr>
          <a:xfrm>
            <a:off x="7114451" y="2588932"/>
            <a:ext cx="567193" cy="1864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0" dirty="0">
                <a:solidFill>
                  <a:srgbClr val="242424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文章校正（広報）</a:t>
            </a:r>
            <a:endParaRPr lang="ja-JP" altLang="en-US" sz="400" dirty="0">
              <a:solidFill>
                <a:schemeClr val="tx1"/>
              </a:solidFill>
            </a:endParaRPr>
          </a:p>
        </p:txBody>
      </p:sp>
      <p:sp>
        <p:nvSpPr>
          <p:cNvPr id="70" name="テキスト ボックス 166">
            <a:extLst>
              <a:ext uri="{FF2B5EF4-FFF2-40B4-BE49-F238E27FC236}">
                <a16:creationId xmlns:a16="http://schemas.microsoft.com/office/drawing/2014/main" id="{831966B3-74C4-E9CA-490A-69E0B76E6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669" y="2786806"/>
            <a:ext cx="434975" cy="178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800" b="0" i="0" dirty="0">
                <a:solidFill>
                  <a:srgbClr val="242424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文賢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  <p:pic>
        <p:nvPicPr>
          <p:cNvPr id="75" name="ルーター.png" descr="ルーター.png">
            <a:extLst>
              <a:ext uri="{FF2B5EF4-FFF2-40B4-BE49-F238E27FC236}">
                <a16:creationId xmlns:a16="http://schemas.microsoft.com/office/drawing/2014/main" id="{11F2A6E7-7A56-06B5-6D36-53B6584BC938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t="144" b="144"/>
          <a:stretch>
            <a:fillRect/>
          </a:stretch>
        </p:blipFill>
        <p:spPr>
          <a:xfrm>
            <a:off x="5788983" y="3639017"/>
            <a:ext cx="248219" cy="141041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D4E24530-0475-0407-04B3-243AE4F33FF6}"/>
              </a:ext>
            </a:extLst>
          </p:cNvPr>
          <p:cNvCxnSpPr>
            <a:cxnSpLocks/>
            <a:stCxn id="383" idx="0"/>
            <a:endCxn id="3121" idx="2"/>
          </p:cNvCxnSpPr>
          <p:nvPr/>
        </p:nvCxnSpPr>
        <p:spPr>
          <a:xfrm flipH="1" flipV="1">
            <a:off x="4121970" y="2658931"/>
            <a:ext cx="1363748" cy="9352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図 91">
            <a:extLst>
              <a:ext uri="{FF2B5EF4-FFF2-40B4-BE49-F238E27FC236}">
                <a16:creationId xmlns:a16="http://schemas.microsoft.com/office/drawing/2014/main" id="{112B7827-1872-F7A8-7C90-84E2DC9CAE58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5605" y="1827982"/>
            <a:ext cx="509815" cy="97885"/>
          </a:xfrm>
          <a:prstGeom prst="rect">
            <a:avLst/>
          </a:prstGeom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37018B2D-A3EE-62D5-7E0D-56A25BD86685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720596" y="1191906"/>
            <a:ext cx="452831" cy="131356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696A338-4029-48F2-2853-C5DC975D11D7}"/>
              </a:ext>
            </a:extLst>
          </p:cNvPr>
          <p:cNvSpPr/>
          <p:nvPr/>
        </p:nvSpPr>
        <p:spPr>
          <a:xfrm>
            <a:off x="7706103" y="2585134"/>
            <a:ext cx="458661" cy="1996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600" dirty="0">
              <a:solidFill>
                <a:schemeClr val="tx1"/>
              </a:solidFill>
            </a:endParaRPr>
          </a:p>
        </p:txBody>
      </p:sp>
      <p:sp>
        <p:nvSpPr>
          <p:cNvPr id="68" name="テキスト ボックス 165">
            <a:extLst>
              <a:ext uri="{FF2B5EF4-FFF2-40B4-BE49-F238E27FC236}">
                <a16:creationId xmlns:a16="http://schemas.microsoft.com/office/drawing/2014/main" id="{69F8733E-C865-6D3D-F9EF-2163DD8E4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981" y="2576900"/>
            <a:ext cx="769978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セミナー管理</a:t>
            </a:r>
            <a:endParaRPr lang="en-US" altLang="ja-JP" sz="605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605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シャリーン（広報）</a:t>
            </a:r>
          </a:p>
        </p:txBody>
      </p:sp>
      <p:sp>
        <p:nvSpPr>
          <p:cNvPr id="76" name="テキスト ボックス 166">
            <a:extLst>
              <a:ext uri="{FF2B5EF4-FFF2-40B4-BE49-F238E27FC236}">
                <a16:creationId xmlns:a16="http://schemas.microsoft.com/office/drawing/2014/main" id="{293CA329-AA7D-1CF9-A170-C2B2C2C62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5700" y="2138764"/>
            <a:ext cx="577850" cy="335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PoweBI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ClipChamp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Copilot</a:t>
            </a:r>
          </a:p>
        </p:txBody>
      </p:sp>
      <p:sp>
        <p:nvSpPr>
          <p:cNvPr id="81" name="テキスト ボックス 166">
            <a:extLst>
              <a:ext uri="{FF2B5EF4-FFF2-40B4-BE49-F238E27FC236}">
                <a16:creationId xmlns:a16="http://schemas.microsoft.com/office/drawing/2014/main" id="{B05CC27E-2A90-F89A-DFC1-C64E4C31B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114" y="1232197"/>
            <a:ext cx="527050" cy="1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C-Cube</a:t>
            </a: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D98E37AF-4AE8-2E58-75AB-0C95DF7C5889}"/>
              </a:ext>
            </a:extLst>
          </p:cNvPr>
          <p:cNvSpPr/>
          <p:nvPr/>
        </p:nvSpPr>
        <p:spPr>
          <a:xfrm>
            <a:off x="3801298" y="5502469"/>
            <a:ext cx="449437" cy="13965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dirty="0">
                <a:solidFill>
                  <a:schemeClr val="tx1"/>
                </a:solidFill>
              </a:rPr>
              <a:t>SD-WAN</a:t>
            </a:r>
            <a:endParaRPr lang="ja-JP" altLang="en-US" sz="600" dirty="0">
              <a:solidFill>
                <a:schemeClr val="tx1"/>
              </a:solidFill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3EA8BD1D-3E90-0DB1-5741-978CD3D15C5F}"/>
              </a:ext>
            </a:extLst>
          </p:cNvPr>
          <p:cNvSpPr/>
          <p:nvPr/>
        </p:nvSpPr>
        <p:spPr>
          <a:xfrm>
            <a:off x="4034474" y="1747272"/>
            <a:ext cx="520700" cy="165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088" dirty="0" err="1">
                <a:solidFill>
                  <a:schemeClr val="tx1"/>
                </a:solidFill>
              </a:rPr>
              <a:t>Zaico</a:t>
            </a:r>
            <a:endParaRPr lang="en-US" altLang="ja-JP" sz="1088" dirty="0">
              <a:solidFill>
                <a:schemeClr val="tx1"/>
              </a:solidFill>
            </a:endParaRPr>
          </a:p>
        </p:txBody>
      </p:sp>
      <p:pic>
        <p:nvPicPr>
          <p:cNvPr id="58" name="図 57">
            <a:extLst>
              <a:ext uri="{FF2B5EF4-FFF2-40B4-BE49-F238E27FC236}">
                <a16:creationId xmlns:a16="http://schemas.microsoft.com/office/drawing/2014/main" id="{2198243B-96C1-9E0C-7BFF-3D3EA092223A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076590" y="-2904"/>
            <a:ext cx="1067410" cy="420719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</p:pic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C4AB9042-F21F-F03C-A2C2-8E50AE08B4D8}"/>
              </a:ext>
            </a:extLst>
          </p:cNvPr>
          <p:cNvCxnSpPr>
            <a:cxnSpLocks/>
          </p:cNvCxnSpPr>
          <p:nvPr/>
        </p:nvCxnSpPr>
        <p:spPr>
          <a:xfrm>
            <a:off x="6661956" y="5636185"/>
            <a:ext cx="494117" cy="9545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6BCDE8A8-178E-8A14-AD55-EEF9A9DE3680}"/>
              </a:ext>
            </a:extLst>
          </p:cNvPr>
          <p:cNvCxnSpPr>
            <a:cxnSpLocks/>
          </p:cNvCxnSpPr>
          <p:nvPr/>
        </p:nvCxnSpPr>
        <p:spPr>
          <a:xfrm>
            <a:off x="4443304" y="5617842"/>
            <a:ext cx="600155" cy="10107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B161CD57-CCA9-1852-F74C-7FD0E1F74D60}"/>
              </a:ext>
            </a:extLst>
          </p:cNvPr>
          <p:cNvCxnSpPr>
            <a:cxnSpLocks/>
          </p:cNvCxnSpPr>
          <p:nvPr/>
        </p:nvCxnSpPr>
        <p:spPr>
          <a:xfrm flipV="1">
            <a:off x="4449610" y="5669215"/>
            <a:ext cx="627408" cy="88460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5C1606A8-9F4F-BEC7-0000-6B2E6949D90C}"/>
              </a:ext>
            </a:extLst>
          </p:cNvPr>
          <p:cNvCxnSpPr>
            <a:cxnSpLocks/>
          </p:cNvCxnSpPr>
          <p:nvPr/>
        </p:nvCxnSpPr>
        <p:spPr>
          <a:xfrm flipV="1">
            <a:off x="6699324" y="5697326"/>
            <a:ext cx="490902" cy="9001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図 26" descr="120629_smartvpnlogo_4c.png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111" y="4638278"/>
            <a:ext cx="1058667" cy="416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30FCB897-B3A2-4534-8722-52DB150990D7}"/>
              </a:ext>
            </a:extLst>
          </p:cNvPr>
          <p:cNvCxnSpPr>
            <a:cxnSpLocks/>
          </p:cNvCxnSpPr>
          <p:nvPr/>
        </p:nvCxnSpPr>
        <p:spPr>
          <a:xfrm flipH="1" flipV="1">
            <a:off x="4426272" y="4471334"/>
            <a:ext cx="145728" cy="151965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A3526A15-9260-4575-4A14-BAC479AB60A5}"/>
              </a:ext>
            </a:extLst>
          </p:cNvPr>
          <p:cNvCxnSpPr>
            <a:cxnSpLocks/>
            <a:endCxn id="382" idx="2"/>
          </p:cNvCxnSpPr>
          <p:nvPr/>
        </p:nvCxnSpPr>
        <p:spPr>
          <a:xfrm flipV="1">
            <a:off x="5141891" y="4471334"/>
            <a:ext cx="343826" cy="301455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AE62F060-AE8F-A1C7-9946-BB151D2FD517}"/>
              </a:ext>
            </a:extLst>
          </p:cNvPr>
          <p:cNvCxnSpPr>
            <a:cxnSpLocks/>
          </p:cNvCxnSpPr>
          <p:nvPr/>
        </p:nvCxnSpPr>
        <p:spPr>
          <a:xfrm flipH="1" flipV="1">
            <a:off x="4646612" y="5171666"/>
            <a:ext cx="8755" cy="220151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F05EFD7E-3E8E-021E-70C8-65126EC37458}"/>
              </a:ext>
            </a:extLst>
          </p:cNvPr>
          <p:cNvCxnSpPr>
            <a:cxnSpLocks/>
            <a:endCxn id="8257" idx="1"/>
          </p:cNvCxnSpPr>
          <p:nvPr/>
        </p:nvCxnSpPr>
        <p:spPr>
          <a:xfrm flipV="1">
            <a:off x="5243149" y="4566937"/>
            <a:ext cx="1982749" cy="334506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ルーター.png" descr="ルーター.png">
            <a:extLst>
              <a:ext uri="{FF2B5EF4-FFF2-40B4-BE49-F238E27FC236}">
                <a16:creationId xmlns:a16="http://schemas.microsoft.com/office/drawing/2014/main" id="{0DE53A9A-D0DD-3188-2C09-469FFC230202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t="144" b="144"/>
          <a:stretch>
            <a:fillRect/>
          </a:stretch>
        </p:blipFill>
        <p:spPr>
          <a:xfrm>
            <a:off x="3377506" y="3593874"/>
            <a:ext cx="248219" cy="141041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7F4CE505-ED7F-168C-EF0E-D4EC6B08D4F4}"/>
              </a:ext>
            </a:extLst>
          </p:cNvPr>
          <p:cNvCxnSpPr>
            <a:cxnSpLocks/>
            <a:endCxn id="8345" idx="2"/>
          </p:cNvCxnSpPr>
          <p:nvPr/>
        </p:nvCxnSpPr>
        <p:spPr>
          <a:xfrm flipH="1" flipV="1">
            <a:off x="2197502" y="4460676"/>
            <a:ext cx="1804609" cy="474792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テキスト ボックス 114"/>
          <p:cNvSpPr txBox="1">
            <a:spLocks noChangeArrowheads="1"/>
          </p:cNvSpPr>
          <p:nvPr/>
        </p:nvSpPr>
        <p:spPr bwMode="auto">
          <a:xfrm>
            <a:off x="826116" y="4528978"/>
            <a:ext cx="482268" cy="18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>
                <a:solidFill>
                  <a:srgbClr val="953735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IVA</a:t>
            </a:r>
          </a:p>
        </p:txBody>
      </p: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2CAC55ED-AC75-A3CE-A821-85E6B9E6FE7F}"/>
              </a:ext>
            </a:extLst>
          </p:cNvPr>
          <p:cNvCxnSpPr>
            <a:cxnSpLocks/>
            <a:endCxn id="132" idx="3"/>
          </p:cNvCxnSpPr>
          <p:nvPr/>
        </p:nvCxnSpPr>
        <p:spPr>
          <a:xfrm flipH="1" flipV="1">
            <a:off x="1615192" y="4883772"/>
            <a:ext cx="2386919" cy="63342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2" name="Picture 61">
            <a:extLst>
              <a:ext uri="{FF2B5EF4-FFF2-40B4-BE49-F238E27FC236}">
                <a16:creationId xmlns:a16="http://schemas.microsoft.com/office/drawing/2014/main" id="{0C876716-25E6-33AA-E97E-3EE67FCF0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217" y="4665490"/>
            <a:ext cx="434975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" name="テキスト ボックス 185">
            <a:extLst>
              <a:ext uri="{FF2B5EF4-FFF2-40B4-BE49-F238E27FC236}">
                <a16:creationId xmlns:a16="http://schemas.microsoft.com/office/drawing/2014/main" id="{F84DAB7C-86B3-69A6-9462-0E36FDC0C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360" y="4704954"/>
            <a:ext cx="1000672" cy="1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9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インターネット</a:t>
            </a:r>
          </a:p>
        </p:txBody>
      </p:sp>
      <p:cxnSp>
        <p:nvCxnSpPr>
          <p:cNvPr id="135" name="直線コネクタ 134">
            <a:extLst>
              <a:ext uri="{FF2B5EF4-FFF2-40B4-BE49-F238E27FC236}">
                <a16:creationId xmlns:a16="http://schemas.microsoft.com/office/drawing/2014/main" id="{D2756786-59AA-9432-A1C0-DBC04D6A2F9E}"/>
              </a:ext>
            </a:extLst>
          </p:cNvPr>
          <p:cNvCxnSpPr>
            <a:cxnSpLocks/>
            <a:stCxn id="226" idx="1"/>
          </p:cNvCxnSpPr>
          <p:nvPr/>
        </p:nvCxnSpPr>
        <p:spPr>
          <a:xfrm flipH="1" flipV="1">
            <a:off x="1535160" y="5020439"/>
            <a:ext cx="2209821" cy="4783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テキスト ボックス 140">
            <a:extLst>
              <a:ext uri="{FF2B5EF4-FFF2-40B4-BE49-F238E27FC236}">
                <a16:creationId xmlns:a16="http://schemas.microsoft.com/office/drawing/2014/main" id="{2EAA4F54-FA3A-9A0B-994C-44C4585DA9CF}"/>
              </a:ext>
            </a:extLst>
          </p:cNvPr>
          <p:cNvSpPr txBox="1"/>
          <p:nvPr/>
        </p:nvSpPr>
        <p:spPr>
          <a:xfrm>
            <a:off x="4816255" y="4892402"/>
            <a:ext cx="88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閉域網</a:t>
            </a:r>
          </a:p>
        </p:txBody>
      </p:sp>
      <p:pic>
        <p:nvPicPr>
          <p:cNvPr id="151" name="ルーター.png" descr="ルーター.png">
            <a:extLst>
              <a:ext uri="{FF2B5EF4-FFF2-40B4-BE49-F238E27FC236}">
                <a16:creationId xmlns:a16="http://schemas.microsoft.com/office/drawing/2014/main" id="{C81EC93C-E15D-E89C-B2CE-428900CDD7FE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t="144" b="144"/>
          <a:stretch>
            <a:fillRect/>
          </a:stretch>
        </p:blipFill>
        <p:spPr>
          <a:xfrm>
            <a:off x="3650800" y="5411825"/>
            <a:ext cx="248219" cy="141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図 154">
            <a:extLst>
              <a:ext uri="{FF2B5EF4-FFF2-40B4-BE49-F238E27FC236}">
                <a16:creationId xmlns:a16="http://schemas.microsoft.com/office/drawing/2014/main" id="{DFAB66FF-C6EB-28B0-8774-9D0658E480A8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340854" y="5877570"/>
            <a:ext cx="607121" cy="432735"/>
          </a:xfrm>
          <a:prstGeom prst="rect">
            <a:avLst/>
          </a:prstGeom>
        </p:spPr>
      </p:pic>
      <p:sp>
        <p:nvSpPr>
          <p:cNvPr id="156" name="テキスト ボックス 155">
            <a:extLst>
              <a:ext uri="{FF2B5EF4-FFF2-40B4-BE49-F238E27FC236}">
                <a16:creationId xmlns:a16="http://schemas.microsoft.com/office/drawing/2014/main" id="{61466786-5173-26E3-FFC1-3DEBC95C8042}"/>
              </a:ext>
            </a:extLst>
          </p:cNvPr>
          <p:cNvSpPr txBox="1"/>
          <p:nvPr/>
        </p:nvSpPr>
        <p:spPr>
          <a:xfrm>
            <a:off x="2322068" y="1890469"/>
            <a:ext cx="645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全国避難所ガイド</a:t>
            </a: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E1F7B1FD-0614-07DD-71A9-AB3840D79593}"/>
              </a:ext>
            </a:extLst>
          </p:cNvPr>
          <p:cNvSpPr/>
          <p:nvPr/>
        </p:nvSpPr>
        <p:spPr>
          <a:xfrm>
            <a:off x="2374696" y="1811946"/>
            <a:ext cx="600844" cy="1429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275" tIns="27637" rIns="55275" bIns="27637" anchor="ctr"/>
          <a:lstStyle/>
          <a:p>
            <a:pPr algn="ctr" defTabSz="89175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800" dirty="0">
                <a:solidFill>
                  <a:schemeClr val="tx1"/>
                </a:solidFill>
              </a:rPr>
              <a:t>安否確認</a:t>
            </a:r>
            <a:endParaRPr lang="en-US" altLang="ja-JP" sz="800" dirty="0">
              <a:solidFill>
                <a:schemeClr val="tx1"/>
              </a:solidFill>
            </a:endParaRPr>
          </a:p>
        </p:txBody>
      </p:sp>
      <p:sp>
        <p:nvSpPr>
          <p:cNvPr id="158" name="テキスト ボックス 166">
            <a:extLst>
              <a:ext uri="{FF2B5EF4-FFF2-40B4-BE49-F238E27FC236}">
                <a16:creationId xmlns:a16="http://schemas.microsoft.com/office/drawing/2014/main" id="{91ED652B-511B-71D2-2EEB-A75C49306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2705" y="2423981"/>
            <a:ext cx="631822" cy="24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5275" tIns="27637" rIns="55275" bIns="27637">
            <a:spAutoFit/>
          </a:bodyPr>
          <a:lstStyle>
            <a:lvl1pPr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defTabSz="1473200" eaLnBrk="0" fontAlgn="base" hangingPunct="0">
              <a:spcBef>
                <a:spcPct val="0"/>
              </a:spcBef>
              <a:spcAft>
                <a:spcPct val="0"/>
              </a:spcAft>
              <a:defRPr kumimoji="1"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5" dirty="0" err="1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Cookai</a:t>
            </a:r>
            <a:r>
              <a:rPr lang="ja-JP" altLang="en-US" sz="60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Meiryo UI" panose="020B0604030504040204" pitchFamily="50" charset="-128"/>
              </a:rPr>
              <a:t>カレンダー</a:t>
            </a:r>
            <a:endParaRPr lang="en-US" altLang="ja-JP" sz="605" dirty="0">
              <a:latin typeface="HGPｺﾞｼｯｸM" panose="020B0600000000000000" pitchFamily="50" charset="-128"/>
              <a:ea typeface="HGPｺﾞｼｯｸM" panose="020B0600000000000000" pitchFamily="50" charset="-128"/>
              <a:cs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7850</TotalTime>
  <Words>342</Words>
  <Application>Microsoft Office PowerPoint</Application>
  <PresentationFormat>画面に合わせる (4:3)</PresentationFormat>
  <Paragraphs>162</Paragraphs>
  <Slides>1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三宅正徳</dc:creator>
  <cp:lastModifiedBy>大津 義行(イカリ消毒)</cp:lastModifiedBy>
  <cp:revision>838</cp:revision>
  <cp:lastPrinted>2017-09-15T09:46:25Z</cp:lastPrinted>
  <dcterms:created xsi:type="dcterms:W3CDTF">2015-11-24T05:52:16Z</dcterms:created>
  <dcterms:modified xsi:type="dcterms:W3CDTF">2025-11-07T09:47:17Z</dcterms:modified>
</cp:coreProperties>
</file>