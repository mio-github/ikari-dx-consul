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383" r:id="rId2"/>
    <p:sldId id="1382" r:id="rId3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2" orient="horz" pos="3906" userDrawn="1">
          <p15:clr>
            <a:srgbClr val="A4A3A4"/>
          </p15:clr>
        </p15:guide>
        <p15:guide id="3" orient="horz" pos="391" userDrawn="1">
          <p15:clr>
            <a:srgbClr val="A4A3A4"/>
          </p15:clr>
        </p15:guide>
        <p15:guide id="4" pos="3120" userDrawn="1">
          <p15:clr>
            <a:srgbClr val="A4A3A4"/>
          </p15:clr>
        </p15:guide>
        <p15:guide id="6" pos="6046" userDrawn="1">
          <p15:clr>
            <a:srgbClr val="A4A3A4"/>
          </p15:clr>
        </p15:guide>
        <p15:guide id="7" pos="2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佐伯 真澄" initials="佐伯" lastIdx="1" clrIdx="0">
    <p:extLst>
      <p:ext uri="{19B8F6BF-5375-455C-9EA6-DF929625EA0E}">
        <p15:presenceInfo xmlns:p15="http://schemas.microsoft.com/office/powerpoint/2012/main" userId="S-1-5-21-243183404-1056131372-120787423-275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72A0"/>
    <a:srgbClr val="ECCFD3"/>
    <a:srgbClr val="000000"/>
    <a:srgbClr val="DFF0D7"/>
    <a:srgbClr val="FCF2D5"/>
    <a:srgbClr val="DCEAF4"/>
    <a:srgbClr val="FFFFFF"/>
    <a:srgbClr val="FF0000"/>
    <a:srgbClr val="96C0DE"/>
    <a:srgbClr val="C3C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51" autoAdjust="0"/>
    <p:restoredTop sz="95587" autoAdjust="0"/>
  </p:normalViewPr>
  <p:slideViewPr>
    <p:cSldViewPr showGuides="1">
      <p:cViewPr varScale="1">
        <p:scale>
          <a:sx n="102" d="100"/>
          <a:sy n="102" d="100"/>
        </p:scale>
        <p:origin x="2214" y="318"/>
      </p:cViewPr>
      <p:guideLst>
        <p:guide orient="horz" pos="2750"/>
        <p:guide orient="horz" pos="3906"/>
        <p:guide orient="horz" pos="391"/>
        <p:guide pos="3120"/>
        <p:guide pos="6046"/>
        <p:guide pos="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4662"/>
    </p:cViewPr>
  </p:sorterViewPr>
  <p:notesViewPr>
    <p:cSldViewPr>
      <p:cViewPr varScale="1">
        <p:scale>
          <a:sx n="79" d="100"/>
          <a:sy n="79" d="100"/>
        </p:scale>
        <p:origin x="3954" y="96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03F4C-07B3-4F67-89FB-28FFCC9E507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D979E-3384-4905-8E62-018959960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3622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6175C-C1F4-4B08-A11E-D5731BF3818C}" type="datetimeFigureOut">
              <a:rPr kumimoji="1" lang="ja-JP" altLang="en-US" smtClean="0"/>
              <a:pPr/>
              <a:t>2025/11/11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215F9-C108-4C41-852B-16E432823472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40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2" descr="C:\Users\yoshida.yu\Desktop\みずほFG\デザイン\書き出し\ドーム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0" descr="C:\Users\yoshida.yu\Desktop\みずほFG\デザイン\書き出し\ブランドリボン＿青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906000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2" name="直線コネクタ 13"/>
          <p:cNvCxnSpPr>
            <a:cxnSpLocks noChangeShapeType="1"/>
          </p:cNvCxnSpPr>
          <p:nvPr userDrawn="1"/>
        </p:nvCxnSpPr>
        <p:spPr bwMode="auto">
          <a:xfrm flipV="1">
            <a:off x="2901950" y="2214563"/>
            <a:ext cx="6731000" cy="26987"/>
          </a:xfrm>
          <a:prstGeom prst="line">
            <a:avLst/>
          </a:prstGeom>
          <a:noFill/>
          <a:ln w="19050" algn="ctr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pic>
        <p:nvPicPr>
          <p:cNvPr id="23" name="Picture 26" descr="C:\Users\yoshida.yu\Desktop\みずほFG\デザイン\書き出し\ONEMIZUHO＿日本語＿青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0363" y="5603875"/>
            <a:ext cx="1584325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4"/>
          <p:cNvSpPr txBox="1">
            <a:spLocks noChangeArrowheads="1"/>
          </p:cNvSpPr>
          <p:nvPr userDrawn="1"/>
        </p:nvSpPr>
        <p:spPr bwMode="auto">
          <a:xfrm>
            <a:off x="5700785" y="6416675"/>
            <a:ext cx="393216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000">
                <a:solidFill>
                  <a:srgbClr val="5A5A5A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ja-JP" sz="9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Copyright © 2022 Mizuho Research &amp;  Technologies,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4544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ブランドロゴ＋機密表記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73050" y="220603"/>
            <a:ext cx="1718740" cy="400110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0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ja-JP" dirty="0"/>
              <a:t>0.</a:t>
            </a:r>
            <a:r>
              <a:rPr kumimoji="1" lang="ja-JP" altLang="en-US" dirty="0"/>
              <a:t>目次タイトル</a:t>
            </a:r>
          </a:p>
        </p:txBody>
      </p:sp>
      <p:cxnSp>
        <p:nvCxnSpPr>
          <p:cNvPr id="9" name="直線コネクタ 6"/>
          <p:cNvCxnSpPr>
            <a:cxnSpLocks noChangeShapeType="1"/>
          </p:cNvCxnSpPr>
          <p:nvPr userDrawn="1"/>
        </p:nvCxnSpPr>
        <p:spPr bwMode="auto">
          <a:xfrm flipV="1">
            <a:off x="0" y="620713"/>
            <a:ext cx="990600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" name="テキスト プレースホルダー 4"/>
          <p:cNvSpPr>
            <a:spLocks noGrp="1"/>
          </p:cNvSpPr>
          <p:nvPr>
            <p:ph type="body" sz="quarter" idx="13" hasCustomPrompt="1"/>
          </p:nvPr>
        </p:nvSpPr>
        <p:spPr>
          <a:xfrm>
            <a:off x="92460" y="692150"/>
            <a:ext cx="9757083" cy="323850"/>
          </a:xfrm>
          <a:prstGeom prst="rect">
            <a:avLst/>
          </a:prstGeom>
        </p:spPr>
        <p:txBody>
          <a:bodyPr/>
          <a:lstStyle>
            <a:lvl1pPr marL="92075" indent="-92075">
              <a:defRPr sz="1400"/>
            </a:lvl1pPr>
          </a:lstStyle>
          <a:p>
            <a:pPr lvl="0"/>
            <a:r>
              <a:rPr kumimoji="1" lang="en-US" altLang="ja-JP" dirty="0"/>
              <a:t>Key note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11796" y="3320988"/>
            <a:ext cx="1930761" cy="1058508"/>
          </a:xfrm>
          <a:prstGeom prst="rect">
            <a:avLst/>
          </a:prstGeom>
        </p:spPr>
      </p:pic>
      <p:sp>
        <p:nvSpPr>
          <p:cNvPr id="15" name="テキスト ボックス 14"/>
          <p:cNvSpPr txBox="1">
            <a:spLocks noChangeArrowheads="1"/>
          </p:cNvSpPr>
          <p:nvPr userDrawn="1"/>
        </p:nvSpPr>
        <p:spPr bwMode="auto">
          <a:xfrm>
            <a:off x="8733884" y="9525"/>
            <a:ext cx="1172116" cy="28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lnSpc>
                <a:spcPct val="140000"/>
              </a:lnSpc>
              <a:spcBef>
                <a:spcPct val="10000"/>
              </a:spcBef>
              <a:spcAft>
                <a:spcPct val="0"/>
              </a:spcAft>
            </a:pPr>
            <a:r>
              <a:rPr lang="en-US" altLang="ja-JP" sz="900" b="0" dirty="0">
                <a:solidFill>
                  <a:srgbClr val="FF0000"/>
                </a:solidFill>
                <a:latin typeface="Arial" charset="0"/>
              </a:rPr>
              <a:t>Strictly Confidential</a:t>
            </a:r>
            <a:endParaRPr lang="ja-JP" altLang="en-US" sz="900" b="0" dirty="0">
              <a:solidFill>
                <a:srgbClr val="4D4D4D"/>
              </a:solidFill>
              <a:latin typeface="Arial" charset="0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16" name="直線コネクタ 7"/>
          <p:cNvCxnSpPr>
            <a:cxnSpLocks noChangeShapeType="1"/>
          </p:cNvCxnSpPr>
          <p:nvPr userDrawn="1"/>
        </p:nvCxnSpPr>
        <p:spPr bwMode="auto">
          <a:xfrm flipV="1">
            <a:off x="0" y="6203950"/>
            <a:ext cx="990600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7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3797300" y="6356351"/>
            <a:ext cx="23114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latin typeface="+mn-ea"/>
                <a:ea typeface="+mn-ea"/>
              </a:defRPr>
            </a:lvl1pPr>
          </a:lstStyle>
          <a:p>
            <a:fld id="{ED858BF9-642D-4D92-AE3A-4ABBB79756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8" name="スライド番号プレースホルダ 5"/>
          <p:cNvSpPr txBox="1">
            <a:spLocks/>
          </p:cNvSpPr>
          <p:nvPr userDrawn="1"/>
        </p:nvSpPr>
        <p:spPr>
          <a:xfrm>
            <a:off x="3797300" y="6356351"/>
            <a:ext cx="2311400" cy="365125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D858BF9-642D-4D92-AE3A-4ABBB79756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9" name="テキスト ボックス 20"/>
          <p:cNvSpPr txBox="1">
            <a:spLocks noChangeArrowheads="1"/>
          </p:cNvSpPr>
          <p:nvPr userDrawn="1"/>
        </p:nvSpPr>
        <p:spPr bwMode="auto">
          <a:xfrm>
            <a:off x="6029979" y="6416444"/>
            <a:ext cx="3714478" cy="26468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40000"/>
              </a:lnSpc>
              <a:spcBef>
                <a:spcPct val="10000"/>
              </a:spcBef>
              <a:spcAft>
                <a:spcPct val="0"/>
              </a:spcAft>
            </a:pPr>
            <a:r>
              <a:rPr lang="en-US" altLang="ja-JP" sz="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Copyright © 2022 Mizuho Research &amp;  Technologies, Ltd. All rights reserved.</a:t>
            </a:r>
          </a:p>
        </p:txBody>
      </p:sp>
      <p:pic>
        <p:nvPicPr>
          <p:cNvPr id="20" name="図 19" descr="http://www.intra.mizuho-ir.co.jp/pr/vi/MHRT/RT_logo_B_lockup/JPEG/1_Japanese/Horizontal/Informal/Basic/Positive/LU_RT_J_Hrz_I_Bsc_Pos_Rgb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5" t="28434" r="7004" b="24298"/>
          <a:stretch/>
        </p:blipFill>
        <p:spPr bwMode="auto">
          <a:xfrm>
            <a:off x="136608" y="6402727"/>
            <a:ext cx="3232216" cy="29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65368" y="327231"/>
            <a:ext cx="1640632" cy="22204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A5F8E-DFC2-AD37-A4A1-44703C99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75122-8B39-00F1-3D12-06DA5C88A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29" y="40449"/>
            <a:ext cx="7257115" cy="400110"/>
          </a:xfrm>
        </p:spPr>
        <p:txBody>
          <a:bodyPr/>
          <a:lstStyle/>
          <a:p>
            <a:r>
              <a:rPr lang="en-US" altLang="ja-JP" dirty="0"/>
              <a:t>2.2 </a:t>
            </a:r>
            <a:r>
              <a:rPr lang="ja-JP" altLang="en-US" dirty="0"/>
              <a:t>インタビュー結果サマリ</a:t>
            </a:r>
            <a:r>
              <a:rPr lang="ja-JP" altLang="en-US" dirty="0">
                <a:solidFill>
                  <a:srgbClr val="FF0000"/>
                </a:solidFill>
              </a:rPr>
              <a:t>追記</a:t>
            </a:r>
            <a:r>
              <a:rPr lang="ja-JP" altLang="en-US" dirty="0"/>
              <a:t>｜③現状可視化［システム構成］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CD77F3-5151-B8F4-D63E-C35F48F98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460" y="656692"/>
            <a:ext cx="9757083" cy="323850"/>
          </a:xfrm>
        </p:spPr>
        <p:txBody>
          <a:bodyPr/>
          <a:lstStyle/>
          <a:p>
            <a:r>
              <a:rPr lang="ja-JP" altLang="en-US" dirty="0"/>
              <a:t>システム構成。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2702503E-5AAF-751D-3AC8-61BF7EB1999E}"/>
              </a:ext>
            </a:extLst>
          </p:cNvPr>
          <p:cNvSpPr/>
          <p:nvPr/>
        </p:nvSpPr>
        <p:spPr>
          <a:xfrm>
            <a:off x="7160258" y="917831"/>
            <a:ext cx="2745741" cy="153238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F9F32EBD-5826-91E6-1775-1C9E899D89E6}"/>
              </a:ext>
            </a:extLst>
          </p:cNvPr>
          <p:cNvSpPr/>
          <p:nvPr/>
        </p:nvSpPr>
        <p:spPr>
          <a:xfrm>
            <a:off x="8702221" y="2470552"/>
            <a:ext cx="1203778" cy="43874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</a:rPr>
              <a:t>【</a:t>
            </a:r>
            <a:r>
              <a:rPr kumimoji="1" lang="ja-JP" altLang="en-US" sz="1400" dirty="0">
                <a:solidFill>
                  <a:schemeClr val="tx1"/>
                </a:solidFill>
              </a:rPr>
              <a:t>取引先</a:t>
            </a:r>
            <a:r>
              <a:rPr kumimoji="1" lang="en-US" altLang="ja-JP" sz="1400" dirty="0">
                <a:solidFill>
                  <a:schemeClr val="tx1"/>
                </a:solidFill>
              </a:rPr>
              <a:t>】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C8022579-95C9-2D45-7238-4733004E76CF}"/>
              </a:ext>
            </a:extLst>
          </p:cNvPr>
          <p:cNvSpPr/>
          <p:nvPr/>
        </p:nvSpPr>
        <p:spPr>
          <a:xfrm>
            <a:off x="-24664" y="657038"/>
            <a:ext cx="8689528" cy="620096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ja-JP" sz="1400" dirty="0">
                <a:solidFill>
                  <a:schemeClr val="tx1"/>
                </a:solidFill>
              </a:rPr>
              <a:t>【</a:t>
            </a:r>
            <a:r>
              <a:rPr kumimoji="1" lang="ja-JP" altLang="en-US" sz="1400" dirty="0">
                <a:solidFill>
                  <a:schemeClr val="tx1"/>
                </a:solidFill>
              </a:rPr>
              <a:t>イカリ消毒</a:t>
            </a:r>
            <a:r>
              <a:rPr kumimoji="1" lang="en-US" altLang="ja-JP" sz="1400" dirty="0">
                <a:solidFill>
                  <a:schemeClr val="tx1"/>
                </a:solidFill>
              </a:rPr>
              <a:t>】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4B90B7-37CC-99E2-10AE-3FAB39CA00B1}"/>
              </a:ext>
            </a:extLst>
          </p:cNvPr>
          <p:cNvSpPr/>
          <p:nvPr/>
        </p:nvSpPr>
        <p:spPr>
          <a:xfrm>
            <a:off x="1803969" y="2700271"/>
            <a:ext cx="3809956" cy="14632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ja-JP" altLang="en-US" sz="1200" b="1" dirty="0">
                <a:solidFill>
                  <a:sysClr val="windowText" lastClr="000000"/>
                </a:solidFill>
              </a:rPr>
              <a:t>総合経営管理システム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r>
              <a:rPr lang="ja-JP" altLang="en-US" sz="1200" b="1" dirty="0">
                <a:solidFill>
                  <a:sysClr val="windowText" lastClr="000000"/>
                </a:solidFill>
              </a:rPr>
              <a:t>（スーパーカクテル）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3C0379F-7034-C0A9-73D1-16BE6ACA90B0}"/>
              </a:ext>
            </a:extLst>
          </p:cNvPr>
          <p:cNvSpPr/>
          <p:nvPr/>
        </p:nvSpPr>
        <p:spPr>
          <a:xfrm>
            <a:off x="1648628" y="1375837"/>
            <a:ext cx="2391328" cy="10796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ja-JP" altLang="en-US" sz="1200" b="1" dirty="0">
                <a:solidFill>
                  <a:sysClr val="windowText" lastClr="000000"/>
                </a:solidFill>
              </a:rPr>
              <a:t>会計・人事・給与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 err="1">
                <a:solidFill>
                  <a:sysClr val="windowText" lastClr="000000"/>
                </a:solidFill>
              </a:rPr>
              <a:t>Galileopt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 NX-Plus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2810583-D661-1C93-97C2-1BD8A8F6524D}"/>
              </a:ext>
            </a:extLst>
          </p:cNvPr>
          <p:cNvSpPr/>
          <p:nvPr/>
        </p:nvSpPr>
        <p:spPr>
          <a:xfrm>
            <a:off x="4396854" y="1247249"/>
            <a:ext cx="1260000" cy="47113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勤怠システム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 err="1">
                <a:solidFill>
                  <a:sysClr val="windowText" lastClr="000000"/>
                </a:solidFill>
              </a:rPr>
              <a:t>TimePro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-VG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9329B6-DB70-7FC5-4757-AEF5437A1376}"/>
              </a:ext>
            </a:extLst>
          </p:cNvPr>
          <p:cNvSpPr/>
          <p:nvPr/>
        </p:nvSpPr>
        <p:spPr>
          <a:xfrm>
            <a:off x="7979314" y="2861034"/>
            <a:ext cx="1584000" cy="22435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1050" b="1" dirty="0">
                <a:solidFill>
                  <a:sysClr val="windowText" lastClr="000000"/>
                </a:solidFill>
              </a:rPr>
              <a:t>CX</a:t>
            </a:r>
            <a:r>
              <a:rPr lang="ja-JP" altLang="en-US" sz="1050" b="1" dirty="0">
                <a:solidFill>
                  <a:sysClr val="windowText" lastClr="000000"/>
                </a:solidFill>
              </a:rPr>
              <a:t>システム・</a:t>
            </a:r>
            <a:r>
              <a:rPr lang="en-US" altLang="ja-JP" sz="1050" b="1" dirty="0">
                <a:solidFill>
                  <a:sysClr val="windowText" lastClr="000000"/>
                </a:solidFill>
              </a:rPr>
              <a:t>We</a:t>
            </a:r>
            <a:r>
              <a:rPr lang="ja-JP" altLang="en-US" sz="1050" b="1" dirty="0">
                <a:solidFill>
                  <a:sysClr val="windowText" lastClr="000000"/>
                </a:solidFill>
              </a:rPr>
              <a:t>ｂ</a:t>
            </a:r>
            <a:r>
              <a:rPr lang="en-US" altLang="ja-JP" sz="1050" b="1" dirty="0">
                <a:solidFill>
                  <a:sysClr val="windowText" lastClr="000000"/>
                </a:solidFill>
              </a:rPr>
              <a:t>FOCUS</a:t>
            </a:r>
            <a:endParaRPr lang="ja-JP" altLang="en-US" sz="1050" b="1" dirty="0">
              <a:solidFill>
                <a:sysClr val="windowText" lastClr="00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2B94D87-857D-1025-46DF-82446358457F}"/>
              </a:ext>
            </a:extLst>
          </p:cNvPr>
          <p:cNvSpPr/>
          <p:nvPr/>
        </p:nvSpPr>
        <p:spPr>
          <a:xfrm>
            <a:off x="7982450" y="3209427"/>
            <a:ext cx="741330" cy="561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1200" b="1" dirty="0">
                <a:solidFill>
                  <a:sysClr val="windowText" lastClr="000000"/>
                </a:solidFill>
              </a:rPr>
              <a:t>WEB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報告書・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LC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ラボ</a:t>
            </a:r>
            <a:endParaRPr lang="ja-JP" altLang="en-US" sz="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99F99B1-802E-0DA9-7D5A-2643C19A9F93}"/>
              </a:ext>
            </a:extLst>
          </p:cNvPr>
          <p:cNvCxnSpPr/>
          <p:nvPr/>
        </p:nvCxnSpPr>
        <p:spPr>
          <a:xfrm flipH="1">
            <a:off x="4039956" y="1612963"/>
            <a:ext cx="356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174046E2-B8F6-5F95-05B0-3BCEA1BAB833}"/>
              </a:ext>
            </a:extLst>
          </p:cNvPr>
          <p:cNvCxnSpPr/>
          <p:nvPr/>
        </p:nvCxnSpPr>
        <p:spPr>
          <a:xfrm flipV="1">
            <a:off x="8537010" y="3762774"/>
            <a:ext cx="4049" cy="433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F8C5522A-8738-E315-EA62-B96D82214A44}"/>
              </a:ext>
            </a:extLst>
          </p:cNvPr>
          <p:cNvSpPr/>
          <p:nvPr/>
        </p:nvSpPr>
        <p:spPr>
          <a:xfrm>
            <a:off x="5644783" y="2742782"/>
            <a:ext cx="615481" cy="3216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dirty="0">
                <a:solidFill>
                  <a:sysClr val="windowText" lastClr="000000"/>
                </a:solidFill>
              </a:rPr>
              <a:t>e-FAX</a:t>
            </a:r>
            <a:endParaRPr lang="ja-JP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2F1B4BDE-DB4C-8521-6848-EF5C3F2A308C}"/>
              </a:ext>
            </a:extLst>
          </p:cNvPr>
          <p:cNvSpPr/>
          <p:nvPr/>
        </p:nvSpPr>
        <p:spPr>
          <a:xfrm>
            <a:off x="2151998" y="4824477"/>
            <a:ext cx="1044000" cy="3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dirty="0">
                <a:solidFill>
                  <a:sysClr val="windowText" lastClr="000000"/>
                </a:solidFill>
              </a:rPr>
              <a:t>Office365</a:t>
            </a: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イカリナビ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3ADF1D65-30FF-A67D-6C8E-C7814B6D80C9}"/>
              </a:ext>
            </a:extLst>
          </p:cNvPr>
          <p:cNvSpPr/>
          <p:nvPr/>
        </p:nvSpPr>
        <p:spPr>
          <a:xfrm>
            <a:off x="6240437" y="5179403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社内申請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BE54B445-7C46-FDD5-5990-BF8F7CB683D4}"/>
              </a:ext>
            </a:extLst>
          </p:cNvPr>
          <p:cNvSpPr/>
          <p:nvPr/>
        </p:nvSpPr>
        <p:spPr>
          <a:xfrm>
            <a:off x="1281969" y="5173935"/>
            <a:ext cx="870029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800" dirty="0">
                <a:solidFill>
                  <a:sysClr val="windowText" lastClr="000000"/>
                </a:solidFill>
              </a:rPr>
              <a:t>資産管理システム</a:t>
            </a:r>
            <a:endParaRPr lang="en-US" altLang="ja-JP" sz="800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800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800" dirty="0">
                <a:solidFill>
                  <a:sysClr val="windowText" lastClr="000000"/>
                </a:solidFill>
              </a:rPr>
              <a:t>SKY SEA</a:t>
            </a:r>
            <a:r>
              <a:rPr lang="ja-JP" altLang="en-US" sz="800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DCACD0D2-B98E-1BDE-FCDD-6022E8B85258}"/>
              </a:ext>
            </a:extLst>
          </p:cNvPr>
          <p:cNvSpPr/>
          <p:nvPr/>
        </p:nvSpPr>
        <p:spPr>
          <a:xfrm>
            <a:off x="6240437" y="4805056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商品データベース</a:t>
            </a:r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FEAEE7FD-8786-1A4E-45B2-315E325B49F1}"/>
              </a:ext>
            </a:extLst>
          </p:cNvPr>
          <p:cNvSpPr/>
          <p:nvPr/>
        </p:nvSpPr>
        <p:spPr>
          <a:xfrm>
            <a:off x="1725783" y="176874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財務会計</a:t>
            </a: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A5B18B79-963B-FB5C-C832-62203E17ED62}"/>
              </a:ext>
            </a:extLst>
          </p:cNvPr>
          <p:cNvSpPr/>
          <p:nvPr/>
        </p:nvSpPr>
        <p:spPr>
          <a:xfrm>
            <a:off x="2486554" y="176874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人事管理</a:t>
            </a: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05B6748A-0D74-CD69-1AEC-B4E258B6EB6C}"/>
              </a:ext>
            </a:extLst>
          </p:cNvPr>
          <p:cNvSpPr/>
          <p:nvPr/>
        </p:nvSpPr>
        <p:spPr>
          <a:xfrm>
            <a:off x="3231646" y="176874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管理会計</a:t>
            </a: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FA2D399-6C71-AC99-8098-8270AF2A56A7}"/>
              </a:ext>
            </a:extLst>
          </p:cNvPr>
          <p:cNvSpPr/>
          <p:nvPr/>
        </p:nvSpPr>
        <p:spPr>
          <a:xfrm>
            <a:off x="1730844" y="2095216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給与計算</a:t>
            </a:r>
          </a:p>
        </p:txBody>
      </p:sp>
      <p:cxnSp>
        <p:nvCxnSpPr>
          <p:cNvPr id="189" name="直線矢印コネクタ 188">
            <a:extLst>
              <a:ext uri="{FF2B5EF4-FFF2-40B4-BE49-F238E27FC236}">
                <a16:creationId xmlns:a16="http://schemas.microsoft.com/office/drawing/2014/main" id="{735B7A26-F7E3-2090-460A-EF2241366BAF}"/>
              </a:ext>
            </a:extLst>
          </p:cNvPr>
          <p:cNvCxnSpPr>
            <a:cxnSpLocks/>
          </p:cNvCxnSpPr>
          <p:nvPr/>
        </p:nvCxnSpPr>
        <p:spPr>
          <a:xfrm flipV="1">
            <a:off x="2936461" y="2470553"/>
            <a:ext cx="20794" cy="20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8208D4DD-CEDC-3C56-1624-0003B3DF24F0}"/>
              </a:ext>
            </a:extLst>
          </p:cNvPr>
          <p:cNvSpPr/>
          <p:nvPr/>
        </p:nvSpPr>
        <p:spPr>
          <a:xfrm>
            <a:off x="3541605" y="4589977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企業情報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（ﾕｰソナー）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239F4699-D70E-BDEC-3AED-D087EDA29475}"/>
              </a:ext>
            </a:extLst>
          </p:cNvPr>
          <p:cNvSpPr/>
          <p:nvPr/>
        </p:nvSpPr>
        <p:spPr>
          <a:xfrm>
            <a:off x="2138862" y="5531442"/>
            <a:ext cx="103746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規程文書版管理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9AC7689C-80D7-F70F-9BBF-E8F87A27589D}"/>
              </a:ext>
            </a:extLst>
          </p:cNvPr>
          <p:cNvSpPr/>
          <p:nvPr/>
        </p:nvSpPr>
        <p:spPr>
          <a:xfrm>
            <a:off x="2151998" y="5172689"/>
            <a:ext cx="1024326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dirty="0">
                <a:solidFill>
                  <a:sysClr val="windowText" lastClr="000000"/>
                </a:solidFill>
              </a:rPr>
              <a:t>端末制御</a:t>
            </a:r>
            <a:endParaRPr lang="en-US" altLang="ja-JP" sz="1000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9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NetSkateKOBAN</a:t>
            </a:r>
            <a:r>
              <a:rPr lang="ja-JP" altLang="en-US" sz="9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86B7C6B-01E5-A41A-09CD-1173D6B3A86D}"/>
              </a:ext>
            </a:extLst>
          </p:cNvPr>
          <p:cNvSpPr/>
          <p:nvPr/>
        </p:nvSpPr>
        <p:spPr>
          <a:xfrm>
            <a:off x="6359996" y="1038022"/>
            <a:ext cx="1321200" cy="53063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検査業務システム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（環境分析）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4B83F0F0-2AEF-D0BA-5AA4-15169D7607DE}"/>
              </a:ext>
            </a:extLst>
          </p:cNvPr>
          <p:cNvSpPr/>
          <p:nvPr/>
        </p:nvSpPr>
        <p:spPr>
          <a:xfrm>
            <a:off x="6359996" y="1891265"/>
            <a:ext cx="1321200" cy="49194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検査業務システム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（微生物分析）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5F3DD861-6065-9015-DDFB-57CB744C38C9}"/>
              </a:ext>
            </a:extLst>
          </p:cNvPr>
          <p:cNvSpPr/>
          <p:nvPr/>
        </p:nvSpPr>
        <p:spPr>
          <a:xfrm>
            <a:off x="6348437" y="2502524"/>
            <a:ext cx="1321200" cy="49194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検査業務システム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（科学分析）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A9093D7B-A105-EB7E-8DB5-0F1B824E53AC}"/>
              </a:ext>
            </a:extLst>
          </p:cNvPr>
          <p:cNvSpPr/>
          <p:nvPr/>
        </p:nvSpPr>
        <p:spPr>
          <a:xfrm>
            <a:off x="-4822" y="5514271"/>
            <a:ext cx="925037" cy="1335249"/>
          </a:xfrm>
          <a:prstGeom prst="rect">
            <a:avLst/>
          </a:prstGeom>
          <a:pattFill prst="pct2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非システム</a:t>
            </a:r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0B503F4E-0A2D-D7A7-E4A5-7FDE41FC660E}"/>
              </a:ext>
            </a:extLst>
          </p:cNvPr>
          <p:cNvSpPr/>
          <p:nvPr/>
        </p:nvSpPr>
        <p:spPr>
          <a:xfrm>
            <a:off x="4450187" y="4837373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見積・</a:t>
            </a:r>
            <a:r>
              <a:rPr lang="en-US" altLang="ja-JP" sz="1100" dirty="0">
                <a:solidFill>
                  <a:schemeClr val="tx1"/>
                </a:solidFill>
              </a:rPr>
              <a:t>SR</a:t>
            </a:r>
            <a:endParaRPr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99249B7-7C6D-538D-0F51-5B930145064A}"/>
              </a:ext>
            </a:extLst>
          </p:cNvPr>
          <p:cNvSpPr/>
          <p:nvPr/>
        </p:nvSpPr>
        <p:spPr>
          <a:xfrm>
            <a:off x="1907349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契約</a:t>
            </a: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509ABF9E-F131-EE22-8A58-B4CB2DF9FC11}"/>
              </a:ext>
            </a:extLst>
          </p:cNvPr>
          <p:cNvSpPr/>
          <p:nvPr/>
        </p:nvSpPr>
        <p:spPr>
          <a:xfrm>
            <a:off x="2657593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受注</a:t>
            </a: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844E5BD3-72C6-2298-3CC8-400784535A8C}"/>
              </a:ext>
            </a:extLst>
          </p:cNvPr>
          <p:cNvSpPr/>
          <p:nvPr/>
        </p:nvSpPr>
        <p:spPr>
          <a:xfrm>
            <a:off x="1907349" y="38134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売上</a:t>
            </a: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316449B9-139F-CA0E-C0EC-6021BF83177D}"/>
              </a:ext>
            </a:extLst>
          </p:cNvPr>
          <p:cNvSpPr/>
          <p:nvPr/>
        </p:nvSpPr>
        <p:spPr>
          <a:xfrm>
            <a:off x="2657593" y="38134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仕入</a:t>
            </a: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4514B4B7-6386-8879-B7ED-547306FB8551}"/>
              </a:ext>
            </a:extLst>
          </p:cNvPr>
          <p:cNvSpPr/>
          <p:nvPr/>
        </p:nvSpPr>
        <p:spPr>
          <a:xfrm>
            <a:off x="3407837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発注</a:t>
            </a: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B477D596-EF48-9764-1D91-1BA8D00BF1FD}"/>
              </a:ext>
            </a:extLst>
          </p:cNvPr>
          <p:cNvSpPr/>
          <p:nvPr/>
        </p:nvSpPr>
        <p:spPr>
          <a:xfrm>
            <a:off x="1907349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出荷</a:t>
            </a: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BC2C0DFC-6266-4160-B4F9-CC9EFB72DFF5}"/>
              </a:ext>
            </a:extLst>
          </p:cNvPr>
          <p:cNvSpPr/>
          <p:nvPr/>
        </p:nvSpPr>
        <p:spPr>
          <a:xfrm>
            <a:off x="2657593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入荷</a:t>
            </a:r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4949B67C-75A7-AEC3-7F15-1D88F65EFB8F}"/>
              </a:ext>
            </a:extLst>
          </p:cNvPr>
          <p:cNvSpPr/>
          <p:nvPr/>
        </p:nvSpPr>
        <p:spPr>
          <a:xfrm>
            <a:off x="3407837" y="38134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請求</a:t>
            </a:r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9FF9037D-C078-185B-FCD7-A080358C1777}"/>
              </a:ext>
            </a:extLst>
          </p:cNvPr>
          <p:cNvSpPr/>
          <p:nvPr/>
        </p:nvSpPr>
        <p:spPr>
          <a:xfrm>
            <a:off x="4910668" y="347234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売掛</a:t>
            </a:r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EB95D8F3-16C2-4318-5803-1114011AA676}"/>
              </a:ext>
            </a:extLst>
          </p:cNvPr>
          <p:cNvSpPr/>
          <p:nvPr/>
        </p:nvSpPr>
        <p:spPr>
          <a:xfrm>
            <a:off x="4158081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作業指示</a:t>
            </a:r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9D860417-46A9-1F1E-AE8E-297C7F8EF686}"/>
              </a:ext>
            </a:extLst>
          </p:cNvPr>
          <p:cNvSpPr/>
          <p:nvPr/>
        </p:nvSpPr>
        <p:spPr>
          <a:xfrm>
            <a:off x="4908325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作業実績</a:t>
            </a:r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37CD78B7-C3BB-77A5-28D3-F6242639A685}"/>
              </a:ext>
            </a:extLst>
          </p:cNvPr>
          <p:cNvSpPr/>
          <p:nvPr/>
        </p:nvSpPr>
        <p:spPr>
          <a:xfrm>
            <a:off x="3407837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在庫</a:t>
            </a: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FD0A94B2-5F6A-D2F2-A4CB-0BA1F95BBE54}"/>
              </a:ext>
            </a:extLst>
          </p:cNvPr>
          <p:cNvSpPr/>
          <p:nvPr/>
        </p:nvSpPr>
        <p:spPr>
          <a:xfrm>
            <a:off x="4158081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棚卸</a:t>
            </a:r>
          </a:p>
        </p:txBody>
      </p:sp>
      <p:sp>
        <p:nvSpPr>
          <p:cNvPr id="306" name="テキスト ボックス 305">
            <a:extLst>
              <a:ext uri="{FF2B5EF4-FFF2-40B4-BE49-F238E27FC236}">
                <a16:creationId xmlns:a16="http://schemas.microsoft.com/office/drawing/2014/main" id="{3D717978-DFA5-17A3-4AE6-C9BB09B73F69}"/>
              </a:ext>
            </a:extLst>
          </p:cNvPr>
          <p:cNvSpPr txBox="1"/>
          <p:nvPr/>
        </p:nvSpPr>
        <p:spPr>
          <a:xfrm>
            <a:off x="3894405" y="1227607"/>
            <a:ext cx="6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勤怠</a:t>
            </a:r>
            <a:endParaRPr kumimoji="1" lang="en-US" altLang="ja-JP" sz="900" dirty="0"/>
          </a:p>
          <a:p>
            <a:pPr algn="ctr"/>
            <a:r>
              <a:rPr kumimoji="1" lang="ja-JP" altLang="en-US" sz="900" dirty="0"/>
              <a:t>情報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881246B9-06A6-564F-93EB-11E03E029EA0}"/>
              </a:ext>
            </a:extLst>
          </p:cNvPr>
          <p:cNvSpPr txBox="1"/>
          <p:nvPr/>
        </p:nvSpPr>
        <p:spPr>
          <a:xfrm>
            <a:off x="2815388" y="2517666"/>
            <a:ext cx="10827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ｼｽﾃﾑ処理情報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F04F0B-7E6F-0B0F-4C72-532EDEA5B989}"/>
              </a:ext>
            </a:extLst>
          </p:cNvPr>
          <p:cNvSpPr/>
          <p:nvPr/>
        </p:nvSpPr>
        <p:spPr>
          <a:xfrm>
            <a:off x="7979314" y="1041200"/>
            <a:ext cx="1584000" cy="122695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>
            <a:normAutofit/>
          </a:bodyPr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トラップ工程管理ｼｽﾃﾑ</a:t>
            </a: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222808FF-6EB4-68D4-41E5-21C66353FB4D}"/>
              </a:ext>
            </a:extLst>
          </p:cNvPr>
          <p:cNvSpPr/>
          <p:nvPr/>
        </p:nvSpPr>
        <p:spPr>
          <a:xfrm>
            <a:off x="8022229" y="1280655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検査依頼</a:t>
            </a: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3CA59ABD-6B28-079A-B8EC-9E8E14B697A4}"/>
              </a:ext>
            </a:extLst>
          </p:cNvPr>
          <p:cNvSpPr/>
          <p:nvPr/>
        </p:nvSpPr>
        <p:spPr>
          <a:xfrm>
            <a:off x="8783000" y="1280655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工程管理</a:t>
            </a:r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A40DE5C4-13C3-8C42-6ABE-6D2ACE24FA16}"/>
              </a:ext>
            </a:extLst>
          </p:cNvPr>
          <p:cNvSpPr/>
          <p:nvPr/>
        </p:nvSpPr>
        <p:spPr>
          <a:xfrm>
            <a:off x="8022229" y="1614692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顧客情報</a:t>
            </a:r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80E82A8D-9F29-A74A-DF73-270EF02B3CD3}"/>
              </a:ext>
            </a:extLst>
          </p:cNvPr>
          <p:cNvSpPr/>
          <p:nvPr/>
        </p:nvSpPr>
        <p:spPr>
          <a:xfrm>
            <a:off x="8783000" y="1614692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報告書</a:t>
            </a: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BF2EF2DD-2FD9-9404-06BD-48BA506CB287}"/>
              </a:ext>
            </a:extLst>
          </p:cNvPr>
          <p:cNvSpPr/>
          <p:nvPr/>
        </p:nvSpPr>
        <p:spPr>
          <a:xfrm>
            <a:off x="8022229" y="1943314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経費調整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FE72A708-776E-7379-D30C-9ADCE707C21F}"/>
              </a:ext>
            </a:extLst>
          </p:cNvPr>
          <p:cNvSpPr/>
          <p:nvPr/>
        </p:nvSpPr>
        <p:spPr>
          <a:xfrm>
            <a:off x="4452554" y="5133603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/>
          <a:lstStyle/>
          <a:p>
            <a:pPr algn="ctr">
              <a:lnSpc>
                <a:spcPts val="1000"/>
              </a:lnSpc>
            </a:pPr>
            <a:r>
              <a:rPr lang="ja-JP" altLang="en-US" sz="900" dirty="0">
                <a:solidFill>
                  <a:schemeClr val="tx1"/>
                </a:solidFill>
              </a:rPr>
              <a:t>営業情報</a:t>
            </a:r>
            <a:endParaRPr lang="en-US" altLang="ja-JP" sz="900" dirty="0">
              <a:solidFill>
                <a:schemeClr val="tx1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900" dirty="0">
                <a:solidFill>
                  <a:schemeClr val="tx1"/>
                </a:solidFill>
              </a:rPr>
              <a:t>管理</a:t>
            </a: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06C39DCE-DECB-25FC-AB5D-BEFF4A45FF38}"/>
              </a:ext>
            </a:extLst>
          </p:cNvPr>
          <p:cNvSpPr/>
          <p:nvPr/>
        </p:nvSpPr>
        <p:spPr>
          <a:xfrm>
            <a:off x="133626" y="581306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200" dirty="0">
                <a:solidFill>
                  <a:schemeClr val="tx1"/>
                </a:solidFill>
              </a:rPr>
              <a:t>日報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58FF9D3-9E73-0129-0EB6-C98A3BED63BD}"/>
              </a:ext>
            </a:extLst>
          </p:cNvPr>
          <p:cNvSpPr/>
          <p:nvPr/>
        </p:nvSpPr>
        <p:spPr>
          <a:xfrm>
            <a:off x="7978401" y="4204135"/>
            <a:ext cx="1584000" cy="120184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異物検査システム</a:t>
            </a: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9D36729C-BFD1-9BE8-B2E8-10FC14A21328}"/>
              </a:ext>
            </a:extLst>
          </p:cNvPr>
          <p:cNvSpPr/>
          <p:nvPr/>
        </p:nvSpPr>
        <p:spPr>
          <a:xfrm>
            <a:off x="8037613" y="4788110"/>
            <a:ext cx="686167" cy="2488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顧客情報</a:t>
            </a: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5AEDC44A-2A2C-D909-B4FB-4451FE186D42}"/>
              </a:ext>
            </a:extLst>
          </p:cNvPr>
          <p:cNvSpPr/>
          <p:nvPr/>
        </p:nvSpPr>
        <p:spPr>
          <a:xfrm>
            <a:off x="8798384" y="4454073"/>
            <a:ext cx="686167" cy="2488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工程管理</a:t>
            </a: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263BB106-804D-5444-9AC0-D69DF03D482B}"/>
              </a:ext>
            </a:extLst>
          </p:cNvPr>
          <p:cNvSpPr/>
          <p:nvPr/>
        </p:nvSpPr>
        <p:spPr>
          <a:xfrm>
            <a:off x="8037613" y="5122147"/>
            <a:ext cx="686167" cy="2488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経費調整</a:t>
            </a: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721EC097-56E3-BE00-D5FA-9FA71DB8F210}"/>
              </a:ext>
            </a:extLst>
          </p:cNvPr>
          <p:cNvSpPr/>
          <p:nvPr/>
        </p:nvSpPr>
        <p:spPr>
          <a:xfrm>
            <a:off x="8798384" y="4788110"/>
            <a:ext cx="686167" cy="2488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報告書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3063939-672C-66F2-7045-2E47F6049C92}"/>
              </a:ext>
            </a:extLst>
          </p:cNvPr>
          <p:cNvSpPr txBox="1"/>
          <p:nvPr/>
        </p:nvSpPr>
        <p:spPr>
          <a:xfrm>
            <a:off x="5105207" y="5004477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solidFill>
                  <a:srgbClr val="3C15FF"/>
                </a:solidFill>
              </a:rPr>
              <a:t>共通</a:t>
            </a:r>
            <a:r>
              <a:rPr lang="ja-JP" altLang="en-US" sz="1200" b="1" dirty="0">
                <a:solidFill>
                  <a:srgbClr val="3C15FF"/>
                </a:solidFill>
              </a:rPr>
              <a:t>ﾌﾟﾗｯﾄﾌｫｰﾑ</a:t>
            </a:r>
            <a:endParaRPr kumimoji="1" lang="en-US" altLang="ja-JP" sz="1200" b="1" dirty="0">
              <a:solidFill>
                <a:srgbClr val="3C15FF"/>
              </a:solidFill>
            </a:endParaRPr>
          </a:p>
          <a:p>
            <a:r>
              <a:rPr lang="ja-JP" altLang="en-US" sz="1200" b="1" dirty="0">
                <a:solidFill>
                  <a:srgbClr val="3C15FF"/>
                </a:solidFill>
              </a:rPr>
              <a:t>（</a:t>
            </a:r>
            <a:r>
              <a:rPr kumimoji="1" lang="en-US" altLang="ja-JP" sz="1200" b="1" dirty="0" err="1">
                <a:solidFill>
                  <a:srgbClr val="3C15FF"/>
                </a:solidFill>
              </a:rPr>
              <a:t>Kintone</a:t>
            </a:r>
            <a:r>
              <a:rPr kumimoji="1" lang="ja-JP" altLang="en-US" sz="1200" b="1" dirty="0">
                <a:solidFill>
                  <a:srgbClr val="3C15FF"/>
                </a:solidFill>
              </a:rPr>
              <a:t>）</a:t>
            </a:r>
          </a:p>
        </p:txBody>
      </p:sp>
      <p:cxnSp>
        <p:nvCxnSpPr>
          <p:cNvPr id="28" name="カギ線コネクタ 27">
            <a:extLst>
              <a:ext uri="{FF2B5EF4-FFF2-40B4-BE49-F238E27FC236}">
                <a16:creationId xmlns:a16="http://schemas.microsoft.com/office/drawing/2014/main" id="{E9117404-A20D-F1A1-BB37-E19F34DCF5D7}"/>
              </a:ext>
            </a:extLst>
          </p:cNvPr>
          <p:cNvCxnSpPr>
            <a:cxnSpLocks/>
            <a:stCxn id="11" idx="3"/>
            <a:endCxn id="9" idx="3"/>
          </p:cNvCxnSpPr>
          <p:nvPr/>
        </p:nvCxnSpPr>
        <p:spPr>
          <a:xfrm>
            <a:off x="9563314" y="1654679"/>
            <a:ext cx="12700" cy="1318534"/>
          </a:xfrm>
          <a:prstGeom prst="bentConnector3">
            <a:avLst>
              <a:gd name="adj1" fmla="val 14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カギ線コネクタ 112">
            <a:extLst>
              <a:ext uri="{FF2B5EF4-FFF2-40B4-BE49-F238E27FC236}">
                <a16:creationId xmlns:a16="http://schemas.microsoft.com/office/drawing/2014/main" id="{44933FDE-C9A6-22A7-DB2F-9504FCDC7FC9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7681196" y="1303339"/>
            <a:ext cx="301254" cy="21868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カギ線コネクタ 113">
            <a:extLst>
              <a:ext uri="{FF2B5EF4-FFF2-40B4-BE49-F238E27FC236}">
                <a16:creationId xmlns:a16="http://schemas.microsoft.com/office/drawing/2014/main" id="{B3576B95-1CCD-575B-693A-C48E1CF7E7E4}"/>
              </a:ext>
            </a:extLst>
          </p:cNvPr>
          <p:cNvCxnSpPr>
            <a:cxnSpLocks/>
            <a:stCxn id="197" idx="3"/>
            <a:endCxn id="10" idx="1"/>
          </p:cNvCxnSpPr>
          <p:nvPr/>
        </p:nvCxnSpPr>
        <p:spPr>
          <a:xfrm>
            <a:off x="7681196" y="2137240"/>
            <a:ext cx="301254" cy="13529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カギ線コネクタ 114">
            <a:extLst>
              <a:ext uri="{FF2B5EF4-FFF2-40B4-BE49-F238E27FC236}">
                <a16:creationId xmlns:a16="http://schemas.microsoft.com/office/drawing/2014/main" id="{14A979C9-3EB1-4317-A89B-323CB3E43E5B}"/>
              </a:ext>
            </a:extLst>
          </p:cNvPr>
          <p:cNvCxnSpPr>
            <a:cxnSpLocks/>
            <a:stCxn id="199" idx="3"/>
            <a:endCxn id="10" idx="1"/>
          </p:cNvCxnSpPr>
          <p:nvPr/>
        </p:nvCxnSpPr>
        <p:spPr>
          <a:xfrm>
            <a:off x="7669637" y="2748499"/>
            <a:ext cx="312813" cy="7417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線矢印コネクタ 312">
            <a:extLst>
              <a:ext uri="{FF2B5EF4-FFF2-40B4-BE49-F238E27FC236}">
                <a16:creationId xmlns:a16="http://schemas.microsoft.com/office/drawing/2014/main" id="{B2D2B134-7CA1-0CB5-BAC9-AF91A25AFEE4}"/>
              </a:ext>
            </a:extLst>
          </p:cNvPr>
          <p:cNvCxnSpPr/>
          <p:nvPr/>
        </p:nvCxnSpPr>
        <p:spPr>
          <a:xfrm flipV="1">
            <a:off x="2489284" y="4163533"/>
            <a:ext cx="0" cy="21600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6" name="グループ化 315">
            <a:extLst>
              <a:ext uri="{FF2B5EF4-FFF2-40B4-BE49-F238E27FC236}">
                <a16:creationId xmlns:a16="http://schemas.microsoft.com/office/drawing/2014/main" id="{F5D2CA47-3189-3D27-AEED-DD56DC20AC8F}"/>
              </a:ext>
            </a:extLst>
          </p:cNvPr>
          <p:cNvGrpSpPr>
            <a:grpSpLocks noChangeAspect="1"/>
          </p:cNvGrpSpPr>
          <p:nvPr/>
        </p:nvGrpSpPr>
        <p:grpSpPr>
          <a:xfrm>
            <a:off x="2345540" y="4313998"/>
            <a:ext cx="239944" cy="239944"/>
            <a:chOff x="10029564" y="1401123"/>
            <a:chExt cx="322932" cy="322932"/>
          </a:xfrm>
        </p:grpSpPr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5F92E364-D1C8-80CE-E166-08246112CB89}"/>
                </a:ext>
              </a:extLst>
            </p:cNvPr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18" name="Group 9">
              <a:extLst>
                <a:ext uri="{FF2B5EF4-FFF2-40B4-BE49-F238E27FC236}">
                  <a16:creationId xmlns:a16="http://schemas.microsoft.com/office/drawing/2014/main" id="{79AF56E1-8018-4195-5BFE-B0DB11020F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19" name="Freeform 10">
                <a:extLst>
                  <a:ext uri="{FF2B5EF4-FFF2-40B4-BE49-F238E27FC236}">
                    <a16:creationId xmlns:a16="http://schemas.microsoft.com/office/drawing/2014/main" id="{4281F7FF-6658-F581-2A30-8CD437652E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0" name="Freeform 11">
                <a:extLst>
                  <a:ext uri="{FF2B5EF4-FFF2-40B4-BE49-F238E27FC236}">
                    <a16:creationId xmlns:a16="http://schemas.microsoft.com/office/drawing/2014/main" id="{C83FEDBC-A28A-0864-123D-B0B47EF0D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1" name="Rectangle 12">
                <a:extLst>
                  <a:ext uri="{FF2B5EF4-FFF2-40B4-BE49-F238E27FC236}">
                    <a16:creationId xmlns:a16="http://schemas.microsoft.com/office/drawing/2014/main" id="{DF448544-6C54-8F1B-86D0-761C2839C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2" name="Rectangle 13">
                <a:extLst>
                  <a:ext uri="{FF2B5EF4-FFF2-40B4-BE49-F238E27FC236}">
                    <a16:creationId xmlns:a16="http://schemas.microsoft.com/office/drawing/2014/main" id="{EB5F3EA2-CEAB-7826-0CE6-E8ACF333F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4" name="Rectangle 14">
                <a:extLst>
                  <a:ext uri="{FF2B5EF4-FFF2-40B4-BE49-F238E27FC236}">
                    <a16:creationId xmlns:a16="http://schemas.microsoft.com/office/drawing/2014/main" id="{AB3424BF-FCBE-EDAE-3564-F9C5A8DA1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5" name="Rectangle 15">
                <a:extLst>
                  <a:ext uri="{FF2B5EF4-FFF2-40B4-BE49-F238E27FC236}">
                    <a16:creationId xmlns:a16="http://schemas.microsoft.com/office/drawing/2014/main" id="{A75C354E-4FD5-A902-307D-2121EC51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6" name="Rectangle 16">
                <a:extLst>
                  <a:ext uri="{FF2B5EF4-FFF2-40B4-BE49-F238E27FC236}">
                    <a16:creationId xmlns:a16="http://schemas.microsoft.com/office/drawing/2014/main" id="{BDC70D62-C787-7358-7969-96112DA35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178" name="直線矢印コネクタ 177">
            <a:extLst>
              <a:ext uri="{FF2B5EF4-FFF2-40B4-BE49-F238E27FC236}">
                <a16:creationId xmlns:a16="http://schemas.microsoft.com/office/drawing/2014/main" id="{9EB0F25B-654B-1A8F-FB77-D698E62ED6A2}"/>
              </a:ext>
            </a:extLst>
          </p:cNvPr>
          <p:cNvCxnSpPr/>
          <p:nvPr/>
        </p:nvCxnSpPr>
        <p:spPr>
          <a:xfrm flipV="1">
            <a:off x="6132437" y="1294440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9" name="グループ化 178">
            <a:extLst>
              <a:ext uri="{FF2B5EF4-FFF2-40B4-BE49-F238E27FC236}">
                <a16:creationId xmlns:a16="http://schemas.microsoft.com/office/drawing/2014/main" id="{8DA7034E-78E1-FFEE-0381-26E67E243931}"/>
              </a:ext>
            </a:extLst>
          </p:cNvPr>
          <p:cNvGrpSpPr>
            <a:grpSpLocks noChangeAspect="1"/>
          </p:cNvGrpSpPr>
          <p:nvPr/>
        </p:nvGrpSpPr>
        <p:grpSpPr>
          <a:xfrm>
            <a:off x="5934361" y="1168201"/>
            <a:ext cx="239944" cy="239944"/>
            <a:chOff x="10029564" y="1401123"/>
            <a:chExt cx="322932" cy="322932"/>
          </a:xfrm>
        </p:grpSpPr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38A6C34C-02DE-0A87-BED8-D6044D37DD25}"/>
                </a:ext>
              </a:extLst>
            </p:cNvPr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2" name="Group 9">
              <a:extLst>
                <a:ext uri="{FF2B5EF4-FFF2-40B4-BE49-F238E27FC236}">
                  <a16:creationId xmlns:a16="http://schemas.microsoft.com/office/drawing/2014/main" id="{DB69FF98-5900-C083-819E-A7068DCDF4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183" name="Freeform 10">
                <a:extLst>
                  <a:ext uri="{FF2B5EF4-FFF2-40B4-BE49-F238E27FC236}">
                    <a16:creationId xmlns:a16="http://schemas.microsoft.com/office/drawing/2014/main" id="{6B504B2F-B1E2-040E-5773-892F102ACB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84" name="Freeform 11">
                <a:extLst>
                  <a:ext uri="{FF2B5EF4-FFF2-40B4-BE49-F238E27FC236}">
                    <a16:creationId xmlns:a16="http://schemas.microsoft.com/office/drawing/2014/main" id="{3AA06485-4C6C-6AF8-47EF-FE78F4333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86" name="Rectangle 12">
                <a:extLst>
                  <a:ext uri="{FF2B5EF4-FFF2-40B4-BE49-F238E27FC236}">
                    <a16:creationId xmlns:a16="http://schemas.microsoft.com/office/drawing/2014/main" id="{A04BC6B5-B4AB-998D-B1E3-B776332C4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4" name="Rectangle 13">
                <a:extLst>
                  <a:ext uri="{FF2B5EF4-FFF2-40B4-BE49-F238E27FC236}">
                    <a16:creationId xmlns:a16="http://schemas.microsoft.com/office/drawing/2014/main" id="{E0CC24F7-630C-338C-C90D-006542810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5" name="Rectangle 14">
                <a:extLst>
                  <a:ext uri="{FF2B5EF4-FFF2-40B4-BE49-F238E27FC236}">
                    <a16:creationId xmlns:a16="http://schemas.microsoft.com/office/drawing/2014/main" id="{AE8F6911-1B05-2352-61B0-1D0E9C0EA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6" name="Rectangle 15">
                <a:extLst>
                  <a:ext uri="{FF2B5EF4-FFF2-40B4-BE49-F238E27FC236}">
                    <a16:creationId xmlns:a16="http://schemas.microsoft.com/office/drawing/2014/main" id="{7880214C-FED2-87EF-D698-102DD1F6B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7" name="Rectangle 16">
                <a:extLst>
                  <a:ext uri="{FF2B5EF4-FFF2-40B4-BE49-F238E27FC236}">
                    <a16:creationId xmlns:a16="http://schemas.microsoft.com/office/drawing/2014/main" id="{24F7001E-D41E-5681-76D1-9F9EA39A8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grpSp>
        <p:nvGrpSpPr>
          <p:cNvPr id="228" name="グループ化 227">
            <a:extLst>
              <a:ext uri="{FF2B5EF4-FFF2-40B4-BE49-F238E27FC236}">
                <a16:creationId xmlns:a16="http://schemas.microsoft.com/office/drawing/2014/main" id="{38DCDD52-2F8C-C90D-59F2-C0343BF52A23}"/>
              </a:ext>
            </a:extLst>
          </p:cNvPr>
          <p:cNvGrpSpPr>
            <a:grpSpLocks noChangeAspect="1"/>
          </p:cNvGrpSpPr>
          <p:nvPr/>
        </p:nvGrpSpPr>
        <p:grpSpPr>
          <a:xfrm>
            <a:off x="5931260" y="1451795"/>
            <a:ext cx="239944" cy="239944"/>
            <a:chOff x="10029564" y="1401123"/>
            <a:chExt cx="322932" cy="322932"/>
          </a:xfrm>
        </p:grpSpPr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F98340E2-8FCC-C64E-D9AE-191A593F70E6}"/>
                </a:ext>
              </a:extLst>
            </p:cNvPr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0" name="Group 9">
              <a:extLst>
                <a:ext uri="{FF2B5EF4-FFF2-40B4-BE49-F238E27FC236}">
                  <a16:creationId xmlns:a16="http://schemas.microsoft.com/office/drawing/2014/main" id="{9942B116-6B49-C29D-19F2-4B8C9B9EEE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231" name="Freeform 10">
                <a:extLst>
                  <a:ext uri="{FF2B5EF4-FFF2-40B4-BE49-F238E27FC236}">
                    <a16:creationId xmlns:a16="http://schemas.microsoft.com/office/drawing/2014/main" id="{EB5B6F7A-243E-D1AE-666E-02F4FFA6C7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5" name="Freeform 11">
                <a:extLst>
                  <a:ext uri="{FF2B5EF4-FFF2-40B4-BE49-F238E27FC236}">
                    <a16:creationId xmlns:a16="http://schemas.microsoft.com/office/drawing/2014/main" id="{5F1B6948-B125-0D63-4845-2759AFE6CA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6" name="Rectangle 12">
                <a:extLst>
                  <a:ext uri="{FF2B5EF4-FFF2-40B4-BE49-F238E27FC236}">
                    <a16:creationId xmlns:a16="http://schemas.microsoft.com/office/drawing/2014/main" id="{C86C42CB-0800-F28C-D48A-FF29FC657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7" name="Rectangle 13">
                <a:extLst>
                  <a:ext uri="{FF2B5EF4-FFF2-40B4-BE49-F238E27FC236}">
                    <a16:creationId xmlns:a16="http://schemas.microsoft.com/office/drawing/2014/main" id="{5B343517-E9F0-7ED6-D5D9-71A91D32A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8" name="Rectangle 14">
                <a:extLst>
                  <a:ext uri="{FF2B5EF4-FFF2-40B4-BE49-F238E27FC236}">
                    <a16:creationId xmlns:a16="http://schemas.microsoft.com/office/drawing/2014/main" id="{C8992FE8-9BE4-54D3-5354-A5DB1D257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9" name="Rectangle 15">
                <a:extLst>
                  <a:ext uri="{FF2B5EF4-FFF2-40B4-BE49-F238E27FC236}">
                    <a16:creationId xmlns:a16="http://schemas.microsoft.com/office/drawing/2014/main" id="{E1CBAB70-C80C-CBCF-0B4B-C8210D8CC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0" name="Rectangle 16">
                <a:extLst>
                  <a:ext uri="{FF2B5EF4-FFF2-40B4-BE49-F238E27FC236}">
                    <a16:creationId xmlns:a16="http://schemas.microsoft.com/office/drawing/2014/main" id="{FF247E40-9C34-453E-AC4D-4BA5420BD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241" name="直線矢印コネクタ 240">
            <a:extLst>
              <a:ext uri="{FF2B5EF4-FFF2-40B4-BE49-F238E27FC236}">
                <a16:creationId xmlns:a16="http://schemas.microsoft.com/office/drawing/2014/main" id="{F1EE040D-3FCA-EDB3-6695-76506F9B011F}"/>
              </a:ext>
            </a:extLst>
          </p:cNvPr>
          <p:cNvCxnSpPr/>
          <p:nvPr/>
        </p:nvCxnSpPr>
        <p:spPr>
          <a:xfrm flipV="1">
            <a:off x="6132437" y="1568862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" name="直線矢印コネクタ 368">
            <a:extLst>
              <a:ext uri="{FF2B5EF4-FFF2-40B4-BE49-F238E27FC236}">
                <a16:creationId xmlns:a16="http://schemas.microsoft.com/office/drawing/2014/main" id="{20BA29EF-2E47-F153-3E68-B4DDEC5B7A2F}"/>
              </a:ext>
            </a:extLst>
          </p:cNvPr>
          <p:cNvCxnSpPr/>
          <p:nvPr/>
        </p:nvCxnSpPr>
        <p:spPr>
          <a:xfrm flipV="1">
            <a:off x="6132437" y="1996410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0" name="グループ化 369">
            <a:extLst>
              <a:ext uri="{FF2B5EF4-FFF2-40B4-BE49-F238E27FC236}">
                <a16:creationId xmlns:a16="http://schemas.microsoft.com/office/drawing/2014/main" id="{911C6094-5176-B1A8-BD2D-E10C49E91714}"/>
              </a:ext>
            </a:extLst>
          </p:cNvPr>
          <p:cNvGrpSpPr>
            <a:grpSpLocks noChangeAspect="1"/>
          </p:cNvGrpSpPr>
          <p:nvPr/>
        </p:nvGrpSpPr>
        <p:grpSpPr>
          <a:xfrm>
            <a:off x="5934361" y="1870171"/>
            <a:ext cx="239944" cy="239944"/>
            <a:chOff x="10029564" y="1401123"/>
            <a:chExt cx="322932" cy="322932"/>
          </a:xfrm>
        </p:grpSpPr>
        <p:sp>
          <p:nvSpPr>
            <p:cNvPr id="371" name="正方形/長方形 370">
              <a:extLst>
                <a:ext uri="{FF2B5EF4-FFF2-40B4-BE49-F238E27FC236}">
                  <a16:creationId xmlns:a16="http://schemas.microsoft.com/office/drawing/2014/main" id="{12E75D2A-8570-A49E-7A23-929A43E9CAAA}"/>
                </a:ext>
              </a:extLst>
            </p:cNvPr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72" name="Group 9">
              <a:extLst>
                <a:ext uri="{FF2B5EF4-FFF2-40B4-BE49-F238E27FC236}">
                  <a16:creationId xmlns:a16="http://schemas.microsoft.com/office/drawing/2014/main" id="{B9C2E6E8-CD79-ED03-F302-D29DCF2FF3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73" name="Freeform 10">
                <a:extLst>
                  <a:ext uri="{FF2B5EF4-FFF2-40B4-BE49-F238E27FC236}">
                    <a16:creationId xmlns:a16="http://schemas.microsoft.com/office/drawing/2014/main" id="{4A49DB09-F344-624F-B756-044ECF7DB7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4" name="Freeform 11">
                <a:extLst>
                  <a:ext uri="{FF2B5EF4-FFF2-40B4-BE49-F238E27FC236}">
                    <a16:creationId xmlns:a16="http://schemas.microsoft.com/office/drawing/2014/main" id="{7D8210E1-B0C7-2C6A-17A2-BD888C6D7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5" name="Rectangle 12">
                <a:extLst>
                  <a:ext uri="{FF2B5EF4-FFF2-40B4-BE49-F238E27FC236}">
                    <a16:creationId xmlns:a16="http://schemas.microsoft.com/office/drawing/2014/main" id="{43E48CA3-F8B0-0E5A-3FF3-92756255C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6" name="Rectangle 13">
                <a:extLst>
                  <a:ext uri="{FF2B5EF4-FFF2-40B4-BE49-F238E27FC236}">
                    <a16:creationId xmlns:a16="http://schemas.microsoft.com/office/drawing/2014/main" id="{2D8DED3B-07C3-40AE-614D-E46F7C19E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7" name="Rectangle 14">
                <a:extLst>
                  <a:ext uri="{FF2B5EF4-FFF2-40B4-BE49-F238E27FC236}">
                    <a16:creationId xmlns:a16="http://schemas.microsoft.com/office/drawing/2014/main" id="{99AE60E9-8FA1-B20F-33CD-F4FD70245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8" name="Rectangle 15">
                <a:extLst>
                  <a:ext uri="{FF2B5EF4-FFF2-40B4-BE49-F238E27FC236}">
                    <a16:creationId xmlns:a16="http://schemas.microsoft.com/office/drawing/2014/main" id="{0019AB58-BFE3-BB2F-88FB-1933B7374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9" name="Rectangle 16">
                <a:extLst>
                  <a:ext uri="{FF2B5EF4-FFF2-40B4-BE49-F238E27FC236}">
                    <a16:creationId xmlns:a16="http://schemas.microsoft.com/office/drawing/2014/main" id="{BAED4954-6E5D-8163-8ECD-77B3CFF99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390" name="直線矢印コネクタ 389">
            <a:extLst>
              <a:ext uri="{FF2B5EF4-FFF2-40B4-BE49-F238E27FC236}">
                <a16:creationId xmlns:a16="http://schemas.microsoft.com/office/drawing/2014/main" id="{A50D5E3E-526D-5767-214E-2022C0AAABA0}"/>
              </a:ext>
            </a:extLst>
          </p:cNvPr>
          <p:cNvCxnSpPr/>
          <p:nvPr/>
        </p:nvCxnSpPr>
        <p:spPr>
          <a:xfrm flipV="1">
            <a:off x="6132437" y="2270832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テキスト ボックス 243">
            <a:extLst>
              <a:ext uri="{FF2B5EF4-FFF2-40B4-BE49-F238E27FC236}">
                <a16:creationId xmlns:a16="http://schemas.microsoft.com/office/drawing/2014/main" id="{2E1FDF47-74DC-0D93-41B8-861EE16222EA}"/>
              </a:ext>
            </a:extLst>
          </p:cNvPr>
          <p:cNvSpPr txBox="1"/>
          <p:nvPr/>
        </p:nvSpPr>
        <p:spPr>
          <a:xfrm>
            <a:off x="5679933" y="1178257"/>
            <a:ext cx="323165" cy="5900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900" dirty="0"/>
              <a:t>検査依頼</a:t>
            </a:r>
          </a:p>
        </p:txBody>
      </p:sp>
      <p:sp>
        <p:nvSpPr>
          <p:cNvPr id="245" name="テキスト ボックス 244">
            <a:extLst>
              <a:ext uri="{FF2B5EF4-FFF2-40B4-BE49-F238E27FC236}">
                <a16:creationId xmlns:a16="http://schemas.microsoft.com/office/drawing/2014/main" id="{4FF5C297-EF83-6DF5-A117-A0E9D6927CFC}"/>
              </a:ext>
            </a:extLst>
          </p:cNvPr>
          <p:cNvSpPr txBox="1"/>
          <p:nvPr/>
        </p:nvSpPr>
        <p:spPr>
          <a:xfrm>
            <a:off x="5679933" y="1880526"/>
            <a:ext cx="323165" cy="5900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900" dirty="0"/>
              <a:t>検査依頼</a:t>
            </a: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5F001A9B-2B86-6B75-42B0-72294FFB6E46}"/>
              </a:ext>
            </a:extLst>
          </p:cNvPr>
          <p:cNvSpPr/>
          <p:nvPr/>
        </p:nvSpPr>
        <p:spPr>
          <a:xfrm>
            <a:off x="31203" y="1880526"/>
            <a:ext cx="1116000" cy="49194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情報分析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 err="1">
                <a:solidFill>
                  <a:sysClr val="windowText" lastClr="000000"/>
                </a:solidFill>
              </a:rPr>
              <a:t>Actionista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!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898139A1-7AEB-9C2B-FABA-E534879C55EA}"/>
              </a:ext>
            </a:extLst>
          </p:cNvPr>
          <p:cNvSpPr/>
          <p:nvPr/>
        </p:nvSpPr>
        <p:spPr>
          <a:xfrm>
            <a:off x="104571" y="3064476"/>
            <a:ext cx="1116000" cy="47357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情報分析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Tableau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259" name="テキスト ボックス 258">
            <a:extLst>
              <a:ext uri="{FF2B5EF4-FFF2-40B4-BE49-F238E27FC236}">
                <a16:creationId xmlns:a16="http://schemas.microsoft.com/office/drawing/2014/main" id="{CD575142-DD51-9AA4-F186-366687C8C72D}"/>
              </a:ext>
            </a:extLst>
          </p:cNvPr>
          <p:cNvSpPr txBox="1"/>
          <p:nvPr/>
        </p:nvSpPr>
        <p:spPr>
          <a:xfrm>
            <a:off x="528545" y="2333011"/>
            <a:ext cx="110830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kumimoji="1" lang="ja-JP" altLang="en-US" sz="900" dirty="0"/>
              <a:t>契約、売上、</a:t>
            </a:r>
            <a:endParaRPr kumimoji="1" lang="en-US" altLang="ja-JP" sz="900" dirty="0"/>
          </a:p>
          <a:p>
            <a:pPr algn="ctr">
              <a:lnSpc>
                <a:spcPts val="900"/>
              </a:lnSpc>
            </a:pPr>
            <a:r>
              <a:rPr kumimoji="1" lang="ja-JP" altLang="en-US" sz="900" dirty="0"/>
              <a:t>変動費</a:t>
            </a:r>
            <a:r>
              <a:rPr lang="ja-JP" altLang="en-US" sz="900" dirty="0"/>
              <a:t>、</a:t>
            </a:r>
            <a:r>
              <a:rPr kumimoji="1" lang="ja-JP" altLang="en-US" sz="900" dirty="0"/>
              <a:t>固定費</a:t>
            </a:r>
            <a:endParaRPr lang="en-US" altLang="ja-JP" sz="900" dirty="0"/>
          </a:p>
          <a:p>
            <a:pPr algn="ctr">
              <a:lnSpc>
                <a:spcPts val="900"/>
              </a:lnSpc>
            </a:pPr>
            <a:r>
              <a:rPr kumimoji="1" lang="ja-JP" altLang="en-US" sz="900" dirty="0"/>
              <a:t>利益</a:t>
            </a:r>
          </a:p>
        </p:txBody>
      </p:sp>
      <p:cxnSp>
        <p:nvCxnSpPr>
          <p:cNvPr id="261" name="直線矢印コネクタ 260">
            <a:extLst>
              <a:ext uri="{FF2B5EF4-FFF2-40B4-BE49-F238E27FC236}">
                <a16:creationId xmlns:a16="http://schemas.microsoft.com/office/drawing/2014/main" id="{94F3A3CE-EFFA-8103-8723-FB2076A4A3BA}"/>
              </a:ext>
            </a:extLst>
          </p:cNvPr>
          <p:cNvCxnSpPr/>
          <p:nvPr/>
        </p:nvCxnSpPr>
        <p:spPr>
          <a:xfrm flipH="1">
            <a:off x="1220571" y="3301637"/>
            <a:ext cx="5475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65E4F2F3-784D-E5DD-1869-327AB4E997D5}"/>
              </a:ext>
            </a:extLst>
          </p:cNvPr>
          <p:cNvSpPr/>
          <p:nvPr/>
        </p:nvSpPr>
        <p:spPr>
          <a:xfrm>
            <a:off x="2445555" y="4209347"/>
            <a:ext cx="1057741" cy="394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900"/>
              </a:lnSpc>
            </a:pPr>
            <a:r>
              <a:rPr lang="ja-JP" altLang="en-US" sz="900" dirty="0">
                <a:solidFill>
                  <a:sysClr val="windowText" lastClr="000000"/>
                </a:solidFill>
              </a:rPr>
              <a:t>ｻｰﾋﾞｽﾚｺｰﾄﾞ、</a:t>
            </a:r>
            <a:endParaRPr lang="en-US" altLang="ja-JP" sz="900" dirty="0">
              <a:solidFill>
                <a:sysClr val="windowText" lastClr="000000"/>
              </a:solidFill>
            </a:endParaRPr>
          </a:p>
          <a:p>
            <a:pPr algn="ctr">
              <a:lnSpc>
                <a:spcPts val="900"/>
              </a:lnSpc>
            </a:pPr>
            <a:r>
              <a:rPr lang="ja-JP" altLang="en-US" sz="900" dirty="0">
                <a:solidFill>
                  <a:sysClr val="windowText" lastClr="000000"/>
                </a:solidFill>
              </a:rPr>
              <a:t>作業指示票 など</a:t>
            </a:r>
            <a:endParaRPr kumimoji="1" lang="ja-JP" altLang="en-US" sz="900" dirty="0">
              <a:solidFill>
                <a:sysClr val="windowText" lastClr="000000"/>
              </a:solidFill>
            </a:endParaRPr>
          </a:p>
        </p:txBody>
      </p:sp>
      <p:cxnSp>
        <p:nvCxnSpPr>
          <p:cNvPr id="242" name="直線矢印コネクタ 241">
            <a:extLst>
              <a:ext uri="{FF2B5EF4-FFF2-40B4-BE49-F238E27FC236}">
                <a16:creationId xmlns:a16="http://schemas.microsoft.com/office/drawing/2014/main" id="{240DF6E2-B913-9049-4F31-2422CA02AC45}"/>
              </a:ext>
            </a:extLst>
          </p:cNvPr>
          <p:cNvCxnSpPr/>
          <p:nvPr/>
        </p:nvCxnSpPr>
        <p:spPr>
          <a:xfrm flipH="1">
            <a:off x="7127480" y="801513"/>
            <a:ext cx="38724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3" name="正方形/長方形 242">
            <a:extLst>
              <a:ext uri="{FF2B5EF4-FFF2-40B4-BE49-F238E27FC236}">
                <a16:creationId xmlns:a16="http://schemas.microsoft.com/office/drawing/2014/main" id="{5AB16106-6A66-3279-D89A-BDB3DAA6E734}"/>
              </a:ext>
            </a:extLst>
          </p:cNvPr>
          <p:cNvSpPr/>
          <p:nvPr/>
        </p:nvSpPr>
        <p:spPr>
          <a:xfrm>
            <a:off x="7478483" y="585047"/>
            <a:ext cx="1332000" cy="42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ysClr val="windowText" lastClr="000000"/>
                </a:solidFill>
              </a:rPr>
              <a:t>：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手作業</a:t>
            </a:r>
            <a:endParaRPr kumimoji="1" lang="ja-JP" altLang="en-US" sz="1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53" name="直線矢印コネクタ 252">
            <a:extLst>
              <a:ext uri="{FF2B5EF4-FFF2-40B4-BE49-F238E27FC236}">
                <a16:creationId xmlns:a16="http://schemas.microsoft.com/office/drawing/2014/main" id="{88056641-D07B-0659-62E1-47D37BAFCD65}"/>
              </a:ext>
            </a:extLst>
          </p:cNvPr>
          <p:cNvCxnSpPr/>
          <p:nvPr/>
        </p:nvCxnSpPr>
        <p:spPr>
          <a:xfrm flipH="1">
            <a:off x="8247456" y="801513"/>
            <a:ext cx="38724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832F76F7-BC77-A4CF-8B38-A2693A484FD0}"/>
              </a:ext>
            </a:extLst>
          </p:cNvPr>
          <p:cNvSpPr/>
          <p:nvPr/>
        </p:nvSpPr>
        <p:spPr>
          <a:xfrm>
            <a:off x="8590041" y="585047"/>
            <a:ext cx="1332000" cy="42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ysClr val="windowText" lastClr="000000"/>
                </a:solidFill>
              </a:rPr>
              <a:t>：データ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連携予定</a:t>
            </a:r>
            <a:endParaRPr kumimoji="1" lang="ja-JP" altLang="en-US" sz="1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64" name="直線矢印コネクタ 263">
            <a:extLst>
              <a:ext uri="{FF2B5EF4-FFF2-40B4-BE49-F238E27FC236}">
                <a16:creationId xmlns:a16="http://schemas.microsoft.com/office/drawing/2014/main" id="{02D20BF5-925B-1A98-C73A-18A99EA35F7D}"/>
              </a:ext>
            </a:extLst>
          </p:cNvPr>
          <p:cNvCxnSpPr/>
          <p:nvPr/>
        </p:nvCxnSpPr>
        <p:spPr>
          <a:xfrm flipH="1">
            <a:off x="5619693" y="801513"/>
            <a:ext cx="387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42C95390-642A-2D5C-898A-24172514691E}"/>
              </a:ext>
            </a:extLst>
          </p:cNvPr>
          <p:cNvSpPr/>
          <p:nvPr/>
        </p:nvSpPr>
        <p:spPr>
          <a:xfrm>
            <a:off x="5970696" y="585047"/>
            <a:ext cx="1332000" cy="42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ysClr val="windowText" lastClr="000000"/>
                </a:solidFill>
              </a:rPr>
              <a:t>：システム連携</a:t>
            </a:r>
          </a:p>
        </p:txBody>
      </p:sp>
      <p:sp>
        <p:nvSpPr>
          <p:cNvPr id="250" name="正方形/長方形 249">
            <a:extLst>
              <a:ext uri="{FF2B5EF4-FFF2-40B4-BE49-F238E27FC236}">
                <a16:creationId xmlns:a16="http://schemas.microsoft.com/office/drawing/2014/main" id="{71D9EF08-04D4-E84A-957E-E11ADC2CFC93}"/>
              </a:ext>
            </a:extLst>
          </p:cNvPr>
          <p:cNvSpPr/>
          <p:nvPr/>
        </p:nvSpPr>
        <p:spPr>
          <a:xfrm>
            <a:off x="4450187" y="5411504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名刺管理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8C8290D2-1F8D-E7B6-E441-AC80E0D7A954}"/>
              </a:ext>
            </a:extLst>
          </p:cNvPr>
          <p:cNvSpPr/>
          <p:nvPr/>
        </p:nvSpPr>
        <p:spPr>
          <a:xfrm>
            <a:off x="7978401" y="5783086"/>
            <a:ext cx="1091439" cy="20686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ja-JP" sz="1000" b="1" dirty="0">
                <a:solidFill>
                  <a:sysClr val="windowText" lastClr="000000"/>
                </a:solidFill>
              </a:rPr>
              <a:t>e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ラーニング（学び～と）</a:t>
            </a:r>
          </a:p>
        </p:txBody>
      </p: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61B47CD7-71CE-E247-C6D2-FB21C414E451}"/>
              </a:ext>
            </a:extLst>
          </p:cNvPr>
          <p:cNvSpPr/>
          <p:nvPr/>
        </p:nvSpPr>
        <p:spPr>
          <a:xfrm>
            <a:off x="6323450" y="4285442"/>
            <a:ext cx="685618" cy="50006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統合マスタ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FBDC4B0B-F83A-EC76-3D2A-C6776681CB63}"/>
              </a:ext>
            </a:extLst>
          </p:cNvPr>
          <p:cNvSpPr/>
          <p:nvPr/>
        </p:nvSpPr>
        <p:spPr>
          <a:xfrm>
            <a:off x="2489067" y="2096052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社員立替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BFC98178-8D3A-0A3A-7A3D-7AAE821076CE}"/>
              </a:ext>
            </a:extLst>
          </p:cNvPr>
          <p:cNvSpPr/>
          <p:nvPr/>
        </p:nvSpPr>
        <p:spPr>
          <a:xfrm>
            <a:off x="133626" y="611674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200" dirty="0">
                <a:solidFill>
                  <a:schemeClr val="tx1"/>
                </a:solidFill>
              </a:rPr>
              <a:t>工程管理</a:t>
            </a: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2C08BFA-FF07-E555-5622-5E600BD6CDC3}"/>
              </a:ext>
            </a:extLst>
          </p:cNvPr>
          <p:cNvSpPr/>
          <p:nvPr/>
        </p:nvSpPr>
        <p:spPr>
          <a:xfrm>
            <a:off x="123371" y="644793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/>
          <a:lstStyle/>
          <a:p>
            <a:pPr algn="ctr">
              <a:lnSpc>
                <a:spcPts val="1000"/>
              </a:lnSpc>
            </a:pPr>
            <a:r>
              <a:rPr lang="ja-JP" altLang="en-US" sz="800" dirty="0">
                <a:solidFill>
                  <a:schemeClr val="tx1"/>
                </a:solidFill>
              </a:rPr>
              <a:t>資産管理</a:t>
            </a:r>
            <a:endParaRPr lang="en-US" altLang="ja-JP" sz="800" dirty="0">
              <a:solidFill>
                <a:schemeClr val="tx1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700" dirty="0">
                <a:solidFill>
                  <a:schemeClr val="tx1"/>
                </a:solidFill>
              </a:rPr>
              <a:t>車両やﾚﾝﾀﾙ商品</a:t>
            </a:r>
          </a:p>
        </p:txBody>
      </p:sp>
      <p:cxnSp>
        <p:nvCxnSpPr>
          <p:cNvPr id="275" name="直線矢印コネクタ 274">
            <a:extLst>
              <a:ext uri="{FF2B5EF4-FFF2-40B4-BE49-F238E27FC236}">
                <a16:creationId xmlns:a16="http://schemas.microsoft.com/office/drawing/2014/main" id="{649D75D6-00D7-2094-4222-A568E3506AE8}"/>
              </a:ext>
            </a:extLst>
          </p:cNvPr>
          <p:cNvCxnSpPr>
            <a:cxnSpLocks/>
          </p:cNvCxnSpPr>
          <p:nvPr/>
        </p:nvCxnSpPr>
        <p:spPr>
          <a:xfrm rot="10800000">
            <a:off x="1147203" y="2175540"/>
            <a:ext cx="650664" cy="5634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直線矢印コネクタ 283">
            <a:extLst>
              <a:ext uri="{FF2B5EF4-FFF2-40B4-BE49-F238E27FC236}">
                <a16:creationId xmlns:a16="http://schemas.microsoft.com/office/drawing/2014/main" id="{D56150C6-551B-7A4D-75FC-58CAD4DB5A75}"/>
              </a:ext>
            </a:extLst>
          </p:cNvPr>
          <p:cNvCxnSpPr/>
          <p:nvPr/>
        </p:nvCxnSpPr>
        <p:spPr>
          <a:xfrm>
            <a:off x="1008139" y="1613846"/>
            <a:ext cx="639235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8" name="テキスト ボックス 297">
            <a:extLst>
              <a:ext uri="{FF2B5EF4-FFF2-40B4-BE49-F238E27FC236}">
                <a16:creationId xmlns:a16="http://schemas.microsoft.com/office/drawing/2014/main" id="{38604C7D-DDD6-5B23-FF4C-F0B203E57BEE}"/>
              </a:ext>
            </a:extLst>
          </p:cNvPr>
          <p:cNvSpPr txBox="1"/>
          <p:nvPr/>
        </p:nvSpPr>
        <p:spPr>
          <a:xfrm>
            <a:off x="982916" y="1588803"/>
            <a:ext cx="6754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予算</a:t>
            </a:r>
          </a:p>
        </p:txBody>
      </p:sp>
      <p:sp>
        <p:nvSpPr>
          <p:cNvPr id="300" name="テキスト ボックス 299">
            <a:extLst>
              <a:ext uri="{FF2B5EF4-FFF2-40B4-BE49-F238E27FC236}">
                <a16:creationId xmlns:a16="http://schemas.microsoft.com/office/drawing/2014/main" id="{F7E81ACA-0CC6-C25D-CFC8-BA5B85FC9618}"/>
              </a:ext>
            </a:extLst>
          </p:cNvPr>
          <p:cNvSpPr txBox="1"/>
          <p:nvPr/>
        </p:nvSpPr>
        <p:spPr>
          <a:xfrm>
            <a:off x="1329246" y="2370178"/>
            <a:ext cx="67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ｼｽﾃﾑ</a:t>
            </a:r>
            <a:endParaRPr kumimoji="1" lang="en-US" altLang="ja-JP" sz="900" dirty="0"/>
          </a:p>
          <a:p>
            <a:pPr algn="ctr"/>
            <a:r>
              <a:rPr lang="ja-JP" altLang="en-US" sz="900" dirty="0"/>
              <a:t>処理情報</a:t>
            </a:r>
            <a:endParaRPr kumimoji="1" lang="ja-JP" altLang="en-US" sz="900" dirty="0"/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4F4D3F4-F14B-8B7C-83A4-F0B7CBA962A2}"/>
              </a:ext>
            </a:extLst>
          </p:cNvPr>
          <p:cNvSpPr/>
          <p:nvPr/>
        </p:nvSpPr>
        <p:spPr>
          <a:xfrm>
            <a:off x="6359996" y="3527496"/>
            <a:ext cx="1321200" cy="33603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1200" b="1" dirty="0">
                <a:solidFill>
                  <a:sysClr val="windowText" lastClr="000000"/>
                </a:solidFill>
              </a:rPr>
              <a:t>RDIAS</a:t>
            </a:r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307" name="正方形/長方形 306">
            <a:extLst>
              <a:ext uri="{FF2B5EF4-FFF2-40B4-BE49-F238E27FC236}">
                <a16:creationId xmlns:a16="http://schemas.microsoft.com/office/drawing/2014/main" id="{A8738332-B0C1-9BEC-903F-1CB59EBDDF58}"/>
              </a:ext>
            </a:extLst>
          </p:cNvPr>
          <p:cNvSpPr/>
          <p:nvPr/>
        </p:nvSpPr>
        <p:spPr>
          <a:xfrm>
            <a:off x="7978401" y="5989954"/>
            <a:ext cx="1091439" cy="23338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ja-JP" altLang="en-US" sz="1000" b="1" dirty="0">
                <a:solidFill>
                  <a:sysClr val="windowText" lastClr="000000"/>
                </a:solidFill>
              </a:rPr>
              <a:t>イメージワークス</a:t>
            </a:r>
          </a:p>
        </p:txBody>
      </p:sp>
      <p:sp>
        <p:nvSpPr>
          <p:cNvPr id="309" name="フリーフォーム 308">
            <a:extLst>
              <a:ext uri="{FF2B5EF4-FFF2-40B4-BE49-F238E27FC236}">
                <a16:creationId xmlns:a16="http://schemas.microsoft.com/office/drawing/2014/main" id="{015F9811-B54F-89CA-EFAE-0999DA1C0C79}"/>
              </a:ext>
            </a:extLst>
          </p:cNvPr>
          <p:cNvSpPr/>
          <p:nvPr/>
        </p:nvSpPr>
        <p:spPr>
          <a:xfrm>
            <a:off x="4311431" y="3181826"/>
            <a:ext cx="5397229" cy="2551329"/>
          </a:xfrm>
          <a:custGeom>
            <a:avLst/>
            <a:gdLst>
              <a:gd name="connsiteX0" fmla="*/ 2751219 w 4570403"/>
              <a:gd name="connsiteY0" fmla="*/ 0 h 2678731"/>
              <a:gd name="connsiteX1" fmla="*/ 4570403 w 4570403"/>
              <a:gd name="connsiteY1" fmla="*/ 0 h 2678731"/>
              <a:gd name="connsiteX2" fmla="*/ 4570403 w 4570403"/>
              <a:gd name="connsiteY2" fmla="*/ 1008888 h 2678731"/>
              <a:gd name="connsiteX3" fmla="*/ 4570403 w 4570403"/>
              <a:gd name="connsiteY3" fmla="*/ 1669843 h 2678731"/>
              <a:gd name="connsiteX4" fmla="*/ 4570403 w 4570403"/>
              <a:gd name="connsiteY4" fmla="*/ 2678731 h 2678731"/>
              <a:gd name="connsiteX5" fmla="*/ 0 w 4570403"/>
              <a:gd name="connsiteY5" fmla="*/ 2678731 h 2678731"/>
              <a:gd name="connsiteX6" fmla="*/ 0 w 4570403"/>
              <a:gd name="connsiteY6" fmla="*/ 1008888 h 2678731"/>
              <a:gd name="connsiteX7" fmla="*/ 2751219 w 4570403"/>
              <a:gd name="connsiteY7" fmla="*/ 1008888 h 267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0403" h="2678731">
                <a:moveTo>
                  <a:pt x="2751219" y="0"/>
                </a:moveTo>
                <a:lnTo>
                  <a:pt x="4570403" y="0"/>
                </a:lnTo>
                <a:lnTo>
                  <a:pt x="4570403" y="1008888"/>
                </a:lnTo>
                <a:lnTo>
                  <a:pt x="4570403" y="1669843"/>
                </a:lnTo>
                <a:lnTo>
                  <a:pt x="4570403" y="2678731"/>
                </a:lnTo>
                <a:lnTo>
                  <a:pt x="0" y="2678731"/>
                </a:lnTo>
                <a:lnTo>
                  <a:pt x="0" y="1008888"/>
                </a:lnTo>
                <a:lnTo>
                  <a:pt x="2751219" y="1008888"/>
                </a:lnTo>
                <a:close/>
              </a:path>
            </a:pathLst>
          </a:custGeom>
          <a:noFill/>
          <a:ln>
            <a:solidFill>
              <a:srgbClr val="3C15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0" name="グループ化 379">
            <a:extLst>
              <a:ext uri="{FF2B5EF4-FFF2-40B4-BE49-F238E27FC236}">
                <a16:creationId xmlns:a16="http://schemas.microsoft.com/office/drawing/2014/main" id="{70B39297-73A1-75BD-61A1-BD1A7A5F1BD6}"/>
              </a:ext>
            </a:extLst>
          </p:cNvPr>
          <p:cNvGrpSpPr>
            <a:grpSpLocks noChangeAspect="1"/>
          </p:cNvGrpSpPr>
          <p:nvPr/>
        </p:nvGrpSpPr>
        <p:grpSpPr>
          <a:xfrm>
            <a:off x="5931260" y="2153765"/>
            <a:ext cx="239944" cy="239944"/>
            <a:chOff x="10029564" y="1401123"/>
            <a:chExt cx="322932" cy="322932"/>
          </a:xfrm>
        </p:grpSpPr>
        <p:sp>
          <p:nvSpPr>
            <p:cNvPr id="381" name="正方形/長方形 380">
              <a:extLst>
                <a:ext uri="{FF2B5EF4-FFF2-40B4-BE49-F238E27FC236}">
                  <a16:creationId xmlns:a16="http://schemas.microsoft.com/office/drawing/2014/main" id="{ECA97BF2-79C0-3073-5A6B-B488E73D55DF}"/>
                </a:ext>
              </a:extLst>
            </p:cNvPr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82" name="Group 9">
              <a:extLst>
                <a:ext uri="{FF2B5EF4-FFF2-40B4-BE49-F238E27FC236}">
                  <a16:creationId xmlns:a16="http://schemas.microsoft.com/office/drawing/2014/main" id="{3D7303EB-C998-87EA-DCF8-9559BADB05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83" name="Freeform 10">
                <a:extLst>
                  <a:ext uri="{FF2B5EF4-FFF2-40B4-BE49-F238E27FC236}">
                    <a16:creationId xmlns:a16="http://schemas.microsoft.com/office/drawing/2014/main" id="{56E3242C-7AF1-4F5D-ECEE-A5E9ACA599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4" name="Freeform 11">
                <a:extLst>
                  <a:ext uri="{FF2B5EF4-FFF2-40B4-BE49-F238E27FC236}">
                    <a16:creationId xmlns:a16="http://schemas.microsoft.com/office/drawing/2014/main" id="{9F9D7B83-5613-BA46-AA0C-877AFC9ED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5" name="Rectangle 12">
                <a:extLst>
                  <a:ext uri="{FF2B5EF4-FFF2-40B4-BE49-F238E27FC236}">
                    <a16:creationId xmlns:a16="http://schemas.microsoft.com/office/drawing/2014/main" id="{52D9E842-2523-3E01-D304-914281344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6" name="Rectangle 13">
                <a:extLst>
                  <a:ext uri="{FF2B5EF4-FFF2-40B4-BE49-F238E27FC236}">
                    <a16:creationId xmlns:a16="http://schemas.microsoft.com/office/drawing/2014/main" id="{EA465B92-B756-EDAD-7ADE-AE2A71835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7" name="Rectangle 14">
                <a:extLst>
                  <a:ext uri="{FF2B5EF4-FFF2-40B4-BE49-F238E27FC236}">
                    <a16:creationId xmlns:a16="http://schemas.microsoft.com/office/drawing/2014/main" id="{23941A88-FC50-1525-8B30-C018D1989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8" name="Rectangle 15">
                <a:extLst>
                  <a:ext uri="{FF2B5EF4-FFF2-40B4-BE49-F238E27FC236}">
                    <a16:creationId xmlns:a16="http://schemas.microsoft.com/office/drawing/2014/main" id="{48DC0C11-05D7-151B-94B6-1937679B6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9" name="Rectangle 16">
                <a:extLst>
                  <a:ext uri="{FF2B5EF4-FFF2-40B4-BE49-F238E27FC236}">
                    <a16:creationId xmlns:a16="http://schemas.microsoft.com/office/drawing/2014/main" id="{9B942BF2-D136-BF74-77DE-01C398F98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304EC953-0F1D-767A-962A-1F27F088E8D9}"/>
              </a:ext>
            </a:extLst>
          </p:cNvPr>
          <p:cNvSpPr/>
          <p:nvPr/>
        </p:nvSpPr>
        <p:spPr>
          <a:xfrm>
            <a:off x="8037613" y="4454073"/>
            <a:ext cx="686167" cy="2488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検査依頼</a:t>
            </a:r>
          </a:p>
        </p:txBody>
      </p:sp>
      <p:sp>
        <p:nvSpPr>
          <p:cNvPr id="394" name="正方形/長方形 393">
            <a:extLst>
              <a:ext uri="{FF2B5EF4-FFF2-40B4-BE49-F238E27FC236}">
                <a16:creationId xmlns:a16="http://schemas.microsoft.com/office/drawing/2014/main" id="{9D28CDA9-9C88-4F46-CCA8-5FC2A01C87FD}"/>
              </a:ext>
            </a:extLst>
          </p:cNvPr>
          <p:cNvSpPr/>
          <p:nvPr/>
        </p:nvSpPr>
        <p:spPr>
          <a:xfrm>
            <a:off x="3247290" y="210209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/>
          <a:lstStyle/>
          <a:p>
            <a:pPr algn="ctr">
              <a:lnSpc>
                <a:spcPts val="1000"/>
              </a:lnSpc>
            </a:pPr>
            <a:r>
              <a:rPr lang="ja-JP" altLang="en-US" sz="800" dirty="0">
                <a:solidFill>
                  <a:schemeClr val="tx1"/>
                </a:solidFill>
              </a:rPr>
              <a:t>資産管理</a:t>
            </a:r>
            <a:endParaRPr lang="en-US" altLang="ja-JP" sz="800" dirty="0">
              <a:solidFill>
                <a:schemeClr val="tx1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700" dirty="0">
                <a:solidFill>
                  <a:schemeClr val="tx1"/>
                </a:solidFill>
              </a:rPr>
              <a:t>固定</a:t>
            </a:r>
            <a:r>
              <a:rPr lang="en-US" altLang="ja-JP" sz="700" dirty="0">
                <a:solidFill>
                  <a:schemeClr val="tx1"/>
                </a:solidFill>
              </a:rPr>
              <a:t>/</a:t>
            </a:r>
            <a:r>
              <a:rPr lang="ja-JP" altLang="en-US" sz="700" dirty="0">
                <a:solidFill>
                  <a:schemeClr val="tx1"/>
                </a:solidFill>
              </a:rPr>
              <a:t>リース資産</a:t>
            </a:r>
            <a:endParaRPr lang="en-US" altLang="ja-JP" sz="700" dirty="0">
              <a:solidFill>
                <a:schemeClr val="tx1"/>
              </a:solidFill>
            </a:endParaRPr>
          </a:p>
        </p:txBody>
      </p:sp>
      <p:cxnSp>
        <p:nvCxnSpPr>
          <p:cNvPr id="268" name="直線矢印コネクタ 267">
            <a:extLst>
              <a:ext uri="{FF2B5EF4-FFF2-40B4-BE49-F238E27FC236}">
                <a16:creationId xmlns:a16="http://schemas.microsoft.com/office/drawing/2014/main" id="{07400603-DE7E-EFBB-485C-E2E9FC1A90B5}"/>
              </a:ext>
            </a:extLst>
          </p:cNvPr>
          <p:cNvCxnSpPr/>
          <p:nvPr/>
        </p:nvCxnSpPr>
        <p:spPr>
          <a:xfrm>
            <a:off x="7678095" y="3673499"/>
            <a:ext cx="314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CA80F512-BA58-FA19-D923-5EB27F8637D3}"/>
              </a:ext>
            </a:extLst>
          </p:cNvPr>
          <p:cNvSpPr/>
          <p:nvPr/>
        </p:nvSpPr>
        <p:spPr>
          <a:xfrm>
            <a:off x="7061210" y="4103698"/>
            <a:ext cx="555821" cy="28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endParaRPr kumimoji="1" lang="ja-JP" alt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6B8E7C30-5F16-817B-8A28-5C82BC7BC00C}"/>
              </a:ext>
            </a:extLst>
          </p:cNvPr>
          <p:cNvSpPr/>
          <p:nvPr/>
        </p:nvSpPr>
        <p:spPr>
          <a:xfrm>
            <a:off x="102226" y="1441884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予算管理</a:t>
            </a:r>
          </a:p>
        </p:txBody>
      </p:sp>
      <p:grpSp>
        <p:nvGrpSpPr>
          <p:cNvPr id="280" name="グループ化 279">
            <a:extLst>
              <a:ext uri="{FF2B5EF4-FFF2-40B4-BE49-F238E27FC236}">
                <a16:creationId xmlns:a16="http://schemas.microsoft.com/office/drawing/2014/main" id="{BB4BD9E6-75F0-8BE2-3D07-82E7DFDE6727}"/>
              </a:ext>
            </a:extLst>
          </p:cNvPr>
          <p:cNvGrpSpPr>
            <a:grpSpLocks noChangeAspect="1"/>
          </p:cNvGrpSpPr>
          <p:nvPr/>
        </p:nvGrpSpPr>
        <p:grpSpPr>
          <a:xfrm>
            <a:off x="766467" y="1463765"/>
            <a:ext cx="241672" cy="241200"/>
            <a:chOff x="4226995" y="126221"/>
            <a:chExt cx="938729" cy="936896"/>
          </a:xfrm>
        </p:grpSpPr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5253DA17-7B61-16AD-B8A1-721B00D4CFE9}"/>
                </a:ext>
              </a:extLst>
            </p:cNvPr>
            <p:cNvSpPr/>
            <p:nvPr/>
          </p:nvSpPr>
          <p:spPr>
            <a:xfrm>
              <a:off x="4286784" y="200360"/>
              <a:ext cx="819150" cy="7886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9" name="Group 25">
              <a:extLst>
                <a:ext uri="{FF2B5EF4-FFF2-40B4-BE49-F238E27FC236}">
                  <a16:creationId xmlns:a16="http://schemas.microsoft.com/office/drawing/2014/main" id="{51E2DABA-04BD-9488-FD6D-468CECA8B6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6995" y="126221"/>
              <a:ext cx="938729" cy="936896"/>
              <a:chOff x="1577" y="620"/>
              <a:chExt cx="3072" cy="3066"/>
            </a:xfrm>
          </p:grpSpPr>
          <p:sp>
            <p:nvSpPr>
              <p:cNvPr id="301" name="Freeform 26">
                <a:extLst>
                  <a:ext uri="{FF2B5EF4-FFF2-40B4-BE49-F238E27FC236}">
                    <a16:creationId xmlns:a16="http://schemas.microsoft.com/office/drawing/2014/main" id="{BB3294ED-BB6A-C687-F075-D824D936AF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77" y="620"/>
                <a:ext cx="3072" cy="3066"/>
              </a:xfrm>
              <a:custGeom>
                <a:avLst/>
                <a:gdLst>
                  <a:gd name="T0" fmla="*/ 698 w 6400"/>
                  <a:gd name="T1" fmla="*/ 5065 h 6387"/>
                  <a:gd name="T2" fmla="*/ 698 w 6400"/>
                  <a:gd name="T3" fmla="*/ 1272 h 6387"/>
                  <a:gd name="T4" fmla="*/ 3592 w 6400"/>
                  <a:gd name="T5" fmla="*/ 786 h 6387"/>
                  <a:gd name="T6" fmla="*/ 3593 w 6400"/>
                  <a:gd name="T7" fmla="*/ 5583 h 6387"/>
                  <a:gd name="T8" fmla="*/ 786 w 6400"/>
                  <a:gd name="T9" fmla="*/ 5114 h 6387"/>
                  <a:gd name="T10" fmla="*/ 698 w 6400"/>
                  <a:gd name="T11" fmla="*/ 5065 h 6387"/>
                  <a:gd name="T12" fmla="*/ 3715 w 6400"/>
                  <a:gd name="T13" fmla="*/ 4635 h 6387"/>
                  <a:gd name="T14" fmla="*/ 3711 w 6400"/>
                  <a:gd name="T15" fmla="*/ 3998 h 6387"/>
                  <a:gd name="T16" fmla="*/ 5709 w 6400"/>
                  <a:gd name="T17" fmla="*/ 3640 h 6387"/>
                  <a:gd name="T18" fmla="*/ 5713 w 6400"/>
                  <a:gd name="T19" fmla="*/ 4142 h 6387"/>
                  <a:gd name="T20" fmla="*/ 3715 w 6400"/>
                  <a:gd name="T21" fmla="*/ 4635 h 6387"/>
                  <a:gd name="T22" fmla="*/ 3711 w 6400"/>
                  <a:gd name="T23" fmla="*/ 3866 h 6387"/>
                  <a:gd name="T24" fmla="*/ 3711 w 6400"/>
                  <a:gd name="T25" fmla="*/ 3241 h 6387"/>
                  <a:gd name="T26" fmla="*/ 5657 w 6400"/>
                  <a:gd name="T27" fmla="*/ 2919 h 6387"/>
                  <a:gd name="T28" fmla="*/ 5713 w 6400"/>
                  <a:gd name="T29" fmla="*/ 2879 h 6387"/>
                  <a:gd name="T30" fmla="*/ 5091 w 6400"/>
                  <a:gd name="T31" fmla="*/ 3818 h 6387"/>
                  <a:gd name="T32" fmla="*/ 3711 w 6400"/>
                  <a:gd name="T33" fmla="*/ 3866 h 6387"/>
                  <a:gd name="T34" fmla="*/ 4304 w 6400"/>
                  <a:gd name="T35" fmla="*/ 3125 h 6387"/>
                  <a:gd name="T36" fmla="*/ 3716 w 6400"/>
                  <a:gd name="T37" fmla="*/ 3110 h 6387"/>
                  <a:gd name="T38" fmla="*/ 3711 w 6400"/>
                  <a:gd name="T39" fmla="*/ 2475 h 6387"/>
                  <a:gd name="T40" fmla="*/ 5577 w 6400"/>
                  <a:gd name="T41" fmla="*/ 2223 h 6387"/>
                  <a:gd name="T42" fmla="*/ 5648 w 6400"/>
                  <a:gd name="T43" fmla="*/ 2166 h 6387"/>
                  <a:gd name="T44" fmla="*/ 5663 w 6400"/>
                  <a:gd name="T45" fmla="*/ 2154 h 6387"/>
                  <a:gd name="T46" fmla="*/ 5678 w 6400"/>
                  <a:gd name="T47" fmla="*/ 2140 h 6387"/>
                  <a:gd name="T48" fmla="*/ 5695 w 6400"/>
                  <a:gd name="T49" fmla="*/ 2127 h 6387"/>
                  <a:gd name="T50" fmla="*/ 5712 w 6400"/>
                  <a:gd name="T51" fmla="*/ 2113 h 6387"/>
                  <a:gd name="T52" fmla="*/ 5710 w 6400"/>
                  <a:gd name="T53" fmla="*/ 2638 h 6387"/>
                  <a:gd name="T54" fmla="*/ 5157 w 6400"/>
                  <a:gd name="T55" fmla="*/ 3025 h 6387"/>
                  <a:gd name="T56" fmla="*/ 4304 w 6400"/>
                  <a:gd name="T57" fmla="*/ 3125 h 6387"/>
                  <a:gd name="T58" fmla="*/ 3711 w 6400"/>
                  <a:gd name="T59" fmla="*/ 2339 h 6387"/>
                  <a:gd name="T60" fmla="*/ 3712 w 6400"/>
                  <a:gd name="T61" fmla="*/ 1508 h 6387"/>
                  <a:gd name="T62" fmla="*/ 5705 w 6400"/>
                  <a:gd name="T63" fmla="*/ 1944 h 6387"/>
                  <a:gd name="T64" fmla="*/ 3711 w 6400"/>
                  <a:gd name="T65" fmla="*/ 2339 h 6387"/>
                  <a:gd name="T66" fmla="*/ 0 w 6400"/>
                  <a:gd name="T67" fmla="*/ 6387 h 6387"/>
                  <a:gd name="T68" fmla="*/ 6400 w 6400"/>
                  <a:gd name="T69" fmla="*/ 6387 h 6387"/>
                  <a:gd name="T70" fmla="*/ 6400 w 6400"/>
                  <a:gd name="T71" fmla="*/ 0 h 6387"/>
                  <a:gd name="T72" fmla="*/ 12 w 6400"/>
                  <a:gd name="T73" fmla="*/ 0 h 6387"/>
                  <a:gd name="T74" fmla="*/ 0 w 6400"/>
                  <a:gd name="T75" fmla="*/ 6387 h 6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00" h="6387">
                    <a:moveTo>
                      <a:pt x="698" y="5065"/>
                    </a:moveTo>
                    <a:lnTo>
                      <a:pt x="698" y="1272"/>
                    </a:lnTo>
                    <a:lnTo>
                      <a:pt x="3592" y="786"/>
                    </a:lnTo>
                    <a:lnTo>
                      <a:pt x="3593" y="5583"/>
                    </a:lnTo>
                    <a:lnTo>
                      <a:pt x="786" y="5114"/>
                    </a:lnTo>
                    <a:cubicBezTo>
                      <a:pt x="653" y="5073"/>
                      <a:pt x="753" y="5095"/>
                      <a:pt x="698" y="5065"/>
                    </a:cubicBezTo>
                    <a:close/>
                    <a:moveTo>
                      <a:pt x="3715" y="4635"/>
                    </a:moveTo>
                    <a:lnTo>
                      <a:pt x="3711" y="3998"/>
                    </a:lnTo>
                    <a:cubicBezTo>
                      <a:pt x="4312" y="4022"/>
                      <a:pt x="5333" y="4077"/>
                      <a:pt x="5709" y="3640"/>
                    </a:cubicBezTo>
                    <a:lnTo>
                      <a:pt x="5713" y="4142"/>
                    </a:lnTo>
                    <a:cubicBezTo>
                      <a:pt x="5713" y="4720"/>
                      <a:pt x="4098" y="4648"/>
                      <a:pt x="3715" y="4635"/>
                    </a:cubicBezTo>
                    <a:close/>
                    <a:moveTo>
                      <a:pt x="3711" y="3866"/>
                    </a:moveTo>
                    <a:lnTo>
                      <a:pt x="3711" y="3241"/>
                    </a:lnTo>
                    <a:cubicBezTo>
                      <a:pt x="4200" y="3229"/>
                      <a:pt x="5183" y="3327"/>
                      <a:pt x="5657" y="2919"/>
                    </a:cubicBezTo>
                    <a:cubicBezTo>
                      <a:pt x="5698" y="2888"/>
                      <a:pt x="5659" y="2911"/>
                      <a:pt x="5713" y="2879"/>
                    </a:cubicBezTo>
                    <a:cubicBezTo>
                      <a:pt x="5706" y="3446"/>
                      <a:pt x="5870" y="3642"/>
                      <a:pt x="5091" y="3818"/>
                    </a:cubicBezTo>
                    <a:cubicBezTo>
                      <a:pt x="4738" y="3890"/>
                      <a:pt x="4070" y="3938"/>
                      <a:pt x="3711" y="3866"/>
                    </a:cubicBezTo>
                    <a:close/>
                    <a:moveTo>
                      <a:pt x="4304" y="3125"/>
                    </a:moveTo>
                    <a:lnTo>
                      <a:pt x="3716" y="3110"/>
                    </a:lnTo>
                    <a:lnTo>
                      <a:pt x="3711" y="2475"/>
                    </a:lnTo>
                    <a:cubicBezTo>
                      <a:pt x="4233" y="2489"/>
                      <a:pt x="5159" y="2499"/>
                      <a:pt x="5577" y="2223"/>
                    </a:cubicBezTo>
                    <a:lnTo>
                      <a:pt x="5648" y="2166"/>
                    </a:lnTo>
                    <a:cubicBezTo>
                      <a:pt x="5652" y="2162"/>
                      <a:pt x="5658" y="2157"/>
                      <a:pt x="5663" y="2154"/>
                    </a:cubicBezTo>
                    <a:cubicBezTo>
                      <a:pt x="5667" y="2149"/>
                      <a:pt x="5674" y="2144"/>
                      <a:pt x="5678" y="2140"/>
                    </a:cubicBezTo>
                    <a:cubicBezTo>
                      <a:pt x="5683" y="2136"/>
                      <a:pt x="5691" y="2130"/>
                      <a:pt x="5695" y="2127"/>
                    </a:cubicBezTo>
                    <a:cubicBezTo>
                      <a:pt x="5699" y="2123"/>
                      <a:pt x="5706" y="2117"/>
                      <a:pt x="5712" y="2113"/>
                    </a:cubicBezTo>
                    <a:cubicBezTo>
                      <a:pt x="5716" y="2352"/>
                      <a:pt x="5712" y="2516"/>
                      <a:pt x="5710" y="2638"/>
                    </a:cubicBezTo>
                    <a:cubicBezTo>
                      <a:pt x="5708" y="2760"/>
                      <a:pt x="5562" y="2930"/>
                      <a:pt x="5157" y="3025"/>
                    </a:cubicBezTo>
                    <a:cubicBezTo>
                      <a:pt x="4910" y="3083"/>
                      <a:pt x="4569" y="3125"/>
                      <a:pt x="4304" y="3125"/>
                    </a:cubicBezTo>
                    <a:close/>
                    <a:moveTo>
                      <a:pt x="3711" y="2339"/>
                    </a:moveTo>
                    <a:lnTo>
                      <a:pt x="3712" y="1508"/>
                    </a:lnTo>
                    <a:cubicBezTo>
                      <a:pt x="4134" y="1453"/>
                      <a:pt x="5756" y="1508"/>
                      <a:pt x="5705" y="1944"/>
                    </a:cubicBezTo>
                    <a:cubicBezTo>
                      <a:pt x="5660" y="2335"/>
                      <a:pt x="4123" y="2410"/>
                      <a:pt x="3711" y="2339"/>
                    </a:cubicBezTo>
                    <a:close/>
                    <a:moveTo>
                      <a:pt x="0" y="6387"/>
                    </a:moveTo>
                    <a:lnTo>
                      <a:pt x="6400" y="6387"/>
                    </a:lnTo>
                    <a:lnTo>
                      <a:pt x="6400" y="0"/>
                    </a:lnTo>
                    <a:lnTo>
                      <a:pt x="12" y="0"/>
                    </a:lnTo>
                    <a:lnTo>
                      <a:pt x="0" y="6387"/>
                    </a:lnTo>
                    <a:close/>
                  </a:path>
                </a:pathLst>
              </a:custGeom>
              <a:solidFill>
                <a:srgbClr val="A13538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03" name="Freeform 27">
                <a:extLst>
                  <a:ext uri="{FF2B5EF4-FFF2-40B4-BE49-F238E27FC236}">
                    <a16:creationId xmlns:a16="http://schemas.microsoft.com/office/drawing/2014/main" id="{4248391F-7ED3-B21F-EB94-C4B961D975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27" y="1754"/>
                <a:ext cx="606" cy="820"/>
              </a:xfrm>
              <a:custGeom>
                <a:avLst/>
                <a:gdLst>
                  <a:gd name="T0" fmla="*/ 610 w 1262"/>
                  <a:gd name="T1" fmla="*/ 389 h 1708"/>
                  <a:gd name="T2" fmla="*/ 759 w 1262"/>
                  <a:gd name="T3" fmla="*/ 1014 h 1708"/>
                  <a:gd name="T4" fmla="*/ 448 w 1262"/>
                  <a:gd name="T5" fmla="*/ 1006 h 1708"/>
                  <a:gd name="T6" fmla="*/ 610 w 1262"/>
                  <a:gd name="T7" fmla="*/ 389 h 1708"/>
                  <a:gd name="T8" fmla="*/ 0 w 1262"/>
                  <a:gd name="T9" fmla="*/ 1642 h 1708"/>
                  <a:gd name="T10" fmla="*/ 303 w 1262"/>
                  <a:gd name="T11" fmla="*/ 1662 h 1708"/>
                  <a:gd name="T12" fmla="*/ 384 w 1262"/>
                  <a:gd name="T13" fmla="*/ 1300 h 1708"/>
                  <a:gd name="T14" fmla="*/ 826 w 1262"/>
                  <a:gd name="T15" fmla="*/ 1314 h 1708"/>
                  <a:gd name="T16" fmla="*/ 944 w 1262"/>
                  <a:gd name="T17" fmla="*/ 1690 h 1708"/>
                  <a:gd name="T18" fmla="*/ 1262 w 1262"/>
                  <a:gd name="T19" fmla="*/ 1708 h 1708"/>
                  <a:gd name="T20" fmla="*/ 789 w 1262"/>
                  <a:gd name="T21" fmla="*/ 0 h 1708"/>
                  <a:gd name="T22" fmla="*/ 447 w 1262"/>
                  <a:gd name="T23" fmla="*/ 15 h 1708"/>
                  <a:gd name="T24" fmla="*/ 0 w 1262"/>
                  <a:gd name="T25" fmla="*/ 1642 h 1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62" h="1708">
                    <a:moveTo>
                      <a:pt x="610" y="389"/>
                    </a:moveTo>
                    <a:lnTo>
                      <a:pt x="759" y="1014"/>
                    </a:lnTo>
                    <a:lnTo>
                      <a:pt x="448" y="1006"/>
                    </a:lnTo>
                    <a:lnTo>
                      <a:pt x="610" y="389"/>
                    </a:lnTo>
                    <a:close/>
                    <a:moveTo>
                      <a:pt x="0" y="1642"/>
                    </a:moveTo>
                    <a:lnTo>
                      <a:pt x="303" y="1662"/>
                    </a:lnTo>
                    <a:lnTo>
                      <a:pt x="384" y="1300"/>
                    </a:lnTo>
                    <a:lnTo>
                      <a:pt x="826" y="1314"/>
                    </a:lnTo>
                    <a:lnTo>
                      <a:pt x="944" y="1690"/>
                    </a:lnTo>
                    <a:lnTo>
                      <a:pt x="1262" y="1708"/>
                    </a:lnTo>
                    <a:lnTo>
                      <a:pt x="789" y="0"/>
                    </a:lnTo>
                    <a:lnTo>
                      <a:pt x="447" y="15"/>
                    </a:lnTo>
                    <a:lnTo>
                      <a:pt x="0" y="1642"/>
                    </a:lnTo>
                    <a:close/>
                  </a:path>
                </a:pathLst>
              </a:custGeom>
              <a:solidFill>
                <a:srgbClr val="A13538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308" name="カギ線コネクタ 307">
            <a:extLst>
              <a:ext uri="{FF2B5EF4-FFF2-40B4-BE49-F238E27FC236}">
                <a16:creationId xmlns:a16="http://schemas.microsoft.com/office/drawing/2014/main" id="{C7846736-707C-4E78-2A0E-8881848CB41C}"/>
              </a:ext>
            </a:extLst>
          </p:cNvPr>
          <p:cNvCxnSpPr>
            <a:cxnSpLocks/>
            <a:stCxn id="4" idx="2"/>
            <a:endCxn id="18" idx="2"/>
          </p:cNvCxnSpPr>
          <p:nvPr/>
        </p:nvCxnSpPr>
        <p:spPr>
          <a:xfrm rot="16200000" flipH="1">
            <a:off x="4830227" y="3042252"/>
            <a:ext cx="371943" cy="2614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63FACB0A-00C6-17A5-86BB-A9EAD1AC8258}"/>
              </a:ext>
            </a:extLst>
          </p:cNvPr>
          <p:cNvSpPr/>
          <p:nvPr/>
        </p:nvSpPr>
        <p:spPr>
          <a:xfrm>
            <a:off x="5340803" y="4712937"/>
            <a:ext cx="596548" cy="28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r>
              <a:rPr kumimoji="1" lang="ja-JP" altLang="en-US" sz="900" dirty="0">
                <a:solidFill>
                  <a:sysClr val="windowText" lastClr="000000"/>
                </a:solidFill>
              </a:rPr>
              <a:t>商品ﾏｽﾀ</a:t>
            </a:r>
          </a:p>
        </p:txBody>
      </p:sp>
      <p:cxnSp>
        <p:nvCxnSpPr>
          <p:cNvPr id="347" name="カギ線コネクタ 346">
            <a:extLst>
              <a:ext uri="{FF2B5EF4-FFF2-40B4-BE49-F238E27FC236}">
                <a16:creationId xmlns:a16="http://schemas.microsoft.com/office/drawing/2014/main" id="{08758965-CEFB-CDD1-A1FC-65FF5E9C8582}"/>
              </a:ext>
            </a:extLst>
          </p:cNvPr>
          <p:cNvCxnSpPr>
            <a:cxnSpLocks/>
            <a:stCxn id="18" idx="1"/>
            <a:endCxn id="10" idx="2"/>
          </p:cNvCxnSpPr>
          <p:nvPr/>
        </p:nvCxnSpPr>
        <p:spPr>
          <a:xfrm rot="5400000" flipH="1" flipV="1">
            <a:off x="7252480" y="3184807"/>
            <a:ext cx="514415" cy="16868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8" name="正方形/長方形 347">
            <a:extLst>
              <a:ext uri="{FF2B5EF4-FFF2-40B4-BE49-F238E27FC236}">
                <a16:creationId xmlns:a16="http://schemas.microsoft.com/office/drawing/2014/main" id="{5D2356AB-BBB3-66F3-21B4-7343FA70DD62}"/>
              </a:ext>
            </a:extLst>
          </p:cNvPr>
          <p:cNvSpPr/>
          <p:nvPr/>
        </p:nvSpPr>
        <p:spPr>
          <a:xfrm>
            <a:off x="4258681" y="4210834"/>
            <a:ext cx="2035170" cy="28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r>
              <a:rPr kumimoji="1" lang="ja-JP" altLang="en-US" sz="900" dirty="0">
                <a:solidFill>
                  <a:sysClr val="windowText" lastClr="000000"/>
                </a:solidFill>
              </a:rPr>
              <a:t>部門ﾏｽﾀ</a:t>
            </a:r>
            <a:r>
              <a:rPr lang="ja-JP" altLang="en-US" sz="900" dirty="0">
                <a:solidFill>
                  <a:sysClr val="windowText" lastClr="000000"/>
                </a:solidFill>
              </a:rPr>
              <a:t>、社員ﾏｽﾀ、得意先ﾏｽﾀ</a:t>
            </a:r>
            <a:endParaRPr kumimoji="1" lang="ja-JP" altLang="en-US" sz="900" dirty="0">
              <a:solidFill>
                <a:sysClr val="windowText" lastClr="000000"/>
              </a:solidFill>
            </a:endParaRPr>
          </a:p>
        </p:txBody>
      </p:sp>
      <p:cxnSp>
        <p:nvCxnSpPr>
          <p:cNvPr id="349" name="カギ線コネクタ 348">
            <a:extLst>
              <a:ext uri="{FF2B5EF4-FFF2-40B4-BE49-F238E27FC236}">
                <a16:creationId xmlns:a16="http://schemas.microsoft.com/office/drawing/2014/main" id="{13317C84-7EEC-0DA1-084A-4576D3F12F39}"/>
              </a:ext>
            </a:extLst>
          </p:cNvPr>
          <p:cNvCxnSpPr>
            <a:cxnSpLocks/>
            <a:stCxn id="6" idx="1"/>
            <a:endCxn id="252" idx="3"/>
          </p:cNvCxnSpPr>
          <p:nvPr/>
        </p:nvCxnSpPr>
        <p:spPr>
          <a:xfrm rot="10800000" flipV="1">
            <a:off x="1147204" y="1915655"/>
            <a:ext cx="501425" cy="2108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5D298435-0F77-27A2-38E7-1CB423ED3355}"/>
              </a:ext>
            </a:extLst>
          </p:cNvPr>
          <p:cNvSpPr/>
          <p:nvPr/>
        </p:nvSpPr>
        <p:spPr>
          <a:xfrm>
            <a:off x="5752014" y="1097494"/>
            <a:ext cx="528059" cy="1346767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68310D75-71E9-BE39-9D2C-DF4511A66D12}"/>
              </a:ext>
            </a:extLst>
          </p:cNvPr>
          <p:cNvSpPr/>
          <p:nvPr/>
        </p:nvSpPr>
        <p:spPr>
          <a:xfrm>
            <a:off x="2300469" y="4124022"/>
            <a:ext cx="1218569" cy="500667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0" name="フローチャート: 代替処理 349">
            <a:extLst>
              <a:ext uri="{FF2B5EF4-FFF2-40B4-BE49-F238E27FC236}">
                <a16:creationId xmlns:a16="http://schemas.microsoft.com/office/drawing/2014/main" id="{39D6DB54-A0BC-A940-8A94-314FA8420344}"/>
              </a:ext>
            </a:extLst>
          </p:cNvPr>
          <p:cNvSpPr/>
          <p:nvPr/>
        </p:nvSpPr>
        <p:spPr>
          <a:xfrm>
            <a:off x="4449896" y="4084555"/>
            <a:ext cx="1770599" cy="40367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900" u="sng" dirty="0">
              <a:solidFill>
                <a:srgbClr val="FF0000"/>
              </a:solidFill>
            </a:endParaRPr>
          </a:p>
        </p:txBody>
      </p:sp>
      <p:sp>
        <p:nvSpPr>
          <p:cNvPr id="364" name="正方形/長方形 363">
            <a:extLst>
              <a:ext uri="{FF2B5EF4-FFF2-40B4-BE49-F238E27FC236}">
                <a16:creationId xmlns:a16="http://schemas.microsoft.com/office/drawing/2014/main" id="{0CA61032-50D4-769C-302A-56C99673CAEA}"/>
              </a:ext>
            </a:extLst>
          </p:cNvPr>
          <p:cNvSpPr/>
          <p:nvPr/>
        </p:nvSpPr>
        <p:spPr>
          <a:xfrm>
            <a:off x="-3773" y="5531442"/>
            <a:ext cx="962190" cy="1318078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1" name="テキスト ボックス 390">
            <a:extLst>
              <a:ext uri="{FF2B5EF4-FFF2-40B4-BE49-F238E27FC236}">
                <a16:creationId xmlns:a16="http://schemas.microsoft.com/office/drawing/2014/main" id="{B5DB2E3B-412D-D504-4F95-A242EA6DC33C}"/>
              </a:ext>
            </a:extLst>
          </p:cNvPr>
          <p:cNvSpPr txBox="1"/>
          <p:nvPr/>
        </p:nvSpPr>
        <p:spPr>
          <a:xfrm>
            <a:off x="971761" y="2868899"/>
            <a:ext cx="913266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lang="ja-JP" altLang="en-US" sz="900" dirty="0"/>
              <a:t>顧客マッピング</a:t>
            </a:r>
            <a:endParaRPr kumimoji="1" lang="en-US" altLang="ja-JP" sz="900" dirty="0"/>
          </a:p>
          <a:p>
            <a:pPr algn="ctr">
              <a:lnSpc>
                <a:spcPts val="900"/>
              </a:lnSpc>
            </a:pPr>
            <a:r>
              <a:rPr kumimoji="1" lang="ja-JP" altLang="en-US" sz="900" dirty="0"/>
              <a:t>（年</a:t>
            </a:r>
            <a:r>
              <a:rPr kumimoji="1" lang="en-US" altLang="ja-JP" sz="900" dirty="0"/>
              <a:t>1</a:t>
            </a:r>
            <a:r>
              <a:rPr kumimoji="1" lang="ja-JP" altLang="en-US" sz="900" dirty="0"/>
              <a:t>回更新）</a:t>
            </a:r>
            <a:endParaRPr kumimoji="1" lang="en-US" altLang="ja-JP" sz="900" dirty="0"/>
          </a:p>
        </p:txBody>
      </p:sp>
      <p:sp>
        <p:nvSpPr>
          <p:cNvPr id="392" name="正方形/長方形 391">
            <a:extLst>
              <a:ext uri="{FF2B5EF4-FFF2-40B4-BE49-F238E27FC236}">
                <a16:creationId xmlns:a16="http://schemas.microsoft.com/office/drawing/2014/main" id="{134D1F1B-5CF2-2FF9-B832-319EDA482AE7}"/>
              </a:ext>
            </a:extLst>
          </p:cNvPr>
          <p:cNvSpPr/>
          <p:nvPr/>
        </p:nvSpPr>
        <p:spPr>
          <a:xfrm>
            <a:off x="7681197" y="55902"/>
            <a:ext cx="2224804" cy="4927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2025/11/10</a:t>
            </a:r>
            <a:r>
              <a:rPr lang="ja-JP" altLang="en-US" sz="2000" dirty="0"/>
              <a:t>更新版</a:t>
            </a:r>
            <a:endParaRPr lang="en-US" altLang="ja-JP" sz="2000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58A9601-65E1-D483-9143-0C1944345714}"/>
              </a:ext>
            </a:extLst>
          </p:cNvPr>
          <p:cNvSpPr/>
          <p:nvPr/>
        </p:nvSpPr>
        <p:spPr>
          <a:xfrm>
            <a:off x="3512805" y="5653503"/>
            <a:ext cx="705600" cy="2966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ユニフィニティー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D6E1170-FA7C-1DB7-5AD0-6726824C111C}"/>
              </a:ext>
            </a:extLst>
          </p:cNvPr>
          <p:cNvSpPr/>
          <p:nvPr/>
        </p:nvSpPr>
        <p:spPr>
          <a:xfrm>
            <a:off x="5151661" y="5410702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作業指示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2616DA1-EFA0-746D-184A-F87FB43FF140}"/>
              </a:ext>
            </a:extLst>
          </p:cNvPr>
          <p:cNvSpPr/>
          <p:nvPr/>
        </p:nvSpPr>
        <p:spPr>
          <a:xfrm>
            <a:off x="5018576" y="5903845"/>
            <a:ext cx="661357" cy="2971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dirty="0">
                <a:solidFill>
                  <a:sysClr val="windowText" lastClr="000000"/>
                </a:solidFill>
              </a:rPr>
              <a:t>ｸﾗｳﾄﾞｻｲﾝ</a:t>
            </a:r>
            <a:endParaRPr lang="en-US" altLang="ja-JP" sz="1000" dirty="0">
              <a:solidFill>
                <a:sysClr val="windowText" lastClr="000000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6FC70E9-184B-9BE9-D823-4CA134F98C57}"/>
              </a:ext>
            </a:extLst>
          </p:cNvPr>
          <p:cNvSpPr/>
          <p:nvPr/>
        </p:nvSpPr>
        <p:spPr>
          <a:xfrm>
            <a:off x="1284792" y="5533103"/>
            <a:ext cx="861067" cy="3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オフラインバックアップ</a:t>
            </a:r>
            <a:r>
              <a:rPr lang="en-US" altLang="ja-JP" sz="1000" b="1" dirty="0">
                <a:solidFill>
                  <a:sysClr val="windowText" lastClr="000000"/>
                </a:solidFill>
              </a:rPr>
              <a:t>Rubrik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3F50854-B87E-22E5-76E5-E9D2BED00437}"/>
              </a:ext>
            </a:extLst>
          </p:cNvPr>
          <p:cNvSpPr/>
          <p:nvPr/>
        </p:nvSpPr>
        <p:spPr>
          <a:xfrm>
            <a:off x="426448" y="934007"/>
            <a:ext cx="75172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出張管理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BTOL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D863668-7F71-14F1-38AF-BA3CF68D9EEC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02310" y="1303339"/>
            <a:ext cx="923473" cy="178069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A69E5DC-1AA1-51FF-3290-024F3A673D41}"/>
              </a:ext>
            </a:extLst>
          </p:cNvPr>
          <p:cNvSpPr/>
          <p:nvPr/>
        </p:nvSpPr>
        <p:spPr>
          <a:xfrm>
            <a:off x="4379686" y="1719003"/>
            <a:ext cx="1260000" cy="4711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年調管理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ｵﾌｨｽｽﾃｰｼｮﾝ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F0D35A02-F6BF-8CE4-2FB5-E817EB8D7582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3992417" y="1954571"/>
            <a:ext cx="387269" cy="7857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AD34096-855B-D3F0-D0DA-BCD170EFD52A}"/>
              </a:ext>
            </a:extLst>
          </p:cNvPr>
          <p:cNvSpPr/>
          <p:nvPr/>
        </p:nvSpPr>
        <p:spPr>
          <a:xfrm>
            <a:off x="3254357" y="1422639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MJS</a:t>
            </a:r>
            <a:r>
              <a:rPr lang="ja-JP" altLang="en-US" sz="1200" dirty="0">
                <a:solidFill>
                  <a:schemeClr val="tx1"/>
                </a:solidFill>
              </a:rPr>
              <a:t>税務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759FD5F-E514-2BC5-F1FD-ECE315429654}"/>
              </a:ext>
            </a:extLst>
          </p:cNvPr>
          <p:cNvSpPr/>
          <p:nvPr/>
        </p:nvSpPr>
        <p:spPr>
          <a:xfrm>
            <a:off x="4452324" y="4578485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活動履歴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F0DE222B-CD51-7557-2633-FB2F03D36EFB}"/>
              </a:ext>
            </a:extLst>
          </p:cNvPr>
          <p:cNvCxnSpPr>
            <a:cxnSpLocks/>
            <a:stCxn id="215" idx="3"/>
            <a:endCxn id="38" idx="1"/>
          </p:cNvCxnSpPr>
          <p:nvPr/>
        </p:nvCxnSpPr>
        <p:spPr>
          <a:xfrm flipV="1">
            <a:off x="4247205" y="4722485"/>
            <a:ext cx="205119" cy="11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3D78924A-BD60-18AA-5451-E9935CF96F59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>
          <a:xfrm flipV="1">
            <a:off x="4218405" y="5698702"/>
            <a:ext cx="1286056" cy="1031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6578DE26-82FD-AA9D-9EFB-46EA3D4760E4}"/>
              </a:ext>
            </a:extLst>
          </p:cNvPr>
          <p:cNvSpPr/>
          <p:nvPr/>
        </p:nvSpPr>
        <p:spPr>
          <a:xfrm>
            <a:off x="8723780" y="3209427"/>
            <a:ext cx="741330" cy="561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イカリプラス</a:t>
            </a:r>
            <a:endParaRPr lang="ja-JP" altLang="en-US" sz="800" b="1" dirty="0">
              <a:solidFill>
                <a:sysClr val="windowText" lastClr="000000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FAE3E5A-84B0-6D07-B7CC-B9E5ACB48CBA}"/>
              </a:ext>
            </a:extLst>
          </p:cNvPr>
          <p:cNvSpPr/>
          <p:nvPr/>
        </p:nvSpPr>
        <p:spPr>
          <a:xfrm>
            <a:off x="7974579" y="6201308"/>
            <a:ext cx="1091439" cy="2392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ファイル管理</a:t>
            </a:r>
            <a:r>
              <a:rPr lang="en-US" altLang="ja-JP" sz="1000" b="1" dirty="0">
                <a:solidFill>
                  <a:sysClr val="windowText" lastClr="000000"/>
                </a:solidFill>
              </a:rPr>
              <a:t>box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862AF2CB-D499-5B47-4509-6A56B293AADD}"/>
              </a:ext>
            </a:extLst>
          </p:cNvPr>
          <p:cNvSpPr/>
          <p:nvPr/>
        </p:nvSpPr>
        <p:spPr>
          <a:xfrm>
            <a:off x="1277756" y="5881910"/>
            <a:ext cx="895902" cy="3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dirty="0">
                <a:solidFill>
                  <a:sysClr val="windowText" lastClr="000000"/>
                </a:solidFill>
              </a:rPr>
              <a:t>Office365</a:t>
            </a: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メール、</a:t>
            </a:r>
            <a:r>
              <a:rPr lang="en-US" altLang="ja-JP" sz="1000" b="1" dirty="0">
                <a:solidFill>
                  <a:sysClr val="windowText" lastClr="000000"/>
                </a:solidFill>
              </a:rPr>
              <a:t>Teams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3032BF6-A182-EFCE-3A3C-D653744D9539}"/>
              </a:ext>
            </a:extLst>
          </p:cNvPr>
          <p:cNvSpPr/>
          <p:nvPr/>
        </p:nvSpPr>
        <p:spPr>
          <a:xfrm>
            <a:off x="5026854" y="6535977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リーガルチェック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AE1512E7-8768-4546-F757-D83248CDA80F}"/>
              </a:ext>
            </a:extLst>
          </p:cNvPr>
          <p:cNvSpPr/>
          <p:nvPr/>
        </p:nvSpPr>
        <p:spPr>
          <a:xfrm>
            <a:off x="2658635" y="6246456"/>
            <a:ext cx="705600" cy="268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ＺＯＯＭ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A7074836-7541-CBBB-EF90-EA19E033B249}"/>
              </a:ext>
            </a:extLst>
          </p:cNvPr>
          <p:cNvSpPr/>
          <p:nvPr/>
        </p:nvSpPr>
        <p:spPr>
          <a:xfrm>
            <a:off x="1277801" y="6516098"/>
            <a:ext cx="705600" cy="3418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zaico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7957B940-277F-2840-E14F-06F6BC4DB1B1}"/>
              </a:ext>
            </a:extLst>
          </p:cNvPr>
          <p:cNvSpPr/>
          <p:nvPr/>
        </p:nvSpPr>
        <p:spPr>
          <a:xfrm>
            <a:off x="4339953" y="6201308"/>
            <a:ext cx="678954" cy="3011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Amazon</a:t>
            </a: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ﾋﾞｼﾞﾈｽ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C2FA829B-ACCF-3811-8660-AAD203A6A0E9}"/>
              </a:ext>
            </a:extLst>
          </p:cNvPr>
          <p:cNvSpPr/>
          <p:nvPr/>
        </p:nvSpPr>
        <p:spPr>
          <a:xfrm>
            <a:off x="5799395" y="5852806"/>
            <a:ext cx="649527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ゲンコネ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6E4A7FBF-3DC0-0E4B-735A-6F293BB4495F}"/>
              </a:ext>
            </a:extLst>
          </p:cNvPr>
          <p:cNvSpPr/>
          <p:nvPr/>
        </p:nvSpPr>
        <p:spPr>
          <a:xfrm>
            <a:off x="3434762" y="6551613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文賢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D7942898-C821-FCFA-99AC-DF46FCE06531}"/>
              </a:ext>
            </a:extLst>
          </p:cNvPr>
          <p:cNvSpPr/>
          <p:nvPr/>
        </p:nvSpPr>
        <p:spPr>
          <a:xfrm>
            <a:off x="1283917" y="4814106"/>
            <a:ext cx="877261" cy="3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dirty="0">
                <a:solidFill>
                  <a:sysClr val="windowText" lastClr="000000"/>
                </a:solidFill>
              </a:rPr>
              <a:t>ID</a:t>
            </a:r>
            <a:r>
              <a:rPr lang="ja-JP" altLang="en-US" sz="1000" dirty="0">
                <a:solidFill>
                  <a:sysClr val="windowText" lastClr="000000"/>
                </a:solidFill>
              </a:rPr>
              <a:t>管理</a:t>
            </a:r>
            <a:endParaRPr lang="en-US" altLang="ja-JP" sz="1000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en-US" altLang="ja-JP" sz="1000" dirty="0" err="1">
                <a:solidFill>
                  <a:sysClr val="windowText" lastClr="000000"/>
                </a:solidFill>
              </a:rPr>
              <a:t>Activedirectory</a:t>
            </a:r>
            <a:endParaRPr lang="en-US" altLang="ja-JP" sz="1000" dirty="0">
              <a:solidFill>
                <a:sysClr val="windowText" lastClr="000000"/>
              </a:solidFill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139CB6AC-B2A6-F93B-7A4D-AF41DA8FC419}"/>
              </a:ext>
            </a:extLst>
          </p:cNvPr>
          <p:cNvSpPr/>
          <p:nvPr/>
        </p:nvSpPr>
        <p:spPr>
          <a:xfrm>
            <a:off x="8789583" y="5122147"/>
            <a:ext cx="686167" cy="2647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P-scan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7254853F-9838-FD58-40C0-626027560AFC}"/>
              </a:ext>
            </a:extLst>
          </p:cNvPr>
          <p:cNvSpPr/>
          <p:nvPr/>
        </p:nvSpPr>
        <p:spPr>
          <a:xfrm>
            <a:off x="1564681" y="4219460"/>
            <a:ext cx="677892" cy="3879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SSO</a:t>
            </a: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Cloud Gate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2516EBDD-93E7-6F69-3A50-4FD66C6E4C08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1722548" y="4634106"/>
            <a:ext cx="184801" cy="18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カギ線コネクタ 392">
            <a:extLst>
              <a:ext uri="{FF2B5EF4-FFF2-40B4-BE49-F238E27FC236}">
                <a16:creationId xmlns:a16="http://schemas.microsoft.com/office/drawing/2014/main" id="{AC97FF05-D826-0EA3-B5BE-9290816BA78A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7655501" y="1654679"/>
            <a:ext cx="1907813" cy="1166825"/>
          </a:xfrm>
          <a:prstGeom prst="bentConnector3">
            <a:avLst>
              <a:gd name="adj1" fmla="val -59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3E5EBE9-121B-7470-3890-782E2259A38C}"/>
              </a:ext>
            </a:extLst>
          </p:cNvPr>
          <p:cNvSpPr/>
          <p:nvPr/>
        </p:nvSpPr>
        <p:spPr>
          <a:xfrm>
            <a:off x="3176972" y="4916678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ﾁｬｯﾄﾎﾞｯﾄ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BF7E832C-535F-AE4D-33AC-1119D8A3E0CA}"/>
              </a:ext>
            </a:extLst>
          </p:cNvPr>
          <p:cNvSpPr/>
          <p:nvPr/>
        </p:nvSpPr>
        <p:spPr>
          <a:xfrm>
            <a:off x="6362328" y="3224875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データ移動</a:t>
            </a:r>
            <a:r>
              <a:rPr lang="en-US" altLang="ja-JP" sz="900" dirty="0" err="1">
                <a:solidFill>
                  <a:schemeClr val="tx1"/>
                </a:solidFill>
              </a:rPr>
              <a:t>DataSpaider</a:t>
            </a:r>
            <a:endParaRPr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A066707C-B1E4-FD2F-EE15-D6AD981612E4}"/>
              </a:ext>
            </a:extLst>
          </p:cNvPr>
          <p:cNvSpPr/>
          <p:nvPr/>
        </p:nvSpPr>
        <p:spPr>
          <a:xfrm>
            <a:off x="8808831" y="5440851"/>
            <a:ext cx="689798" cy="293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フォームブリッジ</a:t>
            </a: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B803E53B-B377-95B6-1489-C1130F9089CA}"/>
              </a:ext>
            </a:extLst>
          </p:cNvPr>
          <p:cNvSpPr/>
          <p:nvPr/>
        </p:nvSpPr>
        <p:spPr>
          <a:xfrm>
            <a:off x="1284046" y="6240738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ﾒｰﾙｱｰｶｲﾌﾞ</a:t>
            </a: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BF9B5913-FFD7-6427-248C-BFA7A95077C1}"/>
              </a:ext>
            </a:extLst>
          </p:cNvPr>
          <p:cNvSpPr/>
          <p:nvPr/>
        </p:nvSpPr>
        <p:spPr>
          <a:xfrm>
            <a:off x="1959136" y="6238242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ﾒｰﾙ誤送信対策</a:t>
            </a: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8351A3DD-0098-674E-EDB0-3FBB9290AE6D}"/>
              </a:ext>
            </a:extLst>
          </p:cNvPr>
          <p:cNvSpPr/>
          <p:nvPr/>
        </p:nvSpPr>
        <p:spPr>
          <a:xfrm>
            <a:off x="2651138" y="6517590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全国避難所ガイド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3FC34B81-8143-A39A-F6E8-7F6DF5B84B1A}"/>
              </a:ext>
            </a:extLst>
          </p:cNvPr>
          <p:cNvSpPr/>
          <p:nvPr/>
        </p:nvSpPr>
        <p:spPr>
          <a:xfrm>
            <a:off x="1966477" y="6525988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MANA Studio 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6E505E2D-8F64-DE5F-58E9-09B871577F96}"/>
              </a:ext>
            </a:extLst>
          </p:cNvPr>
          <p:cNvSpPr/>
          <p:nvPr/>
        </p:nvSpPr>
        <p:spPr>
          <a:xfrm>
            <a:off x="2848808" y="5877155"/>
            <a:ext cx="611404" cy="3693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無線</a:t>
            </a:r>
            <a:r>
              <a:rPr lang="en-US" altLang="ja-JP" sz="1000" dirty="0">
                <a:solidFill>
                  <a:schemeClr val="tx1"/>
                </a:solidFill>
              </a:rPr>
              <a:t>LAN 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96" name="カギ線コネクタ 58">
            <a:extLst>
              <a:ext uri="{FF2B5EF4-FFF2-40B4-BE49-F238E27FC236}">
                <a16:creationId xmlns:a16="http://schemas.microsoft.com/office/drawing/2014/main" id="{4B731EE7-244B-4872-D071-3CF205A8787B}"/>
              </a:ext>
            </a:extLst>
          </p:cNvPr>
          <p:cNvCxnSpPr>
            <a:cxnSpLocks/>
            <a:stCxn id="143" idx="0"/>
            <a:endCxn id="107" idx="1"/>
          </p:cNvCxnSpPr>
          <p:nvPr/>
        </p:nvCxnSpPr>
        <p:spPr>
          <a:xfrm rot="5400000" flipH="1" flipV="1">
            <a:off x="4580484" y="2083782"/>
            <a:ext cx="244452" cy="18841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4AD66A9-8905-8C72-AC81-D28339173581}"/>
              </a:ext>
            </a:extLst>
          </p:cNvPr>
          <p:cNvSpPr/>
          <p:nvPr/>
        </p:nvSpPr>
        <p:spPr>
          <a:xfrm>
            <a:off x="3512805" y="5348572"/>
            <a:ext cx="705600" cy="322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dirty="0">
                <a:solidFill>
                  <a:sysClr val="windowText" lastClr="000000"/>
                </a:solidFill>
              </a:rPr>
              <a:t>M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ソナー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6F4AB360-7509-ACA0-24D0-C5335EF9815A}"/>
              </a:ext>
            </a:extLst>
          </p:cNvPr>
          <p:cNvCxnSpPr>
            <a:cxnSpLocks/>
            <a:stCxn id="100" idx="3"/>
            <a:endCxn id="250" idx="1"/>
          </p:cNvCxnSpPr>
          <p:nvPr/>
        </p:nvCxnSpPr>
        <p:spPr>
          <a:xfrm>
            <a:off x="4218405" y="5509845"/>
            <a:ext cx="231782" cy="45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CCBD5732-B2B5-AF31-491D-11FE5AD7A862}"/>
              </a:ext>
            </a:extLst>
          </p:cNvPr>
          <p:cNvSpPr/>
          <p:nvPr/>
        </p:nvSpPr>
        <p:spPr>
          <a:xfrm>
            <a:off x="829849" y="4349231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スマホ管理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LanScope</a:t>
            </a:r>
            <a:r>
              <a:rPr lang="en-US" altLang="ja-JP" sz="1000" dirty="0">
                <a:solidFill>
                  <a:schemeClr val="tx1"/>
                </a:solidFill>
              </a:rPr>
              <a:t> 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CE9E0A3F-31E6-7887-51D1-B657216E6FC0}"/>
              </a:ext>
            </a:extLst>
          </p:cNvPr>
          <p:cNvSpPr/>
          <p:nvPr/>
        </p:nvSpPr>
        <p:spPr>
          <a:xfrm>
            <a:off x="5651764" y="3793525"/>
            <a:ext cx="615481" cy="3216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dirty="0">
                <a:solidFill>
                  <a:sysClr val="windowText" lastClr="000000"/>
                </a:solidFill>
              </a:rPr>
              <a:t>Web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請求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en-US" altLang="ja-JP" sz="1000" b="1" dirty="0" err="1">
                <a:solidFill>
                  <a:sysClr val="windowText" lastClr="000000"/>
                </a:solidFill>
              </a:rPr>
              <a:t>BtoB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ﾌﾟﾗ</a:t>
            </a:r>
          </a:p>
        </p:txBody>
      </p: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3F7DFFEF-21C6-3DB0-7563-B521E04C2064}"/>
              </a:ext>
            </a:extLst>
          </p:cNvPr>
          <p:cNvCxnSpPr>
            <a:cxnSpLocks/>
            <a:stCxn id="146" idx="3"/>
            <a:endCxn id="122" idx="1"/>
          </p:cNvCxnSpPr>
          <p:nvPr/>
        </p:nvCxnSpPr>
        <p:spPr>
          <a:xfrm flipV="1">
            <a:off x="4113437" y="3954372"/>
            <a:ext cx="1538327" cy="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9AC6BF0-ACED-628A-AE4E-4F5DAA22E08F}"/>
              </a:ext>
            </a:extLst>
          </p:cNvPr>
          <p:cNvSpPr/>
          <p:nvPr/>
        </p:nvSpPr>
        <p:spPr>
          <a:xfrm>
            <a:off x="8318564" y="6517590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メルマガ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WebCAS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F1B54FA4-9556-C45B-51D7-86C040216280}"/>
              </a:ext>
            </a:extLst>
          </p:cNvPr>
          <p:cNvCxnSpPr>
            <a:cxnSpLocks/>
            <a:stCxn id="111" idx="1"/>
          </p:cNvCxnSpPr>
          <p:nvPr/>
        </p:nvCxnSpPr>
        <p:spPr>
          <a:xfrm flipH="1">
            <a:off x="5177244" y="4985056"/>
            <a:ext cx="1063193" cy="1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CB142DA3-18E7-915F-4E15-7813DD478737}"/>
              </a:ext>
            </a:extLst>
          </p:cNvPr>
          <p:cNvSpPr/>
          <p:nvPr/>
        </p:nvSpPr>
        <p:spPr>
          <a:xfrm>
            <a:off x="109737" y="3533674"/>
            <a:ext cx="1116000" cy="4735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情報分析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 err="1">
                <a:solidFill>
                  <a:sysClr val="windowText" lastClr="000000"/>
                </a:solidFill>
              </a:rPr>
              <a:t>PowerBI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F63D843-2F5B-61BA-FC97-D4F341766FE7}"/>
              </a:ext>
            </a:extLst>
          </p:cNvPr>
          <p:cNvSpPr/>
          <p:nvPr/>
        </p:nvSpPr>
        <p:spPr>
          <a:xfrm>
            <a:off x="5713707" y="6525210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社宅ﾏﾈｰｼﾞｬｰﾚｵﾊﾟﾚｽ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D66CF2F-732D-4D65-A542-3FD7F8F355AD}"/>
              </a:ext>
            </a:extLst>
          </p:cNvPr>
          <p:cNvSpPr/>
          <p:nvPr/>
        </p:nvSpPr>
        <p:spPr>
          <a:xfrm>
            <a:off x="5026854" y="6216308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保険管理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D1</a:t>
            </a:r>
            <a:r>
              <a:rPr lang="ja-JP" altLang="en-US" sz="1000" dirty="0">
                <a:solidFill>
                  <a:schemeClr val="tx1"/>
                </a:solidFill>
              </a:rPr>
              <a:t>ｵﾌｨｽ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F8D4381-E54D-7250-C85E-988165D1D6EA}"/>
              </a:ext>
            </a:extLst>
          </p:cNvPr>
          <p:cNvSpPr/>
          <p:nvPr/>
        </p:nvSpPr>
        <p:spPr>
          <a:xfrm>
            <a:off x="6448651" y="6201308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ﾀﾚﾏﾈ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HRBrain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018C59B-3017-66E0-0878-1A998FD43472}"/>
              </a:ext>
            </a:extLst>
          </p:cNvPr>
          <p:cNvSpPr/>
          <p:nvPr/>
        </p:nvSpPr>
        <p:spPr>
          <a:xfrm>
            <a:off x="5713707" y="6217424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休職者管理</a:t>
            </a:r>
            <a:r>
              <a:rPr lang="en-US" altLang="ja-JP" sz="1000" dirty="0">
                <a:solidFill>
                  <a:schemeClr val="tx1"/>
                </a:solidFill>
              </a:rPr>
              <a:t>HARMONY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8A19946-8F38-74B4-CDAF-619E571E09CA}"/>
              </a:ext>
            </a:extLst>
          </p:cNvPr>
          <p:cNvSpPr/>
          <p:nvPr/>
        </p:nvSpPr>
        <p:spPr>
          <a:xfrm>
            <a:off x="7120443" y="6205007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組織向上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Wevox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1EE1F90-E4CA-CE80-47E5-ACC077B551D6}"/>
              </a:ext>
            </a:extLst>
          </p:cNvPr>
          <p:cNvSpPr/>
          <p:nvPr/>
        </p:nvSpPr>
        <p:spPr>
          <a:xfrm>
            <a:off x="7127480" y="6511164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採用管理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sonarATS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8688E06-2187-62D3-E02F-F7DF03736DB8}"/>
              </a:ext>
            </a:extLst>
          </p:cNvPr>
          <p:cNvSpPr/>
          <p:nvPr/>
        </p:nvSpPr>
        <p:spPr>
          <a:xfrm>
            <a:off x="9004742" y="6511599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来場者管理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E-VE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EEDBBA0-7D2B-B3AE-FFD0-8C90DC6B7E3D}"/>
              </a:ext>
            </a:extLst>
          </p:cNvPr>
          <p:cNvSpPr/>
          <p:nvPr/>
        </p:nvSpPr>
        <p:spPr>
          <a:xfrm>
            <a:off x="7122462" y="5831855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動画管理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Vimeo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3089B5E2-12C1-4633-3E5C-91D6122A2792}"/>
              </a:ext>
            </a:extLst>
          </p:cNvPr>
          <p:cNvSpPr/>
          <p:nvPr/>
        </p:nvSpPr>
        <p:spPr>
          <a:xfrm>
            <a:off x="9088060" y="6141586"/>
            <a:ext cx="705600" cy="322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ホームページ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306C66BF-C565-1F26-1622-03795B8E41F1}"/>
              </a:ext>
            </a:extLst>
          </p:cNvPr>
          <p:cNvSpPr/>
          <p:nvPr/>
        </p:nvSpPr>
        <p:spPr>
          <a:xfrm>
            <a:off x="4375695" y="2239216"/>
            <a:ext cx="9521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入出金管理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ｱﾄﾞﾊﾞﾝｽﾄｼｭｰﾀｰ</a:t>
            </a:r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2A606551-5B4B-5E95-CDD5-78FC3135EDB7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4851778" y="2608548"/>
            <a:ext cx="367511" cy="848662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9F00612B-B80E-AF38-117A-7D64C6BC8F6D}"/>
              </a:ext>
            </a:extLst>
          </p:cNvPr>
          <p:cNvSpPr/>
          <p:nvPr/>
        </p:nvSpPr>
        <p:spPr>
          <a:xfrm>
            <a:off x="6420370" y="5857991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ClipChamp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6F05ACA9-46B4-3651-335A-14D8E90A7066}"/>
              </a:ext>
            </a:extLst>
          </p:cNvPr>
          <p:cNvSpPr/>
          <p:nvPr/>
        </p:nvSpPr>
        <p:spPr>
          <a:xfrm>
            <a:off x="111885" y="4078536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Docomo</a:t>
            </a: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ﾋﾞｼﾞﾈｽ</a:t>
            </a: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B1E5F355-A4EB-278F-F90E-7D9410A3E855}"/>
              </a:ext>
            </a:extLst>
          </p:cNvPr>
          <p:cNvSpPr/>
          <p:nvPr/>
        </p:nvSpPr>
        <p:spPr>
          <a:xfrm>
            <a:off x="104571" y="4359265"/>
            <a:ext cx="727054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Smart</a:t>
            </a: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ｱﾄﾞﾚｽ帳</a:t>
            </a: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4CC0378-26A8-9F3D-46C7-24F67661C5FA}"/>
              </a:ext>
            </a:extLst>
          </p:cNvPr>
          <p:cNvSpPr/>
          <p:nvPr/>
        </p:nvSpPr>
        <p:spPr>
          <a:xfrm>
            <a:off x="7292515" y="5350377"/>
            <a:ext cx="705600" cy="322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dirty="0" err="1">
                <a:solidFill>
                  <a:sysClr val="windowText" lastClr="000000"/>
                </a:solidFill>
              </a:rPr>
              <a:t>Gusuku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ｶｽﾀﾏｲﾝ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21B96A2B-A748-81CB-A56E-7EF9DBD8FDEC}"/>
              </a:ext>
            </a:extLst>
          </p:cNvPr>
          <p:cNvSpPr/>
          <p:nvPr/>
        </p:nvSpPr>
        <p:spPr>
          <a:xfrm>
            <a:off x="2173658" y="5877155"/>
            <a:ext cx="695938" cy="3693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ｽｹｼﾞｭｰﾙ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CooKai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D1D2BB86-85C2-E26C-9424-4FF8759A0E01}"/>
              </a:ext>
            </a:extLst>
          </p:cNvPr>
          <p:cNvSpPr/>
          <p:nvPr/>
        </p:nvSpPr>
        <p:spPr>
          <a:xfrm>
            <a:off x="7302407" y="5055849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Kintone</a:t>
            </a:r>
            <a:r>
              <a:rPr lang="en-US" altLang="ja-JP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Ｋ</a:t>
            </a:r>
            <a:r>
              <a:rPr lang="en-US" altLang="ja-JP" sz="1000" dirty="0">
                <a:solidFill>
                  <a:schemeClr val="tx1"/>
                </a:solidFill>
              </a:rPr>
              <a:t>Mailer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366F7FAC-055B-6556-476D-A255377AE901}"/>
              </a:ext>
            </a:extLst>
          </p:cNvPr>
          <p:cNvSpPr/>
          <p:nvPr/>
        </p:nvSpPr>
        <p:spPr>
          <a:xfrm>
            <a:off x="7294711" y="4775576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Kintone</a:t>
            </a:r>
            <a:r>
              <a:rPr lang="en-US" altLang="ja-JP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Ｋ</a:t>
            </a:r>
            <a:r>
              <a:rPr lang="en-US" altLang="ja-JP" sz="1000" dirty="0" err="1">
                <a:solidFill>
                  <a:schemeClr val="tx1"/>
                </a:solidFill>
              </a:rPr>
              <a:t>Buckup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0AAF712F-B1A5-D9BC-B3EA-AC1B316DB5CE}"/>
              </a:ext>
            </a:extLst>
          </p:cNvPr>
          <p:cNvSpPr/>
          <p:nvPr/>
        </p:nvSpPr>
        <p:spPr>
          <a:xfrm>
            <a:off x="6322207" y="980542"/>
            <a:ext cx="3479222" cy="2951811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80963A02-7F27-FEB9-DBDA-D5214CE68CFD}"/>
              </a:ext>
            </a:extLst>
          </p:cNvPr>
          <p:cNvSpPr/>
          <p:nvPr/>
        </p:nvSpPr>
        <p:spPr>
          <a:xfrm>
            <a:off x="7943712" y="2300137"/>
            <a:ext cx="678318" cy="412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r>
              <a:rPr kumimoji="1" lang="en-US" altLang="ja-JP" b="1" dirty="0">
                <a:solidFill>
                  <a:sysClr val="windowText" lastClr="000000"/>
                </a:solidFill>
              </a:rPr>
              <a:t>AWS</a:t>
            </a:r>
            <a:endParaRPr kumimoji="1" lang="ja-JP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A3A36E2-8D3F-0663-FBFF-3598B872E38C}"/>
              </a:ext>
            </a:extLst>
          </p:cNvPr>
          <p:cNvSpPr/>
          <p:nvPr/>
        </p:nvSpPr>
        <p:spPr>
          <a:xfrm>
            <a:off x="8576331" y="3756443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メール送信</a:t>
            </a:r>
            <a:r>
              <a:rPr lang="en-US" altLang="ja-JP" sz="1000" dirty="0">
                <a:solidFill>
                  <a:schemeClr val="tx1"/>
                </a:solidFill>
              </a:rPr>
              <a:t>SendGrid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46B8E8B-5BC5-38F2-379B-19C564B2869C}"/>
              </a:ext>
            </a:extLst>
          </p:cNvPr>
          <p:cNvSpPr/>
          <p:nvPr/>
        </p:nvSpPr>
        <p:spPr>
          <a:xfrm>
            <a:off x="3431027" y="6273524"/>
            <a:ext cx="727054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AI</a:t>
            </a:r>
            <a:r>
              <a:rPr lang="ja-JP" altLang="en-US" sz="1000" dirty="0">
                <a:solidFill>
                  <a:schemeClr val="tx1"/>
                </a:solidFill>
              </a:rPr>
              <a:t>ﾅﾚｰｼｮﾝ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VoiceSpace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32EC8C9-10FC-596D-EFFF-BCFE7CC29B91}"/>
              </a:ext>
            </a:extLst>
          </p:cNvPr>
          <p:cNvSpPr/>
          <p:nvPr/>
        </p:nvSpPr>
        <p:spPr>
          <a:xfrm>
            <a:off x="4113437" y="6550995"/>
            <a:ext cx="705600" cy="306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印刷発注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Vanfu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F3920E6-97CC-9C31-53D4-982870E65072}"/>
              </a:ext>
            </a:extLst>
          </p:cNvPr>
          <p:cNvSpPr/>
          <p:nvPr/>
        </p:nvSpPr>
        <p:spPr>
          <a:xfrm>
            <a:off x="2414859" y="661393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ﾓﾉﾀﾛｳ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E639E58-8A5E-57CC-9AA8-6A69C2D5FE9E}"/>
              </a:ext>
            </a:extLst>
          </p:cNvPr>
          <p:cNvSpPr/>
          <p:nvPr/>
        </p:nvSpPr>
        <p:spPr>
          <a:xfrm>
            <a:off x="4514123" y="653134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アゼアス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DB4DAC8-9BFB-05A2-6BC0-C2FD3BE201AA}"/>
              </a:ext>
            </a:extLst>
          </p:cNvPr>
          <p:cNvSpPr/>
          <p:nvPr/>
        </p:nvSpPr>
        <p:spPr>
          <a:xfrm>
            <a:off x="3805281" y="663077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アズワン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66A9C50-14AA-3C2E-8C3F-F59AFFC986C2}"/>
              </a:ext>
            </a:extLst>
          </p:cNvPr>
          <p:cNvSpPr/>
          <p:nvPr/>
        </p:nvSpPr>
        <p:spPr>
          <a:xfrm>
            <a:off x="3114448" y="666154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トラスコ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03CA2E5-D27E-00BA-2C3F-BF4AD5ED89B5}"/>
              </a:ext>
            </a:extLst>
          </p:cNvPr>
          <p:cNvSpPr/>
          <p:nvPr/>
        </p:nvSpPr>
        <p:spPr>
          <a:xfrm>
            <a:off x="3259326" y="1103249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e-TAX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36D828C0-2E64-8387-C902-C5435D4251D4}"/>
              </a:ext>
            </a:extLst>
          </p:cNvPr>
          <p:cNvSpPr/>
          <p:nvPr/>
        </p:nvSpPr>
        <p:spPr>
          <a:xfrm>
            <a:off x="821887" y="4068093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Big-IP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EC309CC-66BE-3542-AB4F-5D1145DC493B}"/>
              </a:ext>
            </a:extLst>
          </p:cNvPr>
          <p:cNvSpPr/>
          <p:nvPr/>
        </p:nvSpPr>
        <p:spPr>
          <a:xfrm>
            <a:off x="1710172" y="661393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ｵﾝﾃﾞﾏﾝﾄﾞ</a:t>
            </a:r>
            <a:r>
              <a:rPr lang="en-US" altLang="ja-JP" sz="1200" dirty="0">
                <a:solidFill>
                  <a:schemeClr val="tx1"/>
                </a:solidFill>
              </a:rPr>
              <a:t>MPM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E8323B6B-7E51-514D-6495-9BE0630CC644}"/>
              </a:ext>
            </a:extLst>
          </p:cNvPr>
          <p:cNvSpPr/>
          <p:nvPr/>
        </p:nvSpPr>
        <p:spPr>
          <a:xfrm>
            <a:off x="1709135" y="998381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CAD</a:t>
            </a:r>
            <a:r>
              <a:rPr lang="ja-JP" altLang="en-US" sz="1000" dirty="0">
                <a:solidFill>
                  <a:schemeClr val="tx1"/>
                </a:solidFill>
              </a:rPr>
              <a:t>ソフト</a:t>
            </a:r>
            <a:r>
              <a:rPr lang="en-US" altLang="ja-JP" sz="1000" dirty="0">
                <a:solidFill>
                  <a:schemeClr val="tx1"/>
                </a:solidFill>
              </a:rPr>
              <a:t>SolidWorks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192988D9-BA40-90D2-88AC-7042B0C25F82}"/>
              </a:ext>
            </a:extLst>
          </p:cNvPr>
          <p:cNvSpPr/>
          <p:nvPr/>
        </p:nvSpPr>
        <p:spPr>
          <a:xfrm>
            <a:off x="2423061" y="983687"/>
            <a:ext cx="7056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360</a:t>
            </a:r>
            <a:r>
              <a:rPr lang="ja-JP" altLang="en-US" sz="1000" dirty="0">
                <a:solidFill>
                  <a:schemeClr val="tx1"/>
                </a:solidFill>
              </a:rPr>
              <a:t>ｶﾒﾗ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Theta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375CC9B4-7302-882E-B8DC-B81223F19A3D}"/>
              </a:ext>
            </a:extLst>
          </p:cNvPr>
          <p:cNvSpPr/>
          <p:nvPr/>
        </p:nvSpPr>
        <p:spPr>
          <a:xfrm>
            <a:off x="4351620" y="5898855"/>
            <a:ext cx="661357" cy="2971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dirty="0">
                <a:solidFill>
                  <a:sysClr val="windowText" lastClr="000000"/>
                </a:solidFill>
              </a:rPr>
              <a:t>契約書管理</a:t>
            </a:r>
            <a:r>
              <a:rPr lang="en-US" altLang="ja-JP" sz="1000" dirty="0">
                <a:solidFill>
                  <a:sysClr val="windowText" lastClr="000000"/>
                </a:solidFill>
              </a:rPr>
              <a:t>HUBBLE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765CD083-0E0A-9D1E-8D3E-268744293A2B}"/>
              </a:ext>
            </a:extLst>
          </p:cNvPr>
          <p:cNvSpPr/>
          <p:nvPr/>
        </p:nvSpPr>
        <p:spPr>
          <a:xfrm>
            <a:off x="8142004" y="5442893"/>
            <a:ext cx="661357" cy="2971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dirty="0">
                <a:solidFill>
                  <a:sysClr val="windowText" lastClr="000000"/>
                </a:solidFill>
              </a:rPr>
              <a:t>PDF</a:t>
            </a:r>
            <a:r>
              <a:rPr lang="ja-JP" altLang="en-US" sz="1000" dirty="0">
                <a:solidFill>
                  <a:sysClr val="windowText" lastClr="000000"/>
                </a:solidFill>
              </a:rPr>
              <a:t>生成</a:t>
            </a:r>
            <a:r>
              <a:rPr lang="en-US" altLang="ja-JP" sz="1000" dirty="0" err="1">
                <a:solidFill>
                  <a:sysClr val="windowText" lastClr="000000"/>
                </a:solidFill>
              </a:rPr>
              <a:t>Repoton</a:t>
            </a:r>
            <a:endParaRPr lang="en-US" altLang="ja-JP" sz="1000" dirty="0">
              <a:solidFill>
                <a:sysClr val="windowText" lastClr="000000"/>
              </a:solidFill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25D3E075-AC9D-431B-E8D8-E2877C1803D6}"/>
              </a:ext>
            </a:extLst>
          </p:cNvPr>
          <p:cNvSpPr/>
          <p:nvPr/>
        </p:nvSpPr>
        <p:spPr>
          <a:xfrm>
            <a:off x="567415" y="4815760"/>
            <a:ext cx="705600" cy="3492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ｳｲﾙｽ対策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 err="1">
                <a:solidFill>
                  <a:schemeClr val="tx1"/>
                </a:solidFill>
              </a:rPr>
              <a:t>WithSecure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DAC070CC-4528-D8DC-6E92-7ABB4C7E02E1}"/>
              </a:ext>
            </a:extLst>
          </p:cNvPr>
          <p:cNvSpPr/>
          <p:nvPr/>
        </p:nvSpPr>
        <p:spPr>
          <a:xfrm>
            <a:off x="551910" y="5176763"/>
            <a:ext cx="717906" cy="3520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メール対策</a:t>
            </a:r>
            <a:r>
              <a:rPr lang="en-US" altLang="ja-JP" sz="1000" dirty="0" err="1">
                <a:solidFill>
                  <a:schemeClr val="tx1"/>
                </a:solidFill>
              </a:rPr>
              <a:t>MSDefender</a:t>
            </a:r>
            <a:endParaRPr lang="ja-JP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6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2.2 </a:t>
            </a:r>
            <a:r>
              <a:rPr lang="ja-JP" altLang="en-US" dirty="0"/>
              <a:t>インタビュー結果サマリ｜③現状可視化［システム構成］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>
          <a:xfrm>
            <a:off x="92460" y="656692"/>
            <a:ext cx="9757083" cy="323850"/>
          </a:xfrm>
        </p:spPr>
        <p:txBody>
          <a:bodyPr/>
          <a:lstStyle/>
          <a:p>
            <a:r>
              <a:rPr lang="ja-JP" altLang="en-US" dirty="0"/>
              <a:t>システム構成から見える問題点を可視化しました。</a:t>
            </a:r>
          </a:p>
        </p:txBody>
      </p:sp>
      <p:sp>
        <p:nvSpPr>
          <p:cNvPr id="95" name="正方形/長方形 94"/>
          <p:cNvSpPr/>
          <p:nvPr/>
        </p:nvSpPr>
        <p:spPr>
          <a:xfrm>
            <a:off x="7160259" y="917831"/>
            <a:ext cx="2626944" cy="153238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/>
          <p:cNvSpPr/>
          <p:nvPr/>
        </p:nvSpPr>
        <p:spPr>
          <a:xfrm>
            <a:off x="8686363" y="2482191"/>
            <a:ext cx="1100840" cy="366143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</a:rPr>
              <a:t>【</a:t>
            </a:r>
            <a:r>
              <a:rPr kumimoji="1" lang="ja-JP" altLang="en-US" sz="1400" dirty="0">
                <a:solidFill>
                  <a:schemeClr val="tx1"/>
                </a:solidFill>
              </a:rPr>
              <a:t>取引先</a:t>
            </a:r>
            <a:r>
              <a:rPr kumimoji="1" lang="en-US" altLang="ja-JP" sz="1400" dirty="0">
                <a:solidFill>
                  <a:schemeClr val="tx1"/>
                </a:solidFill>
              </a:rPr>
              <a:t>】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54141" y="923668"/>
            <a:ext cx="8594021" cy="521995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ja-JP" sz="1400" dirty="0">
                <a:solidFill>
                  <a:schemeClr val="tx1"/>
                </a:solidFill>
              </a:rPr>
              <a:t>【</a:t>
            </a:r>
            <a:r>
              <a:rPr kumimoji="1" lang="ja-JP" altLang="en-US" sz="1400" dirty="0">
                <a:solidFill>
                  <a:schemeClr val="tx1"/>
                </a:solidFill>
              </a:rPr>
              <a:t>イカリ消毒</a:t>
            </a:r>
            <a:r>
              <a:rPr kumimoji="1" lang="en-US" altLang="ja-JP" sz="1400" dirty="0">
                <a:solidFill>
                  <a:schemeClr val="tx1"/>
                </a:solidFill>
              </a:rPr>
              <a:t>】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803969" y="2700271"/>
            <a:ext cx="3903402" cy="14632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総合経営管理システム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（スーパーカクテル）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648628" y="1247248"/>
            <a:ext cx="2391328" cy="120822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会計・人事・給与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 err="1">
                <a:solidFill>
                  <a:sysClr val="windowText" lastClr="000000"/>
                </a:solidFill>
              </a:rPr>
              <a:t>Galileopt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 NX-Plus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4396854" y="1247249"/>
            <a:ext cx="1260000" cy="87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勤怠システム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 err="1">
                <a:solidFill>
                  <a:sysClr val="windowText" lastClr="000000"/>
                </a:solidFill>
              </a:rPr>
              <a:t>TimePro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-VG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7979314" y="2749360"/>
            <a:ext cx="1584000" cy="33603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1200" b="1" dirty="0">
                <a:solidFill>
                  <a:sysClr val="windowText" lastClr="000000"/>
                </a:solidFill>
              </a:rPr>
              <a:t>CX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システム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982450" y="3209427"/>
            <a:ext cx="1584000" cy="56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1200" b="1" dirty="0">
                <a:solidFill>
                  <a:sysClr val="windowText" lastClr="000000"/>
                </a:solidFill>
              </a:rPr>
              <a:t>WEB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報告書</a:t>
            </a:r>
            <a:endParaRPr lang="en-US" altLang="ja-JP" sz="500" b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ja-JP" sz="1000" b="1" dirty="0">
                <a:solidFill>
                  <a:sysClr val="windowText" lastClr="000000"/>
                </a:solidFill>
              </a:rPr>
              <a:t>※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構築中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8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800" b="1" dirty="0">
                <a:solidFill>
                  <a:sysClr val="windowText" lastClr="000000"/>
                </a:solidFill>
              </a:rPr>
              <a:t>2023</a:t>
            </a:r>
            <a:r>
              <a:rPr lang="ja-JP" altLang="en-US" sz="800" b="1" dirty="0">
                <a:solidFill>
                  <a:sysClr val="windowText" lastClr="000000"/>
                </a:solidFill>
              </a:rPr>
              <a:t>年</a:t>
            </a:r>
            <a:r>
              <a:rPr lang="en-US" altLang="ja-JP" sz="800" b="1" dirty="0">
                <a:solidFill>
                  <a:sysClr val="windowText" lastClr="000000"/>
                </a:solidFill>
              </a:rPr>
              <a:t>4</a:t>
            </a:r>
            <a:r>
              <a:rPr lang="ja-JP" altLang="en-US" sz="800" b="1" dirty="0">
                <a:solidFill>
                  <a:sysClr val="windowText" lastClr="000000"/>
                </a:solidFill>
              </a:rPr>
              <a:t>月完全版リリース予定）</a:t>
            </a:r>
          </a:p>
        </p:txBody>
      </p:sp>
      <p:cxnSp>
        <p:nvCxnSpPr>
          <p:cNvPr id="22" name="直線矢印コネクタ 21"/>
          <p:cNvCxnSpPr/>
          <p:nvPr/>
        </p:nvCxnSpPr>
        <p:spPr>
          <a:xfrm flipH="1">
            <a:off x="4039956" y="1844824"/>
            <a:ext cx="356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矢印コネクタ 78"/>
          <p:cNvCxnSpPr/>
          <p:nvPr/>
        </p:nvCxnSpPr>
        <p:spPr>
          <a:xfrm flipV="1">
            <a:off x="8925048" y="3763967"/>
            <a:ext cx="4049" cy="433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正方形/長方形 105"/>
          <p:cNvSpPr/>
          <p:nvPr/>
        </p:nvSpPr>
        <p:spPr>
          <a:xfrm>
            <a:off x="1797867" y="4909441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ファイル管理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07" name="正方形/長方形 106"/>
          <p:cNvSpPr/>
          <p:nvPr/>
        </p:nvSpPr>
        <p:spPr>
          <a:xfrm>
            <a:off x="3950614" y="5702595"/>
            <a:ext cx="1046823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ｵｰﾄﾌｧｯｸｽｼｽﾃﾑ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（ﾗｲﾄﾆﾝｸﾞ</a:t>
            </a:r>
            <a:r>
              <a:rPr lang="en-US" altLang="ja-JP" sz="1000" b="1" dirty="0">
                <a:solidFill>
                  <a:sysClr val="windowText" lastClr="000000"/>
                </a:solidFill>
              </a:rPr>
              <a:t>FAX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108" name="正方形/長方形 107"/>
          <p:cNvSpPr/>
          <p:nvPr/>
        </p:nvSpPr>
        <p:spPr>
          <a:xfrm>
            <a:off x="2874523" y="4917442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グループウェア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ポータルサイト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09" name="正方形/長方形 108"/>
          <p:cNvSpPr/>
          <p:nvPr/>
        </p:nvSpPr>
        <p:spPr>
          <a:xfrm>
            <a:off x="6253584" y="5544683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社内申請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10" name="正方形/長方形 109"/>
          <p:cNvSpPr/>
          <p:nvPr/>
        </p:nvSpPr>
        <p:spPr>
          <a:xfrm>
            <a:off x="3950614" y="5309742"/>
            <a:ext cx="1046823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資産管理システム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000" b="1" dirty="0">
                <a:solidFill>
                  <a:sysClr val="windowText" lastClr="000000"/>
                </a:solidFill>
              </a:rPr>
              <a:t>SKY SEA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111" name="正方形/長方形 110"/>
          <p:cNvSpPr/>
          <p:nvPr/>
        </p:nvSpPr>
        <p:spPr>
          <a:xfrm>
            <a:off x="6253584" y="5107057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商品データベース</a:t>
            </a:r>
          </a:p>
        </p:txBody>
      </p:sp>
      <p:sp>
        <p:nvSpPr>
          <p:cNvPr id="162" name="正方形/長方形 161"/>
          <p:cNvSpPr/>
          <p:nvPr/>
        </p:nvSpPr>
        <p:spPr>
          <a:xfrm>
            <a:off x="1725783" y="176874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財務会計</a:t>
            </a:r>
          </a:p>
        </p:txBody>
      </p:sp>
      <p:sp>
        <p:nvSpPr>
          <p:cNvPr id="163" name="正方形/長方形 162"/>
          <p:cNvSpPr/>
          <p:nvPr/>
        </p:nvSpPr>
        <p:spPr>
          <a:xfrm>
            <a:off x="2486554" y="176874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人事管理</a:t>
            </a:r>
          </a:p>
        </p:txBody>
      </p:sp>
      <p:sp>
        <p:nvSpPr>
          <p:cNvPr id="167" name="正方形/長方形 166"/>
          <p:cNvSpPr/>
          <p:nvPr/>
        </p:nvSpPr>
        <p:spPr>
          <a:xfrm>
            <a:off x="3231646" y="176874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管理会計</a:t>
            </a:r>
          </a:p>
        </p:txBody>
      </p:sp>
      <p:sp>
        <p:nvSpPr>
          <p:cNvPr id="168" name="正方形/長方形 167"/>
          <p:cNvSpPr/>
          <p:nvPr/>
        </p:nvSpPr>
        <p:spPr>
          <a:xfrm>
            <a:off x="1730844" y="2095216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給与計算</a:t>
            </a:r>
          </a:p>
        </p:txBody>
      </p:sp>
      <p:sp>
        <p:nvSpPr>
          <p:cNvPr id="181" name="正方形/長方形 180"/>
          <p:cNvSpPr/>
          <p:nvPr/>
        </p:nvSpPr>
        <p:spPr>
          <a:xfrm>
            <a:off x="4672762" y="1764776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勤怠管理</a:t>
            </a:r>
          </a:p>
        </p:txBody>
      </p:sp>
      <p:cxnSp>
        <p:nvCxnSpPr>
          <p:cNvPr id="189" name="直線矢印コネクタ 188"/>
          <p:cNvCxnSpPr>
            <a:endCxn id="6" idx="2"/>
          </p:cNvCxnSpPr>
          <p:nvPr/>
        </p:nvCxnSpPr>
        <p:spPr>
          <a:xfrm flipV="1">
            <a:off x="2994963" y="2455475"/>
            <a:ext cx="0" cy="241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正方形/長方形 214"/>
          <p:cNvSpPr/>
          <p:nvPr/>
        </p:nvSpPr>
        <p:spPr>
          <a:xfrm>
            <a:off x="3950614" y="4916643"/>
            <a:ext cx="1046823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企業情報管理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000" b="1" dirty="0" err="1">
                <a:solidFill>
                  <a:sysClr val="windowText" lastClr="000000"/>
                </a:solidFill>
              </a:rPr>
              <a:t>uSonar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）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16" name="正方形/長方形 215"/>
          <p:cNvSpPr/>
          <p:nvPr/>
        </p:nvSpPr>
        <p:spPr>
          <a:xfrm>
            <a:off x="2874523" y="5696319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規程文書版管理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17" name="正方形/長方形 216"/>
          <p:cNvSpPr/>
          <p:nvPr/>
        </p:nvSpPr>
        <p:spPr>
          <a:xfrm>
            <a:off x="2874523" y="5312187"/>
            <a:ext cx="104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 dirty="0">
                <a:solidFill>
                  <a:sysClr val="windowText" lastClr="000000"/>
                </a:solidFill>
              </a:rPr>
              <a:t>端末制御</a:t>
            </a:r>
            <a:endParaRPr lang="en-US" altLang="ja-JP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9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NetScapeKOBAN</a:t>
            </a:r>
            <a:r>
              <a:rPr lang="ja-JP" altLang="en-US" sz="9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6359996" y="1038022"/>
            <a:ext cx="1321200" cy="82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検査業務システム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（環境分析）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196" name="正方形/長方形 195"/>
          <p:cNvSpPr/>
          <p:nvPr/>
        </p:nvSpPr>
        <p:spPr>
          <a:xfrm>
            <a:off x="6666259" y="1489498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検査結果</a:t>
            </a:r>
          </a:p>
        </p:txBody>
      </p:sp>
      <p:sp>
        <p:nvSpPr>
          <p:cNvPr id="197" name="正方形/長方形 196"/>
          <p:cNvSpPr/>
          <p:nvPr/>
        </p:nvSpPr>
        <p:spPr>
          <a:xfrm>
            <a:off x="6359996" y="1891265"/>
            <a:ext cx="1321200" cy="82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検査業務システム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（微生物分析）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198" name="正方形/長方形 197"/>
          <p:cNvSpPr/>
          <p:nvPr/>
        </p:nvSpPr>
        <p:spPr>
          <a:xfrm>
            <a:off x="6666259" y="234274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検査結果</a:t>
            </a:r>
          </a:p>
        </p:txBody>
      </p:sp>
      <p:sp>
        <p:nvSpPr>
          <p:cNvPr id="199" name="正方形/長方形 198"/>
          <p:cNvSpPr/>
          <p:nvPr/>
        </p:nvSpPr>
        <p:spPr>
          <a:xfrm>
            <a:off x="6359996" y="2747485"/>
            <a:ext cx="1321200" cy="82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検査業務システム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（科学分析）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200" name="正方形/長方形 199"/>
          <p:cNvSpPr/>
          <p:nvPr/>
        </p:nvSpPr>
        <p:spPr>
          <a:xfrm>
            <a:off x="6666259" y="319896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検査結果</a:t>
            </a:r>
          </a:p>
        </p:txBody>
      </p:sp>
      <p:sp>
        <p:nvSpPr>
          <p:cNvPr id="266" name="正方形/長方形 265"/>
          <p:cNvSpPr/>
          <p:nvPr/>
        </p:nvSpPr>
        <p:spPr>
          <a:xfrm>
            <a:off x="124633" y="4654652"/>
            <a:ext cx="1584000" cy="1335249"/>
          </a:xfrm>
          <a:prstGeom prst="rect">
            <a:avLst/>
          </a:prstGeom>
          <a:pattFill prst="pct2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非システム</a:t>
            </a:r>
          </a:p>
        </p:txBody>
      </p:sp>
      <p:sp>
        <p:nvSpPr>
          <p:cNvPr id="267" name="正方形/長方形 266"/>
          <p:cNvSpPr/>
          <p:nvPr/>
        </p:nvSpPr>
        <p:spPr>
          <a:xfrm>
            <a:off x="181479" y="4954613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見積</a:t>
            </a:r>
          </a:p>
        </p:txBody>
      </p:sp>
      <p:sp>
        <p:nvSpPr>
          <p:cNvPr id="139" name="正方形/長方形 138"/>
          <p:cNvSpPr/>
          <p:nvPr/>
        </p:nvSpPr>
        <p:spPr>
          <a:xfrm>
            <a:off x="1907349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契約</a:t>
            </a:r>
          </a:p>
        </p:txBody>
      </p:sp>
      <p:sp>
        <p:nvSpPr>
          <p:cNvPr id="140" name="正方形/長方形 139"/>
          <p:cNvSpPr/>
          <p:nvPr/>
        </p:nvSpPr>
        <p:spPr>
          <a:xfrm>
            <a:off x="2657593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受注</a:t>
            </a:r>
          </a:p>
        </p:txBody>
      </p:sp>
      <p:sp>
        <p:nvSpPr>
          <p:cNvPr id="141" name="正方形/長方形 140"/>
          <p:cNvSpPr/>
          <p:nvPr/>
        </p:nvSpPr>
        <p:spPr>
          <a:xfrm>
            <a:off x="1907349" y="38134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売上</a:t>
            </a:r>
          </a:p>
        </p:txBody>
      </p:sp>
      <p:sp>
        <p:nvSpPr>
          <p:cNvPr id="142" name="正方形/長方形 141"/>
          <p:cNvSpPr/>
          <p:nvPr/>
        </p:nvSpPr>
        <p:spPr>
          <a:xfrm>
            <a:off x="2657593" y="38134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仕入</a:t>
            </a:r>
          </a:p>
        </p:txBody>
      </p:sp>
      <p:sp>
        <p:nvSpPr>
          <p:cNvPr id="143" name="正方形/長方形 142"/>
          <p:cNvSpPr/>
          <p:nvPr/>
        </p:nvSpPr>
        <p:spPr>
          <a:xfrm>
            <a:off x="3407837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発注</a:t>
            </a:r>
          </a:p>
        </p:txBody>
      </p:sp>
      <p:sp>
        <p:nvSpPr>
          <p:cNvPr id="144" name="正方形/長方形 143"/>
          <p:cNvSpPr/>
          <p:nvPr/>
        </p:nvSpPr>
        <p:spPr>
          <a:xfrm>
            <a:off x="1907349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出荷</a:t>
            </a:r>
          </a:p>
        </p:txBody>
      </p:sp>
      <p:sp>
        <p:nvSpPr>
          <p:cNvPr id="145" name="正方形/長方形 144"/>
          <p:cNvSpPr/>
          <p:nvPr/>
        </p:nvSpPr>
        <p:spPr>
          <a:xfrm>
            <a:off x="2657593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入荷</a:t>
            </a:r>
          </a:p>
        </p:txBody>
      </p:sp>
      <p:sp>
        <p:nvSpPr>
          <p:cNvPr id="146" name="正方形/長方形 145"/>
          <p:cNvSpPr/>
          <p:nvPr/>
        </p:nvSpPr>
        <p:spPr>
          <a:xfrm>
            <a:off x="3407837" y="38134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請求</a:t>
            </a:r>
          </a:p>
        </p:txBody>
      </p:sp>
      <p:sp>
        <p:nvSpPr>
          <p:cNvPr id="147" name="正方形/長方形 146"/>
          <p:cNvSpPr/>
          <p:nvPr/>
        </p:nvSpPr>
        <p:spPr>
          <a:xfrm>
            <a:off x="4158081" y="38134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売掛</a:t>
            </a:r>
          </a:p>
        </p:txBody>
      </p:sp>
      <p:sp>
        <p:nvSpPr>
          <p:cNvPr id="148" name="正方形/長方形 147"/>
          <p:cNvSpPr/>
          <p:nvPr/>
        </p:nvSpPr>
        <p:spPr>
          <a:xfrm>
            <a:off x="4158081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作業指示</a:t>
            </a:r>
          </a:p>
        </p:txBody>
      </p:sp>
      <p:sp>
        <p:nvSpPr>
          <p:cNvPr id="149" name="正方形/長方形 148"/>
          <p:cNvSpPr/>
          <p:nvPr/>
        </p:nvSpPr>
        <p:spPr>
          <a:xfrm>
            <a:off x="4908325" y="3148081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作業実績</a:t>
            </a:r>
          </a:p>
        </p:txBody>
      </p:sp>
      <p:sp>
        <p:nvSpPr>
          <p:cNvPr id="150" name="正方形/長方形 149"/>
          <p:cNvSpPr/>
          <p:nvPr/>
        </p:nvSpPr>
        <p:spPr>
          <a:xfrm>
            <a:off x="3407837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在庫</a:t>
            </a:r>
          </a:p>
        </p:txBody>
      </p:sp>
      <p:sp>
        <p:nvSpPr>
          <p:cNvPr id="151" name="正方形/長方形 150"/>
          <p:cNvSpPr/>
          <p:nvPr/>
        </p:nvSpPr>
        <p:spPr>
          <a:xfrm>
            <a:off x="4158081" y="347596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棚卸</a:t>
            </a:r>
          </a:p>
        </p:txBody>
      </p:sp>
      <p:sp>
        <p:nvSpPr>
          <p:cNvPr id="306" name="テキスト ボックス 305"/>
          <p:cNvSpPr txBox="1"/>
          <p:nvPr/>
        </p:nvSpPr>
        <p:spPr>
          <a:xfrm>
            <a:off x="3917775" y="1481650"/>
            <a:ext cx="6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勤怠</a:t>
            </a:r>
            <a:endParaRPr kumimoji="1" lang="en-US" altLang="ja-JP" sz="900" dirty="0"/>
          </a:p>
          <a:p>
            <a:pPr algn="ctr"/>
            <a:r>
              <a:rPr kumimoji="1" lang="ja-JP" altLang="en-US" sz="900" dirty="0"/>
              <a:t>情報</a:t>
            </a:r>
          </a:p>
        </p:txBody>
      </p:sp>
      <p:sp>
        <p:nvSpPr>
          <p:cNvPr id="101" name="テキスト ボックス 100"/>
          <p:cNvSpPr txBox="1"/>
          <p:nvPr/>
        </p:nvSpPr>
        <p:spPr>
          <a:xfrm>
            <a:off x="2888164" y="2452043"/>
            <a:ext cx="10827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ｼｽﾃﾑ処理情報</a:t>
            </a:r>
          </a:p>
        </p:txBody>
      </p:sp>
      <p:sp>
        <p:nvSpPr>
          <p:cNvPr id="103" name="テキスト ボックス 102"/>
          <p:cNvSpPr txBox="1"/>
          <p:nvPr/>
        </p:nvSpPr>
        <p:spPr>
          <a:xfrm>
            <a:off x="374222" y="1884003"/>
            <a:ext cx="6754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/>
              <a:t>予算</a:t>
            </a:r>
            <a:r>
              <a:rPr lang="en-US" altLang="ja-JP" sz="900" dirty="0"/>
              <a:t>,</a:t>
            </a:r>
            <a:r>
              <a:rPr lang="ja-JP" altLang="en-US" sz="900" dirty="0"/>
              <a:t>実績</a:t>
            </a:r>
            <a:endParaRPr kumimoji="1" lang="ja-JP" altLang="en-US" sz="900" dirty="0"/>
          </a:p>
        </p:txBody>
      </p:sp>
      <p:sp>
        <p:nvSpPr>
          <p:cNvPr id="11" name="正方形/長方形 10"/>
          <p:cNvSpPr/>
          <p:nvPr/>
        </p:nvSpPr>
        <p:spPr>
          <a:xfrm>
            <a:off x="7979314" y="1041200"/>
            <a:ext cx="1584000" cy="122695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>
            <a:normAutofit/>
          </a:bodyPr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トラップ工程管理ｼｽﾃﾑ</a:t>
            </a:r>
          </a:p>
        </p:txBody>
      </p:sp>
      <p:sp>
        <p:nvSpPr>
          <p:cNvPr id="210" name="正方形/長方形 209"/>
          <p:cNvSpPr/>
          <p:nvPr/>
        </p:nvSpPr>
        <p:spPr>
          <a:xfrm>
            <a:off x="8022229" y="1280655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検査依頼</a:t>
            </a:r>
          </a:p>
        </p:txBody>
      </p:sp>
      <p:sp>
        <p:nvSpPr>
          <p:cNvPr id="211" name="正方形/長方形 210"/>
          <p:cNvSpPr/>
          <p:nvPr/>
        </p:nvSpPr>
        <p:spPr>
          <a:xfrm>
            <a:off x="8783000" y="1280655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工程管理</a:t>
            </a:r>
          </a:p>
        </p:txBody>
      </p:sp>
      <p:sp>
        <p:nvSpPr>
          <p:cNvPr id="212" name="正方形/長方形 211"/>
          <p:cNvSpPr/>
          <p:nvPr/>
        </p:nvSpPr>
        <p:spPr>
          <a:xfrm>
            <a:off x="8022229" y="1614692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顧客情報</a:t>
            </a:r>
          </a:p>
        </p:txBody>
      </p:sp>
      <p:sp>
        <p:nvSpPr>
          <p:cNvPr id="213" name="正方形/長方形 212"/>
          <p:cNvSpPr/>
          <p:nvPr/>
        </p:nvSpPr>
        <p:spPr>
          <a:xfrm>
            <a:off x="8783000" y="1614692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報告書</a:t>
            </a:r>
          </a:p>
        </p:txBody>
      </p:sp>
      <p:sp>
        <p:nvSpPr>
          <p:cNvPr id="220" name="正方形/長方形 219"/>
          <p:cNvSpPr/>
          <p:nvPr/>
        </p:nvSpPr>
        <p:spPr>
          <a:xfrm>
            <a:off x="8022229" y="1943314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経費調整</a:t>
            </a:r>
          </a:p>
        </p:txBody>
      </p:sp>
      <p:sp>
        <p:nvSpPr>
          <p:cNvPr id="233" name="正方形/長方形 232"/>
          <p:cNvSpPr/>
          <p:nvPr/>
        </p:nvSpPr>
        <p:spPr>
          <a:xfrm>
            <a:off x="182733" y="527863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/>
          <a:lstStyle/>
          <a:p>
            <a:pPr algn="ctr">
              <a:lnSpc>
                <a:spcPts val="1000"/>
              </a:lnSpc>
            </a:pPr>
            <a:r>
              <a:rPr lang="ja-JP" altLang="en-US" sz="1000" dirty="0">
                <a:solidFill>
                  <a:schemeClr val="tx1"/>
                </a:solidFill>
              </a:rPr>
              <a:t>営業情報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dirty="0">
                <a:solidFill>
                  <a:schemeClr val="tx1"/>
                </a:solidFill>
              </a:rPr>
              <a:t>管理</a:t>
            </a:r>
          </a:p>
        </p:txBody>
      </p:sp>
      <p:sp>
        <p:nvSpPr>
          <p:cNvPr id="234" name="正方形/長方形 233"/>
          <p:cNvSpPr/>
          <p:nvPr/>
        </p:nvSpPr>
        <p:spPr>
          <a:xfrm>
            <a:off x="943028" y="4954613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200" dirty="0">
                <a:solidFill>
                  <a:schemeClr val="tx1"/>
                </a:solidFill>
              </a:rPr>
              <a:t>日報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7978401" y="4204135"/>
            <a:ext cx="1584000" cy="131165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異物検査システム</a:t>
            </a:r>
          </a:p>
        </p:txBody>
      </p:sp>
      <p:sp>
        <p:nvSpPr>
          <p:cNvPr id="202" name="正方形/長方形 201"/>
          <p:cNvSpPr/>
          <p:nvPr/>
        </p:nvSpPr>
        <p:spPr>
          <a:xfrm>
            <a:off x="8037613" y="4788110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顧客情報</a:t>
            </a:r>
          </a:p>
        </p:txBody>
      </p:sp>
      <p:sp>
        <p:nvSpPr>
          <p:cNvPr id="203" name="正方形/長方形 202"/>
          <p:cNvSpPr/>
          <p:nvPr/>
        </p:nvSpPr>
        <p:spPr>
          <a:xfrm>
            <a:off x="8798384" y="4454073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工程管理</a:t>
            </a:r>
          </a:p>
        </p:txBody>
      </p:sp>
      <p:sp>
        <p:nvSpPr>
          <p:cNvPr id="206" name="正方形/長方形 205"/>
          <p:cNvSpPr/>
          <p:nvPr/>
        </p:nvSpPr>
        <p:spPr>
          <a:xfrm>
            <a:off x="8037613" y="512214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経費調整</a:t>
            </a:r>
          </a:p>
        </p:txBody>
      </p:sp>
      <p:sp>
        <p:nvSpPr>
          <p:cNvPr id="207" name="正方形/長方形 206"/>
          <p:cNvSpPr/>
          <p:nvPr/>
        </p:nvSpPr>
        <p:spPr>
          <a:xfrm>
            <a:off x="8798384" y="4788110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報告書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043264" y="5626939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solidFill>
                  <a:srgbClr val="3C15FF"/>
                </a:solidFill>
              </a:rPr>
              <a:t>共通</a:t>
            </a:r>
            <a:r>
              <a:rPr lang="ja-JP" altLang="en-US" sz="1200" b="1" dirty="0">
                <a:solidFill>
                  <a:srgbClr val="3C15FF"/>
                </a:solidFill>
              </a:rPr>
              <a:t>ﾌﾟﾗｯﾄﾌｫｰﾑ</a:t>
            </a:r>
            <a:endParaRPr kumimoji="1" lang="en-US" altLang="ja-JP" sz="1200" b="1" dirty="0">
              <a:solidFill>
                <a:srgbClr val="3C15FF"/>
              </a:solidFill>
            </a:endParaRPr>
          </a:p>
          <a:p>
            <a:r>
              <a:rPr lang="ja-JP" altLang="en-US" sz="1200" b="1" dirty="0">
                <a:solidFill>
                  <a:srgbClr val="3C15FF"/>
                </a:solidFill>
              </a:rPr>
              <a:t>（</a:t>
            </a:r>
            <a:r>
              <a:rPr kumimoji="1" lang="en-US" altLang="ja-JP" sz="1200" b="1" dirty="0" err="1">
                <a:solidFill>
                  <a:srgbClr val="3C15FF"/>
                </a:solidFill>
              </a:rPr>
              <a:t>Kintone</a:t>
            </a:r>
            <a:r>
              <a:rPr kumimoji="1" lang="ja-JP" altLang="en-US" sz="1200" b="1" dirty="0">
                <a:solidFill>
                  <a:srgbClr val="3C15FF"/>
                </a:solidFill>
              </a:rPr>
              <a:t>）</a:t>
            </a:r>
          </a:p>
        </p:txBody>
      </p:sp>
      <p:cxnSp>
        <p:nvCxnSpPr>
          <p:cNvPr id="28" name="カギ線コネクタ 27"/>
          <p:cNvCxnSpPr>
            <a:stCxn id="11" idx="3"/>
            <a:endCxn id="9" idx="3"/>
          </p:cNvCxnSpPr>
          <p:nvPr/>
        </p:nvCxnSpPr>
        <p:spPr>
          <a:xfrm>
            <a:off x="9563314" y="1654679"/>
            <a:ext cx="12700" cy="126269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カギ線コネクタ 112"/>
          <p:cNvCxnSpPr>
            <a:stCxn id="13" idx="3"/>
            <a:endCxn id="10" idx="1"/>
          </p:cNvCxnSpPr>
          <p:nvPr/>
        </p:nvCxnSpPr>
        <p:spPr>
          <a:xfrm>
            <a:off x="7681196" y="1452022"/>
            <a:ext cx="301254" cy="20382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カギ線コネクタ 113"/>
          <p:cNvCxnSpPr>
            <a:stCxn id="197" idx="3"/>
            <a:endCxn id="10" idx="1"/>
          </p:cNvCxnSpPr>
          <p:nvPr/>
        </p:nvCxnSpPr>
        <p:spPr>
          <a:xfrm>
            <a:off x="7681196" y="2305265"/>
            <a:ext cx="301254" cy="11849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カギ線コネクタ 114"/>
          <p:cNvCxnSpPr>
            <a:stCxn id="199" idx="3"/>
            <a:endCxn id="10" idx="1"/>
          </p:cNvCxnSpPr>
          <p:nvPr/>
        </p:nvCxnSpPr>
        <p:spPr>
          <a:xfrm>
            <a:off x="7681196" y="3161485"/>
            <a:ext cx="301254" cy="3287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矢印コネクタ 184"/>
          <p:cNvCxnSpPr/>
          <p:nvPr/>
        </p:nvCxnSpPr>
        <p:spPr>
          <a:xfrm flipV="1">
            <a:off x="7762401" y="5025443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7" name="グループ化 186"/>
          <p:cNvGrpSpPr>
            <a:grpSpLocks noChangeAspect="1"/>
          </p:cNvGrpSpPr>
          <p:nvPr/>
        </p:nvGrpSpPr>
        <p:grpSpPr>
          <a:xfrm>
            <a:off x="7564325" y="4899204"/>
            <a:ext cx="239944" cy="239944"/>
            <a:chOff x="10029564" y="1401123"/>
            <a:chExt cx="322932" cy="322932"/>
          </a:xfrm>
        </p:grpSpPr>
        <p:sp>
          <p:nvSpPr>
            <p:cNvPr id="188" name="正方形/長方形 187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90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191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92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93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94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95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1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4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grpSp>
        <p:nvGrpSpPr>
          <p:cNvPr id="205" name="グループ化 204"/>
          <p:cNvGrpSpPr>
            <a:grpSpLocks noChangeAspect="1"/>
          </p:cNvGrpSpPr>
          <p:nvPr/>
        </p:nvGrpSpPr>
        <p:grpSpPr>
          <a:xfrm>
            <a:off x="7561224" y="5182798"/>
            <a:ext cx="239944" cy="239944"/>
            <a:chOff x="10029564" y="1401123"/>
            <a:chExt cx="322932" cy="322932"/>
          </a:xfrm>
        </p:grpSpPr>
        <p:sp>
          <p:nvSpPr>
            <p:cNvPr id="208" name="正方形/長方形 207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9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214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9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1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2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3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7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8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263" name="直線矢印コネクタ 262"/>
          <p:cNvCxnSpPr/>
          <p:nvPr/>
        </p:nvCxnSpPr>
        <p:spPr>
          <a:xfrm flipV="1">
            <a:off x="7762401" y="5299865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直線矢印コネクタ 284"/>
          <p:cNvCxnSpPr/>
          <p:nvPr/>
        </p:nvCxnSpPr>
        <p:spPr>
          <a:xfrm flipV="1">
            <a:off x="7762401" y="4735633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6" name="グループ化 285"/>
          <p:cNvGrpSpPr>
            <a:grpSpLocks noChangeAspect="1"/>
          </p:cNvGrpSpPr>
          <p:nvPr/>
        </p:nvGrpSpPr>
        <p:grpSpPr>
          <a:xfrm>
            <a:off x="7564325" y="4609394"/>
            <a:ext cx="239944" cy="239944"/>
            <a:chOff x="10029564" y="1401123"/>
            <a:chExt cx="322932" cy="322932"/>
          </a:xfrm>
        </p:grpSpPr>
        <p:sp>
          <p:nvSpPr>
            <p:cNvPr id="287" name="正方形/長方形 286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88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289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90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91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92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93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94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95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313" name="直線矢印コネクタ 312"/>
          <p:cNvCxnSpPr/>
          <p:nvPr/>
        </p:nvCxnSpPr>
        <p:spPr>
          <a:xfrm flipV="1">
            <a:off x="2368858" y="4154086"/>
            <a:ext cx="0" cy="21600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直線矢印コネクタ 313"/>
          <p:cNvCxnSpPr/>
          <p:nvPr/>
        </p:nvCxnSpPr>
        <p:spPr>
          <a:xfrm flipV="1">
            <a:off x="2760300" y="4154086"/>
            <a:ext cx="0" cy="21600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直線矢印コネクタ 314"/>
          <p:cNvCxnSpPr/>
          <p:nvPr/>
        </p:nvCxnSpPr>
        <p:spPr>
          <a:xfrm flipV="1">
            <a:off x="3155199" y="4154086"/>
            <a:ext cx="0" cy="21600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6" name="グループ化 315"/>
          <p:cNvGrpSpPr>
            <a:grpSpLocks noChangeAspect="1"/>
          </p:cNvGrpSpPr>
          <p:nvPr/>
        </p:nvGrpSpPr>
        <p:grpSpPr>
          <a:xfrm>
            <a:off x="2251987" y="4331959"/>
            <a:ext cx="239944" cy="239944"/>
            <a:chOff x="10029564" y="1401123"/>
            <a:chExt cx="322932" cy="322932"/>
          </a:xfrm>
        </p:grpSpPr>
        <p:sp>
          <p:nvSpPr>
            <p:cNvPr id="317" name="正方形/長方形 316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18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19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0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1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2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4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5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26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grpSp>
        <p:nvGrpSpPr>
          <p:cNvPr id="327" name="グループ化 326"/>
          <p:cNvGrpSpPr>
            <a:grpSpLocks noChangeAspect="1"/>
          </p:cNvGrpSpPr>
          <p:nvPr/>
        </p:nvGrpSpPr>
        <p:grpSpPr>
          <a:xfrm>
            <a:off x="2646190" y="4331959"/>
            <a:ext cx="239944" cy="239944"/>
            <a:chOff x="10029564" y="1401123"/>
            <a:chExt cx="322932" cy="322932"/>
          </a:xfrm>
        </p:grpSpPr>
        <p:sp>
          <p:nvSpPr>
            <p:cNvPr id="328" name="正方形/長方形 327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29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30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31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32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33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34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35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36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grpSp>
        <p:nvGrpSpPr>
          <p:cNvPr id="337" name="グループ化 336"/>
          <p:cNvGrpSpPr>
            <a:grpSpLocks noChangeAspect="1"/>
          </p:cNvGrpSpPr>
          <p:nvPr/>
        </p:nvGrpSpPr>
        <p:grpSpPr>
          <a:xfrm>
            <a:off x="3038328" y="4331959"/>
            <a:ext cx="239944" cy="239944"/>
            <a:chOff x="10029564" y="1401123"/>
            <a:chExt cx="322932" cy="322932"/>
          </a:xfrm>
        </p:grpSpPr>
        <p:sp>
          <p:nvSpPr>
            <p:cNvPr id="338" name="正方形/長方形 337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39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40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41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42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43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44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45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46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178" name="直線矢印コネクタ 177"/>
          <p:cNvCxnSpPr/>
          <p:nvPr/>
        </p:nvCxnSpPr>
        <p:spPr>
          <a:xfrm flipV="1">
            <a:off x="6132437" y="1294440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9" name="グループ化 178"/>
          <p:cNvGrpSpPr>
            <a:grpSpLocks noChangeAspect="1"/>
          </p:cNvGrpSpPr>
          <p:nvPr/>
        </p:nvGrpSpPr>
        <p:grpSpPr>
          <a:xfrm>
            <a:off x="5934361" y="1168201"/>
            <a:ext cx="239944" cy="239944"/>
            <a:chOff x="10029564" y="1401123"/>
            <a:chExt cx="322932" cy="322932"/>
          </a:xfrm>
        </p:grpSpPr>
        <p:sp>
          <p:nvSpPr>
            <p:cNvPr id="180" name="正方形/長方形 179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2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183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84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186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4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5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6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7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grpSp>
        <p:nvGrpSpPr>
          <p:cNvPr id="228" name="グループ化 227"/>
          <p:cNvGrpSpPr>
            <a:grpSpLocks noChangeAspect="1"/>
          </p:cNvGrpSpPr>
          <p:nvPr/>
        </p:nvGrpSpPr>
        <p:grpSpPr>
          <a:xfrm>
            <a:off x="5931260" y="1451795"/>
            <a:ext cx="239944" cy="239944"/>
            <a:chOff x="10029564" y="1401123"/>
            <a:chExt cx="322932" cy="322932"/>
          </a:xfrm>
        </p:grpSpPr>
        <p:sp>
          <p:nvSpPr>
            <p:cNvPr id="229" name="正方形/長方形 228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0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231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5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6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7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8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9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0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241" name="直線矢印コネクタ 240"/>
          <p:cNvCxnSpPr/>
          <p:nvPr/>
        </p:nvCxnSpPr>
        <p:spPr>
          <a:xfrm flipV="1">
            <a:off x="6132437" y="1568862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" name="直線矢印コネクタ 368"/>
          <p:cNvCxnSpPr/>
          <p:nvPr/>
        </p:nvCxnSpPr>
        <p:spPr>
          <a:xfrm flipV="1">
            <a:off x="6132437" y="1996410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0" name="グループ化 369"/>
          <p:cNvGrpSpPr>
            <a:grpSpLocks noChangeAspect="1"/>
          </p:cNvGrpSpPr>
          <p:nvPr/>
        </p:nvGrpSpPr>
        <p:grpSpPr>
          <a:xfrm>
            <a:off x="5934361" y="1870171"/>
            <a:ext cx="239944" cy="239944"/>
            <a:chOff x="10029564" y="1401123"/>
            <a:chExt cx="322932" cy="322932"/>
          </a:xfrm>
        </p:grpSpPr>
        <p:sp>
          <p:nvSpPr>
            <p:cNvPr id="371" name="正方形/長方形 370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72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73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4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5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6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7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8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79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390" name="直線矢印コネクタ 389"/>
          <p:cNvCxnSpPr/>
          <p:nvPr/>
        </p:nvCxnSpPr>
        <p:spPr>
          <a:xfrm flipV="1">
            <a:off x="6132437" y="2270832"/>
            <a:ext cx="2160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テキスト ボックス 243"/>
          <p:cNvSpPr txBox="1"/>
          <p:nvPr/>
        </p:nvSpPr>
        <p:spPr>
          <a:xfrm>
            <a:off x="5679933" y="1178257"/>
            <a:ext cx="323165" cy="5900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900" dirty="0"/>
              <a:t>検査依頼</a:t>
            </a:r>
          </a:p>
        </p:txBody>
      </p:sp>
      <p:sp>
        <p:nvSpPr>
          <p:cNvPr id="245" name="テキスト ボックス 244"/>
          <p:cNvSpPr txBox="1"/>
          <p:nvPr/>
        </p:nvSpPr>
        <p:spPr>
          <a:xfrm>
            <a:off x="5679933" y="1880526"/>
            <a:ext cx="323165" cy="5900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900" dirty="0"/>
              <a:t>検査依頼</a:t>
            </a:r>
          </a:p>
        </p:txBody>
      </p:sp>
      <p:sp>
        <p:nvSpPr>
          <p:cNvPr id="251" name="テキスト ボックス 250"/>
          <p:cNvSpPr txBox="1"/>
          <p:nvPr/>
        </p:nvSpPr>
        <p:spPr>
          <a:xfrm>
            <a:off x="7275211" y="4787038"/>
            <a:ext cx="323165" cy="5900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900" dirty="0"/>
              <a:t>検査依頼</a:t>
            </a:r>
          </a:p>
        </p:txBody>
      </p:sp>
      <p:sp>
        <p:nvSpPr>
          <p:cNvPr id="252" name="正方形/長方形 251"/>
          <p:cNvSpPr/>
          <p:nvPr/>
        </p:nvSpPr>
        <p:spPr>
          <a:xfrm>
            <a:off x="106275" y="2307967"/>
            <a:ext cx="1116000" cy="12171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情報分析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 err="1">
                <a:solidFill>
                  <a:sysClr val="windowText" lastClr="000000"/>
                </a:solidFill>
              </a:rPr>
              <a:t>Actionista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!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255" name="正方形/長方形 254"/>
          <p:cNvSpPr/>
          <p:nvPr/>
        </p:nvSpPr>
        <p:spPr>
          <a:xfrm>
            <a:off x="255229" y="2834382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情報分析</a:t>
            </a:r>
          </a:p>
        </p:txBody>
      </p:sp>
      <p:sp>
        <p:nvSpPr>
          <p:cNvPr id="256" name="正方形/長方形 255"/>
          <p:cNvSpPr/>
          <p:nvPr/>
        </p:nvSpPr>
        <p:spPr>
          <a:xfrm>
            <a:off x="255229" y="315959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契約検索</a:t>
            </a:r>
          </a:p>
        </p:txBody>
      </p:sp>
      <p:sp>
        <p:nvSpPr>
          <p:cNvPr id="257" name="正方形/長方形 256"/>
          <p:cNvSpPr/>
          <p:nvPr/>
        </p:nvSpPr>
        <p:spPr>
          <a:xfrm>
            <a:off x="134366" y="3680513"/>
            <a:ext cx="1116000" cy="86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情報分析</a:t>
            </a:r>
            <a:endParaRPr lang="en-US" altLang="ja-JP" sz="1200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</a:rPr>
              <a:t>（</a:t>
            </a:r>
            <a:r>
              <a:rPr lang="en-US" altLang="ja-JP" sz="1200" b="1" dirty="0">
                <a:solidFill>
                  <a:sysClr val="windowText" lastClr="000000"/>
                </a:solidFill>
              </a:rPr>
              <a:t>Tableau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）</a:t>
            </a:r>
          </a:p>
        </p:txBody>
      </p:sp>
      <p:sp>
        <p:nvSpPr>
          <p:cNvPr id="258" name="正方形/長方形 257"/>
          <p:cNvSpPr/>
          <p:nvPr/>
        </p:nvSpPr>
        <p:spPr>
          <a:xfrm>
            <a:off x="283320" y="4145070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情報分析</a:t>
            </a:r>
          </a:p>
        </p:txBody>
      </p:sp>
      <p:sp>
        <p:nvSpPr>
          <p:cNvPr id="259" name="テキスト ボックス 258"/>
          <p:cNvSpPr txBox="1"/>
          <p:nvPr/>
        </p:nvSpPr>
        <p:spPr>
          <a:xfrm>
            <a:off x="924539" y="3188013"/>
            <a:ext cx="110830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kumimoji="1" lang="ja-JP" altLang="en-US" sz="900" dirty="0"/>
              <a:t>契約、売上、</a:t>
            </a:r>
            <a:endParaRPr kumimoji="1" lang="en-US" altLang="ja-JP" sz="900" dirty="0"/>
          </a:p>
          <a:p>
            <a:pPr algn="ctr">
              <a:lnSpc>
                <a:spcPts val="900"/>
              </a:lnSpc>
            </a:pPr>
            <a:r>
              <a:rPr kumimoji="1" lang="ja-JP" altLang="en-US" sz="900" dirty="0"/>
              <a:t>変動費</a:t>
            </a:r>
            <a:r>
              <a:rPr lang="ja-JP" altLang="en-US" sz="900" dirty="0"/>
              <a:t>、</a:t>
            </a:r>
            <a:r>
              <a:rPr kumimoji="1" lang="ja-JP" altLang="en-US" sz="900" dirty="0"/>
              <a:t>固定費</a:t>
            </a:r>
            <a:endParaRPr lang="en-US" altLang="ja-JP" sz="900" dirty="0"/>
          </a:p>
          <a:p>
            <a:pPr algn="ctr">
              <a:lnSpc>
                <a:spcPts val="900"/>
              </a:lnSpc>
            </a:pPr>
            <a:r>
              <a:rPr kumimoji="1" lang="ja-JP" altLang="en-US" sz="900" dirty="0"/>
              <a:t>利益</a:t>
            </a:r>
          </a:p>
        </p:txBody>
      </p:sp>
      <p:cxnSp>
        <p:nvCxnSpPr>
          <p:cNvPr id="261" name="直線矢印コネクタ 260"/>
          <p:cNvCxnSpPr/>
          <p:nvPr/>
        </p:nvCxnSpPr>
        <p:spPr>
          <a:xfrm flipH="1">
            <a:off x="1250367" y="3969060"/>
            <a:ext cx="54750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正方形/長方形 231"/>
          <p:cNvSpPr/>
          <p:nvPr/>
        </p:nvSpPr>
        <p:spPr>
          <a:xfrm>
            <a:off x="3143297" y="4217451"/>
            <a:ext cx="1208241" cy="394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900"/>
              </a:lnSpc>
            </a:pPr>
            <a:r>
              <a:rPr lang="ja-JP" altLang="en-US" sz="900" dirty="0">
                <a:solidFill>
                  <a:sysClr val="windowText" lastClr="000000"/>
                </a:solidFill>
              </a:rPr>
              <a:t>ｻｰﾋﾞｽﾚｺｰﾄﾞ</a:t>
            </a:r>
            <a:endParaRPr lang="en-US" altLang="ja-JP" sz="900" dirty="0">
              <a:solidFill>
                <a:sysClr val="windowText" lastClr="000000"/>
              </a:solidFill>
            </a:endParaRPr>
          </a:p>
          <a:p>
            <a:pPr algn="ctr">
              <a:lnSpc>
                <a:spcPts val="900"/>
              </a:lnSpc>
            </a:pPr>
            <a:r>
              <a:rPr lang="ja-JP" altLang="en-US" sz="900" dirty="0">
                <a:solidFill>
                  <a:sysClr val="windowText" lastClr="000000"/>
                </a:solidFill>
              </a:rPr>
              <a:t>設計調査票、</a:t>
            </a:r>
            <a:endParaRPr lang="en-US" altLang="ja-JP" sz="900" dirty="0">
              <a:solidFill>
                <a:sysClr val="windowText" lastClr="000000"/>
              </a:solidFill>
            </a:endParaRPr>
          </a:p>
          <a:p>
            <a:pPr algn="ctr">
              <a:lnSpc>
                <a:spcPts val="900"/>
              </a:lnSpc>
            </a:pPr>
            <a:r>
              <a:rPr lang="ja-JP" altLang="en-US" sz="900" dirty="0">
                <a:solidFill>
                  <a:sysClr val="windowText" lastClr="000000"/>
                </a:solidFill>
              </a:rPr>
              <a:t>作業指示票 など</a:t>
            </a:r>
            <a:endParaRPr kumimoji="1" lang="ja-JP" altLang="en-US" sz="900" dirty="0">
              <a:solidFill>
                <a:sysClr val="windowText" lastClr="000000"/>
              </a:solidFill>
            </a:endParaRPr>
          </a:p>
        </p:txBody>
      </p:sp>
      <p:cxnSp>
        <p:nvCxnSpPr>
          <p:cNvPr id="242" name="直線矢印コネクタ 241"/>
          <p:cNvCxnSpPr/>
          <p:nvPr/>
        </p:nvCxnSpPr>
        <p:spPr>
          <a:xfrm flipH="1">
            <a:off x="7127480" y="801513"/>
            <a:ext cx="387240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3" name="正方形/長方形 242"/>
          <p:cNvSpPr/>
          <p:nvPr/>
        </p:nvSpPr>
        <p:spPr>
          <a:xfrm>
            <a:off x="7478483" y="585047"/>
            <a:ext cx="1332000" cy="42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ysClr val="windowText" lastClr="000000"/>
                </a:solidFill>
              </a:rPr>
              <a:t>：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手作業</a:t>
            </a:r>
            <a:endParaRPr kumimoji="1" lang="ja-JP" altLang="en-US" sz="1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53" name="直線矢印コネクタ 252"/>
          <p:cNvCxnSpPr/>
          <p:nvPr/>
        </p:nvCxnSpPr>
        <p:spPr>
          <a:xfrm flipH="1">
            <a:off x="8247456" y="801513"/>
            <a:ext cx="38724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正方形/長方形 261"/>
          <p:cNvSpPr/>
          <p:nvPr/>
        </p:nvSpPr>
        <p:spPr>
          <a:xfrm>
            <a:off x="8590041" y="585047"/>
            <a:ext cx="1332000" cy="42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ysClr val="windowText" lastClr="000000"/>
                </a:solidFill>
              </a:rPr>
              <a:t>：データ</a:t>
            </a:r>
            <a:r>
              <a:rPr lang="ja-JP" altLang="en-US" sz="1200" b="1" dirty="0">
                <a:solidFill>
                  <a:sysClr val="windowText" lastClr="000000"/>
                </a:solidFill>
              </a:rPr>
              <a:t>連携予定</a:t>
            </a:r>
            <a:endParaRPr kumimoji="1" lang="ja-JP" altLang="en-US" sz="1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64" name="直線矢印コネクタ 263"/>
          <p:cNvCxnSpPr/>
          <p:nvPr/>
        </p:nvCxnSpPr>
        <p:spPr>
          <a:xfrm flipH="1">
            <a:off x="5619693" y="801513"/>
            <a:ext cx="387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正方形/長方形 264"/>
          <p:cNvSpPr/>
          <p:nvPr/>
        </p:nvSpPr>
        <p:spPr>
          <a:xfrm>
            <a:off x="5970696" y="585047"/>
            <a:ext cx="1332000" cy="42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ysClr val="windowText" lastClr="000000"/>
                </a:solidFill>
              </a:rPr>
              <a:t>：システム連携</a:t>
            </a:r>
          </a:p>
        </p:txBody>
      </p:sp>
      <p:sp>
        <p:nvSpPr>
          <p:cNvPr id="250" name="正方形/長方形 249"/>
          <p:cNvSpPr/>
          <p:nvPr/>
        </p:nvSpPr>
        <p:spPr>
          <a:xfrm>
            <a:off x="181479" y="5606654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名刺管理</a:t>
            </a:r>
          </a:p>
        </p:txBody>
      </p:sp>
      <p:sp>
        <p:nvSpPr>
          <p:cNvPr id="271" name="正方形/長方形 270"/>
          <p:cNvSpPr/>
          <p:nvPr/>
        </p:nvSpPr>
        <p:spPr>
          <a:xfrm>
            <a:off x="7978401" y="5573500"/>
            <a:ext cx="1584000" cy="21671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ja-JP" sz="1000" b="1" dirty="0">
                <a:solidFill>
                  <a:sysClr val="windowText" lastClr="000000"/>
                </a:solidFill>
              </a:rPr>
              <a:t>e</a:t>
            </a:r>
            <a:r>
              <a:rPr lang="ja-JP" altLang="en-US" sz="1000" b="1" dirty="0">
                <a:solidFill>
                  <a:sysClr val="windowText" lastClr="000000"/>
                </a:solidFill>
              </a:rPr>
              <a:t>ラーニング（学び～と）</a:t>
            </a:r>
          </a:p>
        </p:txBody>
      </p:sp>
      <p:sp>
        <p:nvSpPr>
          <p:cNvPr id="18" name="フローチャート: 磁気ディスク 17"/>
          <p:cNvSpPr/>
          <p:nvPr/>
        </p:nvSpPr>
        <p:spPr>
          <a:xfrm>
            <a:off x="5781164" y="4503639"/>
            <a:ext cx="685618" cy="50006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統合マスタ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272" name="正方形/長方形 271"/>
          <p:cNvSpPr/>
          <p:nvPr/>
        </p:nvSpPr>
        <p:spPr>
          <a:xfrm>
            <a:off x="2489067" y="2096052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社員立替</a:t>
            </a:r>
          </a:p>
        </p:txBody>
      </p:sp>
      <p:sp>
        <p:nvSpPr>
          <p:cNvPr id="273" name="正方形/長方形 272"/>
          <p:cNvSpPr/>
          <p:nvPr/>
        </p:nvSpPr>
        <p:spPr>
          <a:xfrm>
            <a:off x="943028" y="527863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200" dirty="0">
                <a:solidFill>
                  <a:schemeClr val="tx1"/>
                </a:solidFill>
              </a:rPr>
              <a:t>工程管理</a:t>
            </a:r>
          </a:p>
        </p:txBody>
      </p:sp>
      <p:sp>
        <p:nvSpPr>
          <p:cNvPr id="274" name="正方形/長方形 273"/>
          <p:cNvSpPr/>
          <p:nvPr/>
        </p:nvSpPr>
        <p:spPr>
          <a:xfrm>
            <a:off x="941774" y="5606654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/>
          <a:lstStyle/>
          <a:p>
            <a:pPr algn="ctr">
              <a:lnSpc>
                <a:spcPts val="1000"/>
              </a:lnSpc>
            </a:pPr>
            <a:r>
              <a:rPr lang="ja-JP" altLang="en-US" sz="800" dirty="0">
                <a:solidFill>
                  <a:schemeClr val="tx1"/>
                </a:solidFill>
              </a:rPr>
              <a:t>資産管理</a:t>
            </a:r>
            <a:endParaRPr lang="en-US" altLang="ja-JP" sz="800" dirty="0">
              <a:solidFill>
                <a:schemeClr val="tx1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700" dirty="0">
                <a:solidFill>
                  <a:schemeClr val="tx1"/>
                </a:solidFill>
              </a:rPr>
              <a:t>車両やﾚﾝﾀﾙ商品</a:t>
            </a:r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222275" y="3182462"/>
            <a:ext cx="575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直線矢印コネクタ 282"/>
          <p:cNvCxnSpPr/>
          <p:nvPr/>
        </p:nvCxnSpPr>
        <p:spPr>
          <a:xfrm flipH="1">
            <a:off x="1008139" y="1519846"/>
            <a:ext cx="639235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>
            <a:off x="1008139" y="1613846"/>
            <a:ext cx="639235" cy="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直線矢印コネクタ 295"/>
          <p:cNvCxnSpPr>
            <a:stCxn id="279" idx="2"/>
          </p:cNvCxnSpPr>
          <p:nvPr/>
        </p:nvCxnSpPr>
        <p:spPr>
          <a:xfrm>
            <a:off x="455026" y="1729884"/>
            <a:ext cx="0" cy="590672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テキスト ボックス 296"/>
          <p:cNvSpPr txBox="1"/>
          <p:nvPr/>
        </p:nvSpPr>
        <p:spPr>
          <a:xfrm>
            <a:off x="1001567" y="1312682"/>
            <a:ext cx="6754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/>
              <a:t>実績</a:t>
            </a:r>
            <a:endParaRPr kumimoji="1" lang="ja-JP" altLang="en-US" sz="900" dirty="0"/>
          </a:p>
        </p:txBody>
      </p:sp>
      <p:sp>
        <p:nvSpPr>
          <p:cNvPr id="298" name="テキスト ボックス 297"/>
          <p:cNvSpPr txBox="1"/>
          <p:nvPr/>
        </p:nvSpPr>
        <p:spPr>
          <a:xfrm>
            <a:off x="982916" y="1588803"/>
            <a:ext cx="6754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予算</a:t>
            </a:r>
          </a:p>
        </p:txBody>
      </p:sp>
      <p:sp>
        <p:nvSpPr>
          <p:cNvPr id="300" name="テキスト ボックス 299"/>
          <p:cNvSpPr txBox="1"/>
          <p:nvPr/>
        </p:nvSpPr>
        <p:spPr>
          <a:xfrm>
            <a:off x="1384199" y="2428608"/>
            <a:ext cx="67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ｼｽﾃﾑ</a:t>
            </a:r>
            <a:endParaRPr kumimoji="1" lang="en-US" altLang="ja-JP" sz="900" dirty="0"/>
          </a:p>
          <a:p>
            <a:pPr algn="ctr"/>
            <a:r>
              <a:rPr lang="ja-JP" altLang="en-US" sz="900" dirty="0"/>
              <a:t>処理情報</a:t>
            </a:r>
            <a:endParaRPr kumimoji="1" lang="ja-JP" altLang="en-US" sz="900" dirty="0"/>
          </a:p>
        </p:txBody>
      </p:sp>
      <p:sp>
        <p:nvSpPr>
          <p:cNvPr id="302" name="正方形/長方形 301"/>
          <p:cNvSpPr/>
          <p:nvPr/>
        </p:nvSpPr>
        <p:spPr>
          <a:xfrm>
            <a:off x="4513711" y="4340188"/>
            <a:ext cx="1208241" cy="394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r>
              <a:rPr kumimoji="1" lang="ja-JP" altLang="en-US" sz="900" dirty="0">
                <a:solidFill>
                  <a:sysClr val="windowText" lastClr="000000"/>
                </a:solidFill>
              </a:rPr>
              <a:t>各ﾏｽﾀ情報</a:t>
            </a:r>
          </a:p>
        </p:txBody>
      </p:sp>
      <p:sp>
        <p:nvSpPr>
          <p:cNvPr id="305" name="正方形/長方形 304"/>
          <p:cNvSpPr/>
          <p:nvPr/>
        </p:nvSpPr>
        <p:spPr>
          <a:xfrm>
            <a:off x="6356895" y="3622770"/>
            <a:ext cx="1321200" cy="33603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1200" b="1" dirty="0">
                <a:solidFill>
                  <a:sysClr val="windowText" lastClr="000000"/>
                </a:solidFill>
              </a:rPr>
              <a:t>RDIAS</a:t>
            </a:r>
            <a:endParaRPr lang="ja-JP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7978401" y="5841447"/>
            <a:ext cx="1584000" cy="21671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ja-JP" altLang="en-US" sz="1000" b="1" dirty="0">
                <a:solidFill>
                  <a:sysClr val="windowText" lastClr="000000"/>
                </a:solidFill>
              </a:rPr>
              <a:t>イメージワークス</a:t>
            </a:r>
          </a:p>
        </p:txBody>
      </p:sp>
      <p:sp>
        <p:nvSpPr>
          <p:cNvPr id="309" name="フリーフォーム 308"/>
          <p:cNvSpPr/>
          <p:nvPr/>
        </p:nvSpPr>
        <p:spPr>
          <a:xfrm>
            <a:off x="5083848" y="3153433"/>
            <a:ext cx="4619575" cy="2954069"/>
          </a:xfrm>
          <a:custGeom>
            <a:avLst/>
            <a:gdLst>
              <a:gd name="connsiteX0" fmla="*/ 2751219 w 4570403"/>
              <a:gd name="connsiteY0" fmla="*/ 0 h 2678731"/>
              <a:gd name="connsiteX1" fmla="*/ 4570403 w 4570403"/>
              <a:gd name="connsiteY1" fmla="*/ 0 h 2678731"/>
              <a:gd name="connsiteX2" fmla="*/ 4570403 w 4570403"/>
              <a:gd name="connsiteY2" fmla="*/ 1008888 h 2678731"/>
              <a:gd name="connsiteX3" fmla="*/ 4570403 w 4570403"/>
              <a:gd name="connsiteY3" fmla="*/ 1669843 h 2678731"/>
              <a:gd name="connsiteX4" fmla="*/ 4570403 w 4570403"/>
              <a:gd name="connsiteY4" fmla="*/ 2678731 h 2678731"/>
              <a:gd name="connsiteX5" fmla="*/ 0 w 4570403"/>
              <a:gd name="connsiteY5" fmla="*/ 2678731 h 2678731"/>
              <a:gd name="connsiteX6" fmla="*/ 0 w 4570403"/>
              <a:gd name="connsiteY6" fmla="*/ 1008888 h 2678731"/>
              <a:gd name="connsiteX7" fmla="*/ 2751219 w 4570403"/>
              <a:gd name="connsiteY7" fmla="*/ 1008888 h 267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0403" h="2678731">
                <a:moveTo>
                  <a:pt x="2751219" y="0"/>
                </a:moveTo>
                <a:lnTo>
                  <a:pt x="4570403" y="0"/>
                </a:lnTo>
                <a:lnTo>
                  <a:pt x="4570403" y="1008888"/>
                </a:lnTo>
                <a:lnTo>
                  <a:pt x="4570403" y="1669843"/>
                </a:lnTo>
                <a:lnTo>
                  <a:pt x="4570403" y="2678731"/>
                </a:lnTo>
                <a:lnTo>
                  <a:pt x="0" y="2678731"/>
                </a:lnTo>
                <a:lnTo>
                  <a:pt x="0" y="1008888"/>
                </a:lnTo>
                <a:lnTo>
                  <a:pt x="2751219" y="1008888"/>
                </a:lnTo>
                <a:close/>
              </a:path>
            </a:pathLst>
          </a:custGeom>
          <a:noFill/>
          <a:ln>
            <a:solidFill>
              <a:srgbClr val="3C15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0" name="グループ化 379"/>
          <p:cNvGrpSpPr>
            <a:grpSpLocks noChangeAspect="1"/>
          </p:cNvGrpSpPr>
          <p:nvPr/>
        </p:nvGrpSpPr>
        <p:grpSpPr>
          <a:xfrm>
            <a:off x="5931260" y="2153765"/>
            <a:ext cx="239944" cy="239944"/>
            <a:chOff x="10029564" y="1401123"/>
            <a:chExt cx="322932" cy="322932"/>
          </a:xfrm>
        </p:grpSpPr>
        <p:sp>
          <p:nvSpPr>
            <p:cNvPr id="381" name="正方形/長方形 380"/>
            <p:cNvSpPr/>
            <p:nvPr/>
          </p:nvSpPr>
          <p:spPr>
            <a:xfrm>
              <a:off x="10029564" y="1414657"/>
              <a:ext cx="314586" cy="295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82" name="Group 9"/>
            <p:cNvGrpSpPr>
              <a:grpSpLocks noChangeAspect="1"/>
            </p:cNvGrpSpPr>
            <p:nvPr/>
          </p:nvGrpSpPr>
          <p:grpSpPr bwMode="auto">
            <a:xfrm>
              <a:off x="10029564" y="1401123"/>
              <a:ext cx="322932" cy="322932"/>
              <a:chOff x="1585" y="633"/>
              <a:chExt cx="3057" cy="3057"/>
            </a:xfrm>
          </p:grpSpPr>
          <p:sp>
            <p:nvSpPr>
              <p:cNvPr id="383" name="Freeform 10"/>
              <p:cNvSpPr>
                <a:spLocks noEditPoints="1"/>
              </p:cNvSpPr>
              <p:nvPr/>
            </p:nvSpPr>
            <p:spPr bwMode="auto">
              <a:xfrm>
                <a:off x="1585" y="633"/>
                <a:ext cx="3057" cy="3057"/>
              </a:xfrm>
              <a:custGeom>
                <a:avLst/>
                <a:gdLst>
                  <a:gd name="T0" fmla="*/ 3551 w 6368"/>
                  <a:gd name="T1" fmla="*/ 717 h 6367"/>
                  <a:gd name="T2" fmla="*/ 3551 w 6368"/>
                  <a:gd name="T3" fmla="*/ 5566 h 6367"/>
                  <a:gd name="T4" fmla="*/ 667 w 6368"/>
                  <a:gd name="T5" fmla="*/ 5067 h 6367"/>
                  <a:gd name="T6" fmla="*/ 667 w 6368"/>
                  <a:gd name="T7" fmla="*/ 1217 h 6367"/>
                  <a:gd name="T8" fmla="*/ 3551 w 6368"/>
                  <a:gd name="T9" fmla="*/ 717 h 6367"/>
                  <a:gd name="T10" fmla="*/ 3688 w 6368"/>
                  <a:gd name="T11" fmla="*/ 1277 h 6367"/>
                  <a:gd name="T12" fmla="*/ 5602 w 6368"/>
                  <a:gd name="T13" fmla="*/ 1277 h 6367"/>
                  <a:gd name="T14" fmla="*/ 5728 w 6368"/>
                  <a:gd name="T15" fmla="*/ 1403 h 6367"/>
                  <a:gd name="T16" fmla="*/ 5728 w 6368"/>
                  <a:gd name="T17" fmla="*/ 4880 h 6367"/>
                  <a:gd name="T18" fmla="*/ 5602 w 6368"/>
                  <a:gd name="T19" fmla="*/ 5006 h 6367"/>
                  <a:gd name="T20" fmla="*/ 3688 w 6368"/>
                  <a:gd name="T21" fmla="*/ 5006 h 6367"/>
                  <a:gd name="T22" fmla="*/ 3688 w 6368"/>
                  <a:gd name="T23" fmla="*/ 4678 h 6367"/>
                  <a:gd name="T24" fmla="*/ 4418 w 6368"/>
                  <a:gd name="T25" fmla="*/ 4678 h 6367"/>
                  <a:gd name="T26" fmla="*/ 4418 w 6368"/>
                  <a:gd name="T27" fmla="*/ 4175 h 6367"/>
                  <a:gd name="T28" fmla="*/ 3688 w 6368"/>
                  <a:gd name="T29" fmla="*/ 4175 h 6367"/>
                  <a:gd name="T30" fmla="*/ 3688 w 6368"/>
                  <a:gd name="T31" fmla="*/ 4023 h 6367"/>
                  <a:gd name="T32" fmla="*/ 4418 w 6368"/>
                  <a:gd name="T33" fmla="*/ 4023 h 6367"/>
                  <a:gd name="T34" fmla="*/ 4418 w 6368"/>
                  <a:gd name="T35" fmla="*/ 3519 h 6367"/>
                  <a:gd name="T36" fmla="*/ 3688 w 6368"/>
                  <a:gd name="T37" fmla="*/ 3519 h 6367"/>
                  <a:gd name="T38" fmla="*/ 3688 w 6368"/>
                  <a:gd name="T39" fmla="*/ 3368 h 6367"/>
                  <a:gd name="T40" fmla="*/ 4418 w 6368"/>
                  <a:gd name="T41" fmla="*/ 3368 h 6367"/>
                  <a:gd name="T42" fmla="*/ 4418 w 6368"/>
                  <a:gd name="T43" fmla="*/ 2864 h 6367"/>
                  <a:gd name="T44" fmla="*/ 3688 w 6368"/>
                  <a:gd name="T45" fmla="*/ 2864 h 6367"/>
                  <a:gd name="T46" fmla="*/ 3688 w 6368"/>
                  <a:gd name="T47" fmla="*/ 2713 h 6367"/>
                  <a:gd name="T48" fmla="*/ 4418 w 6368"/>
                  <a:gd name="T49" fmla="*/ 2713 h 6367"/>
                  <a:gd name="T50" fmla="*/ 4418 w 6368"/>
                  <a:gd name="T51" fmla="*/ 2209 h 6367"/>
                  <a:gd name="T52" fmla="*/ 3688 w 6368"/>
                  <a:gd name="T53" fmla="*/ 2209 h 6367"/>
                  <a:gd name="T54" fmla="*/ 3688 w 6368"/>
                  <a:gd name="T55" fmla="*/ 2058 h 6367"/>
                  <a:gd name="T56" fmla="*/ 4418 w 6368"/>
                  <a:gd name="T57" fmla="*/ 2058 h 6367"/>
                  <a:gd name="T58" fmla="*/ 4418 w 6368"/>
                  <a:gd name="T59" fmla="*/ 1554 h 6367"/>
                  <a:gd name="T60" fmla="*/ 3688 w 6368"/>
                  <a:gd name="T61" fmla="*/ 1554 h 6367"/>
                  <a:gd name="T62" fmla="*/ 3688 w 6368"/>
                  <a:gd name="T63" fmla="*/ 1277 h 6367"/>
                  <a:gd name="T64" fmla="*/ 1 w 6368"/>
                  <a:gd name="T65" fmla="*/ 6367 h 6367"/>
                  <a:gd name="T66" fmla="*/ 6367 w 6368"/>
                  <a:gd name="T67" fmla="*/ 6367 h 6367"/>
                  <a:gd name="T68" fmla="*/ 6368 w 6368"/>
                  <a:gd name="T69" fmla="*/ 0 h 6367"/>
                  <a:gd name="T70" fmla="*/ 0 w 6368"/>
                  <a:gd name="T71" fmla="*/ 0 h 6367"/>
                  <a:gd name="T72" fmla="*/ 1 w 6368"/>
                  <a:gd name="T73" fmla="*/ 6367 h 6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68" h="6367">
                    <a:moveTo>
                      <a:pt x="3551" y="717"/>
                    </a:moveTo>
                    <a:lnTo>
                      <a:pt x="3551" y="5566"/>
                    </a:lnTo>
                    <a:lnTo>
                      <a:pt x="667" y="5067"/>
                    </a:lnTo>
                    <a:lnTo>
                      <a:pt x="667" y="1217"/>
                    </a:lnTo>
                    <a:lnTo>
                      <a:pt x="3551" y="717"/>
                    </a:lnTo>
                    <a:close/>
                    <a:moveTo>
                      <a:pt x="3688" y="1277"/>
                    </a:moveTo>
                    <a:lnTo>
                      <a:pt x="5602" y="1277"/>
                    </a:lnTo>
                    <a:cubicBezTo>
                      <a:pt x="5708" y="1277"/>
                      <a:pt x="5728" y="1297"/>
                      <a:pt x="5728" y="1403"/>
                    </a:cubicBezTo>
                    <a:lnTo>
                      <a:pt x="5728" y="4880"/>
                    </a:lnTo>
                    <a:cubicBezTo>
                      <a:pt x="5728" y="4985"/>
                      <a:pt x="5708" y="5006"/>
                      <a:pt x="5602" y="5006"/>
                    </a:cubicBezTo>
                    <a:lnTo>
                      <a:pt x="3688" y="5006"/>
                    </a:lnTo>
                    <a:lnTo>
                      <a:pt x="3688" y="4678"/>
                    </a:lnTo>
                    <a:lnTo>
                      <a:pt x="4418" y="4678"/>
                    </a:lnTo>
                    <a:lnTo>
                      <a:pt x="4418" y="4175"/>
                    </a:lnTo>
                    <a:lnTo>
                      <a:pt x="3688" y="4175"/>
                    </a:lnTo>
                    <a:lnTo>
                      <a:pt x="3688" y="4023"/>
                    </a:lnTo>
                    <a:lnTo>
                      <a:pt x="4418" y="4023"/>
                    </a:lnTo>
                    <a:lnTo>
                      <a:pt x="4418" y="3519"/>
                    </a:lnTo>
                    <a:lnTo>
                      <a:pt x="3688" y="3519"/>
                    </a:lnTo>
                    <a:lnTo>
                      <a:pt x="3688" y="3368"/>
                    </a:lnTo>
                    <a:lnTo>
                      <a:pt x="4418" y="3368"/>
                    </a:lnTo>
                    <a:lnTo>
                      <a:pt x="4418" y="2864"/>
                    </a:lnTo>
                    <a:lnTo>
                      <a:pt x="3688" y="2864"/>
                    </a:lnTo>
                    <a:lnTo>
                      <a:pt x="3688" y="2713"/>
                    </a:lnTo>
                    <a:lnTo>
                      <a:pt x="4418" y="2713"/>
                    </a:lnTo>
                    <a:lnTo>
                      <a:pt x="4418" y="2209"/>
                    </a:lnTo>
                    <a:lnTo>
                      <a:pt x="3688" y="2209"/>
                    </a:lnTo>
                    <a:lnTo>
                      <a:pt x="3688" y="2058"/>
                    </a:lnTo>
                    <a:lnTo>
                      <a:pt x="4418" y="2058"/>
                    </a:lnTo>
                    <a:lnTo>
                      <a:pt x="4418" y="1554"/>
                    </a:lnTo>
                    <a:lnTo>
                      <a:pt x="3688" y="1554"/>
                    </a:lnTo>
                    <a:lnTo>
                      <a:pt x="3688" y="1277"/>
                    </a:lnTo>
                    <a:close/>
                    <a:moveTo>
                      <a:pt x="1" y="6367"/>
                    </a:moveTo>
                    <a:lnTo>
                      <a:pt x="6367" y="6367"/>
                    </a:lnTo>
                    <a:lnTo>
                      <a:pt x="6368" y="0"/>
                    </a:lnTo>
                    <a:lnTo>
                      <a:pt x="0" y="0"/>
                    </a:lnTo>
                    <a:lnTo>
                      <a:pt x="1" y="6367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4" name="Freeform 11"/>
              <p:cNvSpPr>
                <a:spLocks/>
              </p:cNvSpPr>
              <p:nvPr/>
            </p:nvSpPr>
            <p:spPr bwMode="auto">
              <a:xfrm>
                <a:off x="2328" y="1697"/>
                <a:ext cx="574" cy="855"/>
              </a:xfrm>
              <a:custGeom>
                <a:avLst/>
                <a:gdLst>
                  <a:gd name="T0" fmla="*/ 836 w 1194"/>
                  <a:gd name="T1" fmla="*/ 24 h 1780"/>
                  <a:gd name="T2" fmla="*/ 573 w 1194"/>
                  <a:gd name="T3" fmla="*/ 625 h 1780"/>
                  <a:gd name="T4" fmla="*/ 369 w 1194"/>
                  <a:gd name="T5" fmla="*/ 61 h 1780"/>
                  <a:gd name="T6" fmla="*/ 41 w 1194"/>
                  <a:gd name="T7" fmla="*/ 75 h 1780"/>
                  <a:gd name="T8" fmla="*/ 367 w 1194"/>
                  <a:gd name="T9" fmla="*/ 898 h 1780"/>
                  <a:gd name="T10" fmla="*/ 0 w 1194"/>
                  <a:gd name="T11" fmla="*/ 1702 h 1780"/>
                  <a:gd name="T12" fmla="*/ 322 w 1194"/>
                  <a:gd name="T13" fmla="*/ 1727 h 1780"/>
                  <a:gd name="T14" fmla="*/ 581 w 1194"/>
                  <a:gd name="T15" fmla="*/ 1148 h 1780"/>
                  <a:gd name="T16" fmla="*/ 822 w 1194"/>
                  <a:gd name="T17" fmla="*/ 1760 h 1780"/>
                  <a:gd name="T18" fmla="*/ 1194 w 1194"/>
                  <a:gd name="T19" fmla="*/ 1780 h 1780"/>
                  <a:gd name="T20" fmla="*/ 791 w 1194"/>
                  <a:gd name="T21" fmla="*/ 895 h 1780"/>
                  <a:gd name="T22" fmla="*/ 1176 w 1194"/>
                  <a:gd name="T23" fmla="*/ 0 h 1780"/>
                  <a:gd name="T24" fmla="*/ 836 w 1194"/>
                  <a:gd name="T25" fmla="*/ 24 h 1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4" h="1780">
                    <a:moveTo>
                      <a:pt x="836" y="24"/>
                    </a:moveTo>
                    <a:lnTo>
                      <a:pt x="573" y="625"/>
                    </a:lnTo>
                    <a:lnTo>
                      <a:pt x="369" y="61"/>
                    </a:lnTo>
                    <a:lnTo>
                      <a:pt x="41" y="75"/>
                    </a:lnTo>
                    <a:lnTo>
                      <a:pt x="367" y="898"/>
                    </a:lnTo>
                    <a:lnTo>
                      <a:pt x="0" y="1702"/>
                    </a:lnTo>
                    <a:lnTo>
                      <a:pt x="322" y="1727"/>
                    </a:lnTo>
                    <a:lnTo>
                      <a:pt x="581" y="1148"/>
                    </a:lnTo>
                    <a:lnTo>
                      <a:pt x="822" y="1760"/>
                    </a:lnTo>
                    <a:lnTo>
                      <a:pt x="1194" y="1780"/>
                    </a:lnTo>
                    <a:lnTo>
                      <a:pt x="791" y="895"/>
                    </a:lnTo>
                    <a:lnTo>
                      <a:pt x="1176" y="0"/>
                    </a:lnTo>
                    <a:lnTo>
                      <a:pt x="836" y="24"/>
                    </a:lnTo>
                    <a:close/>
                  </a:path>
                </a:pathLst>
              </a:custGeom>
              <a:solidFill>
                <a:srgbClr val="1E714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5" name="Rectangle 12"/>
              <p:cNvSpPr>
                <a:spLocks noChangeArrowheads="1"/>
              </p:cNvSpPr>
              <p:nvPr/>
            </p:nvSpPr>
            <p:spPr bwMode="auto">
              <a:xfrm>
                <a:off x="3779" y="2637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6" name="Rectangle 13"/>
              <p:cNvSpPr>
                <a:spLocks noChangeArrowheads="1"/>
              </p:cNvSpPr>
              <p:nvPr/>
            </p:nvSpPr>
            <p:spPr bwMode="auto">
              <a:xfrm>
                <a:off x="3779" y="2322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7" name="Rectangle 14"/>
              <p:cNvSpPr>
                <a:spLocks noChangeArrowheads="1"/>
              </p:cNvSpPr>
              <p:nvPr/>
            </p:nvSpPr>
            <p:spPr bwMode="auto">
              <a:xfrm>
                <a:off x="3779" y="2008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8" name="Rectangle 15"/>
              <p:cNvSpPr>
                <a:spLocks noChangeArrowheads="1"/>
              </p:cNvSpPr>
              <p:nvPr/>
            </p:nvSpPr>
            <p:spPr bwMode="auto">
              <a:xfrm>
                <a:off x="3779" y="1379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9" name="Rectangle 16"/>
              <p:cNvSpPr>
                <a:spLocks noChangeArrowheads="1"/>
              </p:cNvSpPr>
              <p:nvPr/>
            </p:nvSpPr>
            <p:spPr bwMode="auto">
              <a:xfrm>
                <a:off x="3779" y="1693"/>
                <a:ext cx="399" cy="242"/>
              </a:xfrm>
              <a:prstGeom prst="rect">
                <a:avLst/>
              </a:prstGeom>
              <a:solidFill>
                <a:srgbClr val="1E7145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59" name="カギ線コネクタ 58"/>
          <p:cNvCxnSpPr/>
          <p:nvPr/>
        </p:nvCxnSpPr>
        <p:spPr>
          <a:xfrm flipV="1">
            <a:off x="4983529" y="2495301"/>
            <a:ext cx="1380302" cy="201969"/>
          </a:xfrm>
          <a:prstGeom prst="bentConnector3">
            <a:avLst>
              <a:gd name="adj1" fmla="val 3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1" name="テキスト ボックス 310"/>
          <p:cNvSpPr txBox="1"/>
          <p:nvPr/>
        </p:nvSpPr>
        <p:spPr>
          <a:xfrm>
            <a:off x="4912598" y="2283072"/>
            <a:ext cx="54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/>
              <a:t>ｶﾚﾝﾀﾞｰ</a:t>
            </a:r>
          </a:p>
        </p:txBody>
      </p:sp>
      <p:sp>
        <p:nvSpPr>
          <p:cNvPr id="312" name="正方形/長方形 311"/>
          <p:cNvSpPr/>
          <p:nvPr/>
        </p:nvSpPr>
        <p:spPr>
          <a:xfrm>
            <a:off x="8037613" y="4454073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検査依頼</a:t>
            </a:r>
          </a:p>
        </p:txBody>
      </p:sp>
      <p:sp>
        <p:nvSpPr>
          <p:cNvPr id="394" name="正方形/長方形 393"/>
          <p:cNvSpPr/>
          <p:nvPr/>
        </p:nvSpPr>
        <p:spPr>
          <a:xfrm>
            <a:off x="3247290" y="2102097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/>
          <a:lstStyle/>
          <a:p>
            <a:pPr algn="ctr">
              <a:lnSpc>
                <a:spcPts val="1000"/>
              </a:lnSpc>
            </a:pPr>
            <a:r>
              <a:rPr lang="ja-JP" altLang="en-US" sz="800" dirty="0">
                <a:solidFill>
                  <a:schemeClr val="tx1"/>
                </a:solidFill>
              </a:rPr>
              <a:t>資産管理</a:t>
            </a:r>
            <a:endParaRPr lang="en-US" altLang="ja-JP" sz="800" dirty="0">
              <a:solidFill>
                <a:schemeClr val="tx1"/>
              </a:solidFill>
            </a:endParaRPr>
          </a:p>
          <a:p>
            <a:pPr algn="ctr">
              <a:lnSpc>
                <a:spcPts val="1000"/>
              </a:lnSpc>
            </a:pPr>
            <a:r>
              <a:rPr lang="ja-JP" altLang="en-US" sz="700" dirty="0">
                <a:solidFill>
                  <a:schemeClr val="tx1"/>
                </a:solidFill>
              </a:rPr>
              <a:t>固定</a:t>
            </a:r>
            <a:r>
              <a:rPr lang="en-US" altLang="ja-JP" sz="700" dirty="0">
                <a:solidFill>
                  <a:schemeClr val="tx1"/>
                </a:solidFill>
              </a:rPr>
              <a:t>/</a:t>
            </a:r>
            <a:r>
              <a:rPr lang="ja-JP" altLang="en-US" sz="700" dirty="0">
                <a:solidFill>
                  <a:schemeClr val="tx1"/>
                </a:solidFill>
              </a:rPr>
              <a:t>リース資産</a:t>
            </a:r>
            <a:endParaRPr lang="en-US" altLang="ja-JP" sz="700" dirty="0">
              <a:solidFill>
                <a:schemeClr val="tx1"/>
              </a:solidFill>
            </a:endParaRPr>
          </a:p>
        </p:txBody>
      </p:sp>
      <p:cxnSp>
        <p:nvCxnSpPr>
          <p:cNvPr id="268" name="直線矢印コネクタ 267"/>
          <p:cNvCxnSpPr/>
          <p:nvPr/>
        </p:nvCxnSpPr>
        <p:spPr>
          <a:xfrm>
            <a:off x="7678095" y="3673499"/>
            <a:ext cx="314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0" name="正方形/長方形 269"/>
          <p:cNvSpPr/>
          <p:nvPr/>
        </p:nvSpPr>
        <p:spPr>
          <a:xfrm>
            <a:off x="7517056" y="3724376"/>
            <a:ext cx="555821" cy="28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r>
              <a:rPr lang="ja-JP" altLang="en-US" sz="900" dirty="0">
                <a:solidFill>
                  <a:sysClr val="windowText" lastClr="000000"/>
                </a:solidFill>
              </a:rPr>
              <a:t>得意先</a:t>
            </a:r>
            <a:endParaRPr kumimoji="1" lang="en-US" altLang="ja-JP" sz="900" dirty="0">
              <a:solidFill>
                <a:sysClr val="windowText" lastClr="000000"/>
              </a:solidFill>
            </a:endParaRPr>
          </a:p>
          <a:p>
            <a:pPr algn="ctr">
              <a:lnSpc>
                <a:spcPts val="800"/>
              </a:lnSpc>
            </a:pPr>
            <a:r>
              <a:rPr kumimoji="1" lang="ja-JP" altLang="en-US" sz="900" dirty="0">
                <a:solidFill>
                  <a:sysClr val="windowText" lastClr="000000"/>
                </a:solidFill>
              </a:rPr>
              <a:t>情報</a:t>
            </a:r>
          </a:p>
        </p:txBody>
      </p:sp>
      <p:sp>
        <p:nvSpPr>
          <p:cNvPr id="276" name="正方形/長方形 275"/>
          <p:cNvSpPr/>
          <p:nvPr/>
        </p:nvSpPr>
        <p:spPr>
          <a:xfrm>
            <a:off x="7061210" y="4103698"/>
            <a:ext cx="555821" cy="28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endParaRPr kumimoji="1" lang="ja-JP" alt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34" name="正方形/長方形 33"/>
          <p:cNvSpPr/>
          <p:nvPr/>
        </p:nvSpPr>
        <p:spPr>
          <a:xfrm>
            <a:off x="5446938" y="4814865"/>
            <a:ext cx="13756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700" dirty="0"/>
              <a:t>（得意先、部門、社員、商品 等）</a:t>
            </a:r>
            <a:endParaRPr lang="en-US" altLang="ja-JP" sz="700" dirty="0"/>
          </a:p>
        </p:txBody>
      </p:sp>
      <p:sp>
        <p:nvSpPr>
          <p:cNvPr id="279" name="正方形/長方形 278"/>
          <p:cNvSpPr/>
          <p:nvPr/>
        </p:nvSpPr>
        <p:spPr>
          <a:xfrm>
            <a:off x="102226" y="1441884"/>
            <a:ext cx="7056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予算管理</a:t>
            </a:r>
          </a:p>
        </p:txBody>
      </p:sp>
      <p:grpSp>
        <p:nvGrpSpPr>
          <p:cNvPr id="280" name="グループ化 279"/>
          <p:cNvGrpSpPr>
            <a:grpSpLocks noChangeAspect="1"/>
          </p:cNvGrpSpPr>
          <p:nvPr/>
        </p:nvGrpSpPr>
        <p:grpSpPr>
          <a:xfrm>
            <a:off x="766467" y="1463765"/>
            <a:ext cx="241672" cy="241200"/>
            <a:chOff x="4226995" y="126221"/>
            <a:chExt cx="938729" cy="936896"/>
          </a:xfrm>
        </p:grpSpPr>
        <p:sp>
          <p:nvSpPr>
            <p:cNvPr id="282" name="正方形/長方形 281"/>
            <p:cNvSpPr/>
            <p:nvPr/>
          </p:nvSpPr>
          <p:spPr>
            <a:xfrm>
              <a:off x="4286784" y="200360"/>
              <a:ext cx="819150" cy="7886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9" name="Group 25"/>
            <p:cNvGrpSpPr>
              <a:grpSpLocks noChangeAspect="1"/>
            </p:cNvGrpSpPr>
            <p:nvPr/>
          </p:nvGrpSpPr>
          <p:grpSpPr bwMode="auto">
            <a:xfrm>
              <a:off x="4226995" y="126221"/>
              <a:ext cx="938729" cy="936896"/>
              <a:chOff x="1577" y="620"/>
              <a:chExt cx="3072" cy="3066"/>
            </a:xfrm>
          </p:grpSpPr>
          <p:sp>
            <p:nvSpPr>
              <p:cNvPr id="301" name="Freeform 26"/>
              <p:cNvSpPr>
                <a:spLocks noEditPoints="1"/>
              </p:cNvSpPr>
              <p:nvPr/>
            </p:nvSpPr>
            <p:spPr bwMode="auto">
              <a:xfrm>
                <a:off x="1577" y="620"/>
                <a:ext cx="3072" cy="3066"/>
              </a:xfrm>
              <a:custGeom>
                <a:avLst/>
                <a:gdLst>
                  <a:gd name="T0" fmla="*/ 698 w 6400"/>
                  <a:gd name="T1" fmla="*/ 5065 h 6387"/>
                  <a:gd name="T2" fmla="*/ 698 w 6400"/>
                  <a:gd name="T3" fmla="*/ 1272 h 6387"/>
                  <a:gd name="T4" fmla="*/ 3592 w 6400"/>
                  <a:gd name="T5" fmla="*/ 786 h 6387"/>
                  <a:gd name="T6" fmla="*/ 3593 w 6400"/>
                  <a:gd name="T7" fmla="*/ 5583 h 6387"/>
                  <a:gd name="T8" fmla="*/ 786 w 6400"/>
                  <a:gd name="T9" fmla="*/ 5114 h 6387"/>
                  <a:gd name="T10" fmla="*/ 698 w 6400"/>
                  <a:gd name="T11" fmla="*/ 5065 h 6387"/>
                  <a:gd name="T12" fmla="*/ 3715 w 6400"/>
                  <a:gd name="T13" fmla="*/ 4635 h 6387"/>
                  <a:gd name="T14" fmla="*/ 3711 w 6400"/>
                  <a:gd name="T15" fmla="*/ 3998 h 6387"/>
                  <a:gd name="T16" fmla="*/ 5709 w 6400"/>
                  <a:gd name="T17" fmla="*/ 3640 h 6387"/>
                  <a:gd name="T18" fmla="*/ 5713 w 6400"/>
                  <a:gd name="T19" fmla="*/ 4142 h 6387"/>
                  <a:gd name="T20" fmla="*/ 3715 w 6400"/>
                  <a:gd name="T21" fmla="*/ 4635 h 6387"/>
                  <a:gd name="T22" fmla="*/ 3711 w 6400"/>
                  <a:gd name="T23" fmla="*/ 3866 h 6387"/>
                  <a:gd name="T24" fmla="*/ 3711 w 6400"/>
                  <a:gd name="T25" fmla="*/ 3241 h 6387"/>
                  <a:gd name="T26" fmla="*/ 5657 w 6400"/>
                  <a:gd name="T27" fmla="*/ 2919 h 6387"/>
                  <a:gd name="T28" fmla="*/ 5713 w 6400"/>
                  <a:gd name="T29" fmla="*/ 2879 h 6387"/>
                  <a:gd name="T30" fmla="*/ 5091 w 6400"/>
                  <a:gd name="T31" fmla="*/ 3818 h 6387"/>
                  <a:gd name="T32" fmla="*/ 3711 w 6400"/>
                  <a:gd name="T33" fmla="*/ 3866 h 6387"/>
                  <a:gd name="T34" fmla="*/ 4304 w 6400"/>
                  <a:gd name="T35" fmla="*/ 3125 h 6387"/>
                  <a:gd name="T36" fmla="*/ 3716 w 6400"/>
                  <a:gd name="T37" fmla="*/ 3110 h 6387"/>
                  <a:gd name="T38" fmla="*/ 3711 w 6400"/>
                  <a:gd name="T39" fmla="*/ 2475 h 6387"/>
                  <a:gd name="T40" fmla="*/ 5577 w 6400"/>
                  <a:gd name="T41" fmla="*/ 2223 h 6387"/>
                  <a:gd name="T42" fmla="*/ 5648 w 6400"/>
                  <a:gd name="T43" fmla="*/ 2166 h 6387"/>
                  <a:gd name="T44" fmla="*/ 5663 w 6400"/>
                  <a:gd name="T45" fmla="*/ 2154 h 6387"/>
                  <a:gd name="T46" fmla="*/ 5678 w 6400"/>
                  <a:gd name="T47" fmla="*/ 2140 h 6387"/>
                  <a:gd name="T48" fmla="*/ 5695 w 6400"/>
                  <a:gd name="T49" fmla="*/ 2127 h 6387"/>
                  <a:gd name="T50" fmla="*/ 5712 w 6400"/>
                  <a:gd name="T51" fmla="*/ 2113 h 6387"/>
                  <a:gd name="T52" fmla="*/ 5710 w 6400"/>
                  <a:gd name="T53" fmla="*/ 2638 h 6387"/>
                  <a:gd name="T54" fmla="*/ 5157 w 6400"/>
                  <a:gd name="T55" fmla="*/ 3025 h 6387"/>
                  <a:gd name="T56" fmla="*/ 4304 w 6400"/>
                  <a:gd name="T57" fmla="*/ 3125 h 6387"/>
                  <a:gd name="T58" fmla="*/ 3711 w 6400"/>
                  <a:gd name="T59" fmla="*/ 2339 h 6387"/>
                  <a:gd name="T60" fmla="*/ 3712 w 6400"/>
                  <a:gd name="T61" fmla="*/ 1508 h 6387"/>
                  <a:gd name="T62" fmla="*/ 5705 w 6400"/>
                  <a:gd name="T63" fmla="*/ 1944 h 6387"/>
                  <a:gd name="T64" fmla="*/ 3711 w 6400"/>
                  <a:gd name="T65" fmla="*/ 2339 h 6387"/>
                  <a:gd name="T66" fmla="*/ 0 w 6400"/>
                  <a:gd name="T67" fmla="*/ 6387 h 6387"/>
                  <a:gd name="T68" fmla="*/ 6400 w 6400"/>
                  <a:gd name="T69" fmla="*/ 6387 h 6387"/>
                  <a:gd name="T70" fmla="*/ 6400 w 6400"/>
                  <a:gd name="T71" fmla="*/ 0 h 6387"/>
                  <a:gd name="T72" fmla="*/ 12 w 6400"/>
                  <a:gd name="T73" fmla="*/ 0 h 6387"/>
                  <a:gd name="T74" fmla="*/ 0 w 6400"/>
                  <a:gd name="T75" fmla="*/ 6387 h 6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00" h="6387">
                    <a:moveTo>
                      <a:pt x="698" y="5065"/>
                    </a:moveTo>
                    <a:lnTo>
                      <a:pt x="698" y="1272"/>
                    </a:lnTo>
                    <a:lnTo>
                      <a:pt x="3592" y="786"/>
                    </a:lnTo>
                    <a:lnTo>
                      <a:pt x="3593" y="5583"/>
                    </a:lnTo>
                    <a:lnTo>
                      <a:pt x="786" y="5114"/>
                    </a:lnTo>
                    <a:cubicBezTo>
                      <a:pt x="653" y="5073"/>
                      <a:pt x="753" y="5095"/>
                      <a:pt x="698" y="5065"/>
                    </a:cubicBezTo>
                    <a:close/>
                    <a:moveTo>
                      <a:pt x="3715" y="4635"/>
                    </a:moveTo>
                    <a:lnTo>
                      <a:pt x="3711" y="3998"/>
                    </a:lnTo>
                    <a:cubicBezTo>
                      <a:pt x="4312" y="4022"/>
                      <a:pt x="5333" y="4077"/>
                      <a:pt x="5709" y="3640"/>
                    </a:cubicBezTo>
                    <a:lnTo>
                      <a:pt x="5713" y="4142"/>
                    </a:lnTo>
                    <a:cubicBezTo>
                      <a:pt x="5713" y="4720"/>
                      <a:pt x="4098" y="4648"/>
                      <a:pt x="3715" y="4635"/>
                    </a:cubicBezTo>
                    <a:close/>
                    <a:moveTo>
                      <a:pt x="3711" y="3866"/>
                    </a:moveTo>
                    <a:lnTo>
                      <a:pt x="3711" y="3241"/>
                    </a:lnTo>
                    <a:cubicBezTo>
                      <a:pt x="4200" y="3229"/>
                      <a:pt x="5183" y="3327"/>
                      <a:pt x="5657" y="2919"/>
                    </a:cubicBezTo>
                    <a:cubicBezTo>
                      <a:pt x="5698" y="2888"/>
                      <a:pt x="5659" y="2911"/>
                      <a:pt x="5713" y="2879"/>
                    </a:cubicBezTo>
                    <a:cubicBezTo>
                      <a:pt x="5706" y="3446"/>
                      <a:pt x="5870" y="3642"/>
                      <a:pt x="5091" y="3818"/>
                    </a:cubicBezTo>
                    <a:cubicBezTo>
                      <a:pt x="4738" y="3890"/>
                      <a:pt x="4070" y="3938"/>
                      <a:pt x="3711" y="3866"/>
                    </a:cubicBezTo>
                    <a:close/>
                    <a:moveTo>
                      <a:pt x="4304" y="3125"/>
                    </a:moveTo>
                    <a:lnTo>
                      <a:pt x="3716" y="3110"/>
                    </a:lnTo>
                    <a:lnTo>
                      <a:pt x="3711" y="2475"/>
                    </a:lnTo>
                    <a:cubicBezTo>
                      <a:pt x="4233" y="2489"/>
                      <a:pt x="5159" y="2499"/>
                      <a:pt x="5577" y="2223"/>
                    </a:cubicBezTo>
                    <a:lnTo>
                      <a:pt x="5648" y="2166"/>
                    </a:lnTo>
                    <a:cubicBezTo>
                      <a:pt x="5652" y="2162"/>
                      <a:pt x="5658" y="2157"/>
                      <a:pt x="5663" y="2154"/>
                    </a:cubicBezTo>
                    <a:cubicBezTo>
                      <a:pt x="5667" y="2149"/>
                      <a:pt x="5674" y="2144"/>
                      <a:pt x="5678" y="2140"/>
                    </a:cubicBezTo>
                    <a:cubicBezTo>
                      <a:pt x="5683" y="2136"/>
                      <a:pt x="5691" y="2130"/>
                      <a:pt x="5695" y="2127"/>
                    </a:cubicBezTo>
                    <a:cubicBezTo>
                      <a:pt x="5699" y="2123"/>
                      <a:pt x="5706" y="2117"/>
                      <a:pt x="5712" y="2113"/>
                    </a:cubicBezTo>
                    <a:cubicBezTo>
                      <a:pt x="5716" y="2352"/>
                      <a:pt x="5712" y="2516"/>
                      <a:pt x="5710" y="2638"/>
                    </a:cubicBezTo>
                    <a:cubicBezTo>
                      <a:pt x="5708" y="2760"/>
                      <a:pt x="5562" y="2930"/>
                      <a:pt x="5157" y="3025"/>
                    </a:cubicBezTo>
                    <a:cubicBezTo>
                      <a:pt x="4910" y="3083"/>
                      <a:pt x="4569" y="3125"/>
                      <a:pt x="4304" y="3125"/>
                    </a:cubicBezTo>
                    <a:close/>
                    <a:moveTo>
                      <a:pt x="3711" y="2339"/>
                    </a:moveTo>
                    <a:lnTo>
                      <a:pt x="3712" y="1508"/>
                    </a:lnTo>
                    <a:cubicBezTo>
                      <a:pt x="4134" y="1453"/>
                      <a:pt x="5756" y="1508"/>
                      <a:pt x="5705" y="1944"/>
                    </a:cubicBezTo>
                    <a:cubicBezTo>
                      <a:pt x="5660" y="2335"/>
                      <a:pt x="4123" y="2410"/>
                      <a:pt x="3711" y="2339"/>
                    </a:cubicBezTo>
                    <a:close/>
                    <a:moveTo>
                      <a:pt x="0" y="6387"/>
                    </a:moveTo>
                    <a:lnTo>
                      <a:pt x="6400" y="6387"/>
                    </a:lnTo>
                    <a:lnTo>
                      <a:pt x="6400" y="0"/>
                    </a:lnTo>
                    <a:lnTo>
                      <a:pt x="12" y="0"/>
                    </a:lnTo>
                    <a:lnTo>
                      <a:pt x="0" y="6387"/>
                    </a:lnTo>
                    <a:close/>
                  </a:path>
                </a:pathLst>
              </a:custGeom>
              <a:solidFill>
                <a:srgbClr val="A13538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03" name="Freeform 27"/>
              <p:cNvSpPr>
                <a:spLocks noEditPoints="1"/>
              </p:cNvSpPr>
              <p:nvPr/>
            </p:nvSpPr>
            <p:spPr bwMode="auto">
              <a:xfrm>
                <a:off x="2327" y="1754"/>
                <a:ext cx="606" cy="820"/>
              </a:xfrm>
              <a:custGeom>
                <a:avLst/>
                <a:gdLst>
                  <a:gd name="T0" fmla="*/ 610 w 1262"/>
                  <a:gd name="T1" fmla="*/ 389 h 1708"/>
                  <a:gd name="T2" fmla="*/ 759 w 1262"/>
                  <a:gd name="T3" fmla="*/ 1014 h 1708"/>
                  <a:gd name="T4" fmla="*/ 448 w 1262"/>
                  <a:gd name="T5" fmla="*/ 1006 h 1708"/>
                  <a:gd name="T6" fmla="*/ 610 w 1262"/>
                  <a:gd name="T7" fmla="*/ 389 h 1708"/>
                  <a:gd name="T8" fmla="*/ 0 w 1262"/>
                  <a:gd name="T9" fmla="*/ 1642 h 1708"/>
                  <a:gd name="T10" fmla="*/ 303 w 1262"/>
                  <a:gd name="T11" fmla="*/ 1662 h 1708"/>
                  <a:gd name="T12" fmla="*/ 384 w 1262"/>
                  <a:gd name="T13" fmla="*/ 1300 h 1708"/>
                  <a:gd name="T14" fmla="*/ 826 w 1262"/>
                  <a:gd name="T15" fmla="*/ 1314 h 1708"/>
                  <a:gd name="T16" fmla="*/ 944 w 1262"/>
                  <a:gd name="T17" fmla="*/ 1690 h 1708"/>
                  <a:gd name="T18" fmla="*/ 1262 w 1262"/>
                  <a:gd name="T19" fmla="*/ 1708 h 1708"/>
                  <a:gd name="T20" fmla="*/ 789 w 1262"/>
                  <a:gd name="T21" fmla="*/ 0 h 1708"/>
                  <a:gd name="T22" fmla="*/ 447 w 1262"/>
                  <a:gd name="T23" fmla="*/ 15 h 1708"/>
                  <a:gd name="T24" fmla="*/ 0 w 1262"/>
                  <a:gd name="T25" fmla="*/ 1642 h 1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62" h="1708">
                    <a:moveTo>
                      <a:pt x="610" y="389"/>
                    </a:moveTo>
                    <a:lnTo>
                      <a:pt x="759" y="1014"/>
                    </a:lnTo>
                    <a:lnTo>
                      <a:pt x="448" y="1006"/>
                    </a:lnTo>
                    <a:lnTo>
                      <a:pt x="610" y="389"/>
                    </a:lnTo>
                    <a:close/>
                    <a:moveTo>
                      <a:pt x="0" y="1642"/>
                    </a:moveTo>
                    <a:lnTo>
                      <a:pt x="303" y="1662"/>
                    </a:lnTo>
                    <a:lnTo>
                      <a:pt x="384" y="1300"/>
                    </a:lnTo>
                    <a:lnTo>
                      <a:pt x="826" y="1314"/>
                    </a:lnTo>
                    <a:lnTo>
                      <a:pt x="944" y="1690"/>
                    </a:lnTo>
                    <a:lnTo>
                      <a:pt x="1262" y="1708"/>
                    </a:lnTo>
                    <a:lnTo>
                      <a:pt x="789" y="0"/>
                    </a:lnTo>
                    <a:lnTo>
                      <a:pt x="447" y="15"/>
                    </a:lnTo>
                    <a:lnTo>
                      <a:pt x="0" y="1642"/>
                    </a:lnTo>
                    <a:close/>
                  </a:path>
                </a:pathLst>
              </a:custGeom>
              <a:solidFill>
                <a:srgbClr val="A13538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</p:grpSp>
      <p:cxnSp>
        <p:nvCxnSpPr>
          <p:cNvPr id="308" name="カギ線コネクタ 307"/>
          <p:cNvCxnSpPr>
            <a:endCxn id="18" idx="2"/>
          </p:cNvCxnSpPr>
          <p:nvPr/>
        </p:nvCxnSpPr>
        <p:spPr>
          <a:xfrm rot="16200000" flipH="1">
            <a:off x="5312455" y="4284964"/>
            <a:ext cx="592274" cy="345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カギ線コネクタ 309"/>
          <p:cNvCxnSpPr>
            <a:stCxn id="18" idx="3"/>
            <a:endCxn id="111" idx="1"/>
          </p:cNvCxnSpPr>
          <p:nvPr/>
        </p:nvCxnSpPr>
        <p:spPr>
          <a:xfrm rot="16200000" flipH="1">
            <a:off x="6047103" y="5080575"/>
            <a:ext cx="283351" cy="1296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" name="正方形/長方形 322"/>
          <p:cNvSpPr/>
          <p:nvPr/>
        </p:nvSpPr>
        <p:spPr>
          <a:xfrm>
            <a:off x="5554922" y="5034068"/>
            <a:ext cx="596548" cy="28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r>
              <a:rPr kumimoji="1" lang="ja-JP" altLang="en-US" sz="900" dirty="0">
                <a:solidFill>
                  <a:sysClr val="windowText" lastClr="000000"/>
                </a:solidFill>
              </a:rPr>
              <a:t>商品ﾏｽﾀ</a:t>
            </a:r>
          </a:p>
        </p:txBody>
      </p:sp>
      <p:cxnSp>
        <p:nvCxnSpPr>
          <p:cNvPr id="347" name="カギ線コネクタ 346"/>
          <p:cNvCxnSpPr>
            <a:stCxn id="18" idx="1"/>
            <a:endCxn id="10" idx="2"/>
          </p:cNvCxnSpPr>
          <p:nvPr/>
        </p:nvCxnSpPr>
        <p:spPr>
          <a:xfrm rot="5400000" flipH="1" flipV="1">
            <a:off x="7082905" y="2812095"/>
            <a:ext cx="732612" cy="2650477"/>
          </a:xfrm>
          <a:prstGeom prst="bentConnector3">
            <a:avLst>
              <a:gd name="adj1" fmla="val 5975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8" name="正方形/長方形 347"/>
          <p:cNvSpPr/>
          <p:nvPr/>
        </p:nvSpPr>
        <p:spPr>
          <a:xfrm>
            <a:off x="6252525" y="4043601"/>
            <a:ext cx="2035170" cy="28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>
              <a:lnSpc>
                <a:spcPts val="800"/>
              </a:lnSpc>
            </a:pPr>
            <a:r>
              <a:rPr kumimoji="1" lang="ja-JP" altLang="en-US" sz="900" dirty="0">
                <a:solidFill>
                  <a:sysClr val="windowText" lastClr="000000"/>
                </a:solidFill>
              </a:rPr>
              <a:t>部門ﾏｽﾀ</a:t>
            </a:r>
            <a:r>
              <a:rPr lang="ja-JP" altLang="en-US" sz="900" dirty="0">
                <a:solidFill>
                  <a:sysClr val="windowText" lastClr="000000"/>
                </a:solidFill>
              </a:rPr>
              <a:t>、社員ﾏｽﾀ、得意先ﾏｽﾀ</a:t>
            </a:r>
            <a:endParaRPr kumimoji="1" lang="ja-JP" altLang="en-US" sz="900" dirty="0">
              <a:solidFill>
                <a:sysClr val="windowText" lastClr="000000"/>
              </a:solidFill>
            </a:endParaRPr>
          </a:p>
        </p:txBody>
      </p:sp>
      <p:cxnSp>
        <p:nvCxnSpPr>
          <p:cNvPr id="349" name="カギ線コネクタ 348"/>
          <p:cNvCxnSpPr>
            <a:stCxn id="6" idx="1"/>
            <a:endCxn id="252" idx="3"/>
          </p:cNvCxnSpPr>
          <p:nvPr/>
        </p:nvCxnSpPr>
        <p:spPr>
          <a:xfrm rot="10800000" flipV="1">
            <a:off x="1222276" y="1851362"/>
            <a:ext cx="426353" cy="10651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フローチャート: 代替処理 259"/>
          <p:cNvSpPr/>
          <p:nvPr/>
        </p:nvSpPr>
        <p:spPr>
          <a:xfrm>
            <a:off x="3304021" y="889612"/>
            <a:ext cx="2298271" cy="40367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u="sng" dirty="0">
                <a:solidFill>
                  <a:srgbClr val="FF0000"/>
                </a:solidFill>
              </a:rPr>
              <a:t>システム利用は検査部門内に限定</a:t>
            </a:r>
            <a:endParaRPr kumimoji="1" lang="en-US" altLang="ja-JP" sz="900" u="sng" dirty="0">
              <a:solidFill>
                <a:srgbClr val="FF0000"/>
              </a:solidFill>
            </a:endParaRPr>
          </a:p>
          <a:p>
            <a:r>
              <a:rPr lang="ja-JP" altLang="en-US" sz="900" u="sng" dirty="0">
                <a:solidFill>
                  <a:srgbClr val="FF0000"/>
                </a:solidFill>
              </a:rPr>
              <a:t>他部門やお客様とのやりとりは紙・</a:t>
            </a:r>
            <a:r>
              <a:rPr lang="en-US" altLang="ja-JP" sz="900" u="sng" dirty="0">
                <a:solidFill>
                  <a:srgbClr val="FF0000"/>
                </a:solidFill>
              </a:rPr>
              <a:t>Excel</a:t>
            </a:r>
            <a:endParaRPr kumimoji="1" lang="en-US" altLang="ja-JP" sz="900" u="sng" dirty="0">
              <a:solidFill>
                <a:srgbClr val="FF0000"/>
              </a:solidFill>
            </a:endParaRPr>
          </a:p>
        </p:txBody>
      </p:sp>
      <p:sp>
        <p:nvSpPr>
          <p:cNvPr id="269" name="正方形/長方形 268"/>
          <p:cNvSpPr/>
          <p:nvPr/>
        </p:nvSpPr>
        <p:spPr>
          <a:xfrm>
            <a:off x="5752014" y="1097494"/>
            <a:ext cx="528059" cy="1346767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7" name="グループ化 276"/>
          <p:cNvGrpSpPr/>
          <p:nvPr/>
        </p:nvGrpSpPr>
        <p:grpSpPr>
          <a:xfrm>
            <a:off x="5378560" y="868905"/>
            <a:ext cx="367700" cy="352804"/>
            <a:chOff x="5355083" y="249213"/>
            <a:chExt cx="367700" cy="352804"/>
          </a:xfrm>
        </p:grpSpPr>
        <p:sp>
          <p:nvSpPr>
            <p:cNvPr id="278" name="Freeform 133"/>
            <p:cNvSpPr>
              <a:spLocks/>
            </p:cNvSpPr>
            <p:nvPr/>
          </p:nvSpPr>
          <p:spPr bwMode="auto">
            <a:xfrm rot="17336721">
              <a:off x="5355083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1" name="Freeform 133"/>
            <p:cNvSpPr>
              <a:spLocks/>
            </p:cNvSpPr>
            <p:nvPr/>
          </p:nvSpPr>
          <p:spPr bwMode="auto">
            <a:xfrm>
              <a:off x="5369980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>
                  <a:solidFill>
                    <a:schemeClr val="bg1"/>
                  </a:solidFill>
                </a:rPr>
                <a:t>3</a:t>
              </a:r>
              <a:endParaRPr lang="ja-JP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04" name="正方形/長方形 303"/>
          <p:cNvSpPr/>
          <p:nvPr/>
        </p:nvSpPr>
        <p:spPr>
          <a:xfrm>
            <a:off x="2195510" y="4124022"/>
            <a:ext cx="1997223" cy="500667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0" name="フローチャート: 代替処理 349"/>
          <p:cNvSpPr/>
          <p:nvPr/>
        </p:nvSpPr>
        <p:spPr>
          <a:xfrm>
            <a:off x="4449896" y="4084555"/>
            <a:ext cx="1770599" cy="40367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u="sng" dirty="0">
                <a:solidFill>
                  <a:srgbClr val="FF0000"/>
                </a:solidFill>
              </a:rPr>
              <a:t>システム登録の</a:t>
            </a:r>
            <a:endParaRPr kumimoji="1" lang="en-US" altLang="ja-JP" sz="900" u="sng" dirty="0">
              <a:solidFill>
                <a:srgbClr val="FF0000"/>
              </a:solidFill>
            </a:endParaRPr>
          </a:p>
          <a:p>
            <a:r>
              <a:rPr lang="ja-JP" altLang="en-US" sz="900" u="sng" dirty="0">
                <a:solidFill>
                  <a:srgbClr val="FF0000"/>
                </a:solidFill>
              </a:rPr>
              <a:t>手作業、転記業務</a:t>
            </a:r>
            <a:endParaRPr kumimoji="1" lang="en-US" altLang="ja-JP" sz="900" u="sng" dirty="0">
              <a:solidFill>
                <a:srgbClr val="FF0000"/>
              </a:solidFill>
            </a:endParaRPr>
          </a:p>
        </p:txBody>
      </p:sp>
      <p:grpSp>
        <p:nvGrpSpPr>
          <p:cNvPr id="351" name="グループ化 350"/>
          <p:cNvGrpSpPr/>
          <p:nvPr/>
        </p:nvGrpSpPr>
        <p:grpSpPr>
          <a:xfrm>
            <a:off x="4211923" y="4180929"/>
            <a:ext cx="367700" cy="352804"/>
            <a:chOff x="4134589" y="4169370"/>
            <a:chExt cx="367700" cy="352804"/>
          </a:xfrm>
        </p:grpSpPr>
        <p:sp>
          <p:nvSpPr>
            <p:cNvPr id="352" name="Freeform 133"/>
            <p:cNvSpPr>
              <a:spLocks/>
            </p:cNvSpPr>
            <p:nvPr/>
          </p:nvSpPr>
          <p:spPr bwMode="auto">
            <a:xfrm rot="720908">
              <a:off x="4134589" y="4169370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3" name="Freeform 133"/>
            <p:cNvSpPr>
              <a:spLocks/>
            </p:cNvSpPr>
            <p:nvPr/>
          </p:nvSpPr>
          <p:spPr bwMode="auto">
            <a:xfrm>
              <a:off x="4149486" y="4169370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>
                  <a:solidFill>
                    <a:schemeClr val="bg1"/>
                  </a:solidFill>
                </a:rPr>
                <a:t>1</a:t>
              </a:r>
              <a:endParaRPr lang="ja-JP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54" name="フローチャート: 代替処理 353"/>
          <p:cNvSpPr/>
          <p:nvPr/>
        </p:nvSpPr>
        <p:spPr>
          <a:xfrm>
            <a:off x="5064430" y="5247639"/>
            <a:ext cx="1667295" cy="40367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u="sng" dirty="0">
                <a:solidFill>
                  <a:srgbClr val="FF0000"/>
                </a:solidFill>
              </a:rPr>
              <a:t>他システムと</a:t>
            </a:r>
            <a:endParaRPr kumimoji="1" lang="en-US" altLang="ja-JP" sz="900" u="sng" dirty="0">
              <a:solidFill>
                <a:srgbClr val="FF0000"/>
              </a:solidFill>
            </a:endParaRPr>
          </a:p>
          <a:p>
            <a:r>
              <a:rPr kumimoji="1" lang="ja-JP" altLang="en-US" sz="900" u="sng" dirty="0">
                <a:solidFill>
                  <a:srgbClr val="FF0000"/>
                </a:solidFill>
              </a:rPr>
              <a:t>非連動</a:t>
            </a:r>
            <a:endParaRPr kumimoji="1" lang="en-US" altLang="ja-JP" sz="900" u="sng" dirty="0">
              <a:solidFill>
                <a:srgbClr val="FF0000"/>
              </a:solidFill>
            </a:endParaRPr>
          </a:p>
        </p:txBody>
      </p:sp>
      <p:sp>
        <p:nvSpPr>
          <p:cNvPr id="355" name="正方形/長方形 354"/>
          <p:cNvSpPr/>
          <p:nvPr/>
        </p:nvSpPr>
        <p:spPr>
          <a:xfrm>
            <a:off x="6178057" y="5056498"/>
            <a:ext cx="1147011" cy="901800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56" name="グループ化 355"/>
          <p:cNvGrpSpPr/>
          <p:nvPr/>
        </p:nvGrpSpPr>
        <p:grpSpPr>
          <a:xfrm>
            <a:off x="5824939" y="5294612"/>
            <a:ext cx="374329" cy="352804"/>
            <a:chOff x="5355083" y="249213"/>
            <a:chExt cx="367700" cy="352804"/>
          </a:xfrm>
        </p:grpSpPr>
        <p:sp>
          <p:nvSpPr>
            <p:cNvPr id="357" name="Freeform 133"/>
            <p:cNvSpPr>
              <a:spLocks/>
            </p:cNvSpPr>
            <p:nvPr/>
          </p:nvSpPr>
          <p:spPr bwMode="auto">
            <a:xfrm rot="15116649">
              <a:off x="5355083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8" name="Freeform 133"/>
            <p:cNvSpPr>
              <a:spLocks/>
            </p:cNvSpPr>
            <p:nvPr/>
          </p:nvSpPr>
          <p:spPr bwMode="auto">
            <a:xfrm>
              <a:off x="5369980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>
                  <a:solidFill>
                    <a:schemeClr val="bg1"/>
                  </a:solidFill>
                </a:rPr>
                <a:t>2</a:t>
              </a:r>
              <a:endParaRPr lang="ja-JP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59" name="正方形/長方形 358"/>
          <p:cNvSpPr/>
          <p:nvPr/>
        </p:nvSpPr>
        <p:spPr>
          <a:xfrm>
            <a:off x="7366939" y="4533733"/>
            <a:ext cx="566329" cy="947908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60" name="グループ化 359"/>
          <p:cNvGrpSpPr/>
          <p:nvPr/>
        </p:nvGrpSpPr>
        <p:grpSpPr>
          <a:xfrm>
            <a:off x="7567438" y="4216534"/>
            <a:ext cx="367700" cy="352804"/>
            <a:chOff x="5355083" y="249213"/>
            <a:chExt cx="367700" cy="352804"/>
          </a:xfrm>
        </p:grpSpPr>
        <p:sp>
          <p:nvSpPr>
            <p:cNvPr id="361" name="Freeform 133"/>
            <p:cNvSpPr>
              <a:spLocks/>
            </p:cNvSpPr>
            <p:nvPr/>
          </p:nvSpPr>
          <p:spPr bwMode="auto">
            <a:xfrm rot="19739823">
              <a:off x="5355083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62" name="Freeform 133"/>
            <p:cNvSpPr>
              <a:spLocks/>
            </p:cNvSpPr>
            <p:nvPr/>
          </p:nvSpPr>
          <p:spPr bwMode="auto">
            <a:xfrm>
              <a:off x="5369980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>
                  <a:solidFill>
                    <a:schemeClr val="bg1"/>
                  </a:solidFill>
                </a:rPr>
                <a:t>3</a:t>
              </a:r>
              <a:endParaRPr lang="ja-JP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63" name="フローチャート: 代替処理 362"/>
          <p:cNvSpPr/>
          <p:nvPr/>
        </p:nvSpPr>
        <p:spPr>
          <a:xfrm>
            <a:off x="1685575" y="5728284"/>
            <a:ext cx="1445245" cy="40367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u="sng" dirty="0">
                <a:solidFill>
                  <a:srgbClr val="FF0000"/>
                </a:solidFill>
              </a:rPr>
              <a:t>非システム化領域</a:t>
            </a:r>
            <a:br>
              <a:rPr lang="en-US" altLang="ja-JP" sz="900" u="sng" dirty="0">
                <a:solidFill>
                  <a:srgbClr val="FF0000"/>
                </a:solidFill>
              </a:rPr>
            </a:br>
            <a:r>
              <a:rPr lang="ja-JP" altLang="en-US" sz="900" u="sng" dirty="0">
                <a:solidFill>
                  <a:srgbClr val="FF0000"/>
                </a:solidFill>
              </a:rPr>
              <a:t>効果を踏まえデジタル</a:t>
            </a:r>
            <a:endParaRPr lang="en-US" altLang="ja-JP" sz="900" u="sng" dirty="0">
              <a:solidFill>
                <a:srgbClr val="FF0000"/>
              </a:solidFill>
            </a:endParaRPr>
          </a:p>
          <a:p>
            <a:r>
              <a:rPr lang="ja-JP" altLang="en-US" sz="900" u="sng" dirty="0">
                <a:solidFill>
                  <a:srgbClr val="FF0000"/>
                </a:solidFill>
              </a:rPr>
              <a:t>活用を検討したい領域</a:t>
            </a:r>
            <a:endParaRPr kumimoji="1" lang="en-US" altLang="ja-JP" sz="900" u="sng" dirty="0">
              <a:solidFill>
                <a:srgbClr val="FF0000"/>
              </a:solidFill>
            </a:endParaRPr>
          </a:p>
        </p:txBody>
      </p:sp>
      <p:sp>
        <p:nvSpPr>
          <p:cNvPr id="364" name="正方形/長方形 363"/>
          <p:cNvSpPr/>
          <p:nvPr/>
        </p:nvSpPr>
        <p:spPr>
          <a:xfrm>
            <a:off x="125681" y="4671823"/>
            <a:ext cx="1602709" cy="1318078"/>
          </a:xfrm>
          <a:prstGeom prst="rect">
            <a:avLst/>
          </a:prstGeom>
          <a:noFill/>
          <a:ln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65" name="グループ化 364"/>
          <p:cNvGrpSpPr/>
          <p:nvPr/>
        </p:nvGrpSpPr>
        <p:grpSpPr>
          <a:xfrm>
            <a:off x="1379134" y="5861848"/>
            <a:ext cx="367700" cy="352804"/>
            <a:chOff x="5355083" y="249213"/>
            <a:chExt cx="367700" cy="352804"/>
          </a:xfrm>
        </p:grpSpPr>
        <p:sp>
          <p:nvSpPr>
            <p:cNvPr id="366" name="Freeform 133"/>
            <p:cNvSpPr>
              <a:spLocks/>
            </p:cNvSpPr>
            <p:nvPr/>
          </p:nvSpPr>
          <p:spPr bwMode="auto">
            <a:xfrm rot="4475795">
              <a:off x="5355083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67" name="Freeform 133"/>
            <p:cNvSpPr>
              <a:spLocks/>
            </p:cNvSpPr>
            <p:nvPr/>
          </p:nvSpPr>
          <p:spPr bwMode="auto">
            <a:xfrm>
              <a:off x="5369980" y="249213"/>
              <a:ext cx="352803" cy="352804"/>
            </a:xfrm>
            <a:custGeom>
              <a:avLst/>
              <a:gdLst>
                <a:gd name="T0" fmla="*/ 345 w 689"/>
                <a:gd name="T1" fmla="*/ 0 h 689"/>
                <a:gd name="T2" fmla="*/ 0 w 689"/>
                <a:gd name="T3" fmla="*/ 344 h 689"/>
                <a:gd name="T4" fmla="*/ 66 w 689"/>
                <a:gd name="T5" fmla="*/ 547 h 689"/>
                <a:gd name="T6" fmla="*/ 42 w 689"/>
                <a:gd name="T7" fmla="*/ 661 h 689"/>
                <a:gd name="T8" fmla="*/ 153 w 689"/>
                <a:gd name="T9" fmla="*/ 631 h 689"/>
                <a:gd name="T10" fmla="*/ 345 w 689"/>
                <a:gd name="T11" fmla="*/ 689 h 689"/>
                <a:gd name="T12" fmla="*/ 689 w 689"/>
                <a:gd name="T13" fmla="*/ 344 h 689"/>
                <a:gd name="T14" fmla="*/ 345 w 689"/>
                <a:gd name="T15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9" h="689">
                  <a:moveTo>
                    <a:pt x="345" y="0"/>
                  </a:moveTo>
                  <a:cubicBezTo>
                    <a:pt x="154" y="0"/>
                    <a:pt x="0" y="154"/>
                    <a:pt x="0" y="344"/>
                  </a:cubicBezTo>
                  <a:cubicBezTo>
                    <a:pt x="0" y="420"/>
                    <a:pt x="25" y="490"/>
                    <a:pt x="66" y="547"/>
                  </a:cubicBezTo>
                  <a:cubicBezTo>
                    <a:pt x="42" y="661"/>
                    <a:pt x="42" y="661"/>
                    <a:pt x="42" y="661"/>
                  </a:cubicBezTo>
                  <a:cubicBezTo>
                    <a:pt x="153" y="631"/>
                    <a:pt x="153" y="631"/>
                    <a:pt x="153" y="631"/>
                  </a:cubicBezTo>
                  <a:cubicBezTo>
                    <a:pt x="208" y="667"/>
                    <a:pt x="274" y="689"/>
                    <a:pt x="345" y="689"/>
                  </a:cubicBezTo>
                  <a:cubicBezTo>
                    <a:pt x="535" y="689"/>
                    <a:pt x="689" y="534"/>
                    <a:pt x="689" y="344"/>
                  </a:cubicBezTo>
                  <a:cubicBezTo>
                    <a:pt x="689" y="154"/>
                    <a:pt x="535" y="0"/>
                    <a:pt x="345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>
                  <a:solidFill>
                    <a:schemeClr val="bg1"/>
                  </a:solidFill>
                </a:rPr>
                <a:t>4</a:t>
              </a:r>
              <a:endParaRPr lang="ja-JP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91" name="テキスト ボックス 390">
            <a:extLst>
              <a:ext uri="{FF2B5EF4-FFF2-40B4-BE49-F238E27FC236}">
                <a16:creationId xmlns:a16="http://schemas.microsoft.com/office/drawing/2014/main" id="{61630BB2-4899-4C32-98AE-E7DD4C2D511A}"/>
              </a:ext>
            </a:extLst>
          </p:cNvPr>
          <p:cNvSpPr txBox="1"/>
          <p:nvPr/>
        </p:nvSpPr>
        <p:spPr>
          <a:xfrm>
            <a:off x="1063735" y="4008805"/>
            <a:ext cx="913266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lang="ja-JP" altLang="en-US" sz="900" dirty="0"/>
              <a:t>顧客マッピング</a:t>
            </a:r>
            <a:endParaRPr kumimoji="1" lang="en-US" altLang="ja-JP" sz="900" dirty="0"/>
          </a:p>
          <a:p>
            <a:pPr algn="ctr">
              <a:lnSpc>
                <a:spcPts val="900"/>
              </a:lnSpc>
            </a:pPr>
            <a:r>
              <a:rPr kumimoji="1" lang="ja-JP" altLang="en-US" sz="900" dirty="0"/>
              <a:t>（年</a:t>
            </a:r>
            <a:r>
              <a:rPr kumimoji="1" lang="en-US" altLang="ja-JP" sz="900" dirty="0"/>
              <a:t>1</a:t>
            </a:r>
            <a:r>
              <a:rPr kumimoji="1" lang="ja-JP" altLang="en-US" sz="900" dirty="0"/>
              <a:t>回更新）</a:t>
            </a:r>
            <a:endParaRPr kumimoji="1" lang="en-US" altLang="ja-JP" sz="900" dirty="0"/>
          </a:p>
        </p:txBody>
      </p:sp>
      <p:cxnSp>
        <p:nvCxnSpPr>
          <p:cNvPr id="393" name="カギ線コネクタ 392"/>
          <p:cNvCxnSpPr>
            <a:stCxn id="11" idx="3"/>
            <a:endCxn id="10" idx="3"/>
          </p:cNvCxnSpPr>
          <p:nvPr/>
        </p:nvCxnSpPr>
        <p:spPr>
          <a:xfrm>
            <a:off x="9563314" y="1654679"/>
            <a:ext cx="3136" cy="1835548"/>
          </a:xfrm>
          <a:prstGeom prst="bentConnector3">
            <a:avLst>
              <a:gd name="adj1" fmla="val 73895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7790720" y="2239219"/>
            <a:ext cx="22028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※</a:t>
            </a:r>
            <a:r>
              <a:rPr kumimoji="1" lang="ja-JP" altLang="en-US" sz="900" dirty="0"/>
              <a:t>科学分析の検査依頼を</a:t>
            </a:r>
            <a:r>
              <a:rPr kumimoji="1" lang="en-US" altLang="ja-JP" sz="900" dirty="0" err="1"/>
              <a:t>Web</a:t>
            </a:r>
            <a:r>
              <a:rPr lang="en-US" altLang="ja-JP" sz="900" dirty="0" err="1"/>
              <a:t>U</a:t>
            </a:r>
            <a:r>
              <a:rPr kumimoji="1" lang="en-US" altLang="ja-JP" sz="900" dirty="0" err="1"/>
              <a:t>I</a:t>
            </a:r>
            <a:r>
              <a:rPr kumimoji="1" lang="ja-JP" altLang="en-US" sz="900" dirty="0"/>
              <a:t>で受付</a:t>
            </a:r>
          </a:p>
        </p:txBody>
      </p:sp>
      <p:sp>
        <p:nvSpPr>
          <p:cNvPr id="392" name="正方形/長方形 391"/>
          <p:cNvSpPr/>
          <p:nvPr/>
        </p:nvSpPr>
        <p:spPr>
          <a:xfrm>
            <a:off x="7617297" y="55902"/>
            <a:ext cx="2288704" cy="4927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2022/7/29</a:t>
            </a:r>
            <a:r>
              <a:rPr lang="ja-JP" altLang="en-US" sz="2000" dirty="0"/>
              <a:t>更新版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683769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＜新＞みずほカラーパレット">
      <a:dk1>
        <a:sysClr val="windowText" lastClr="000000"/>
      </a:dk1>
      <a:lt1>
        <a:sysClr val="window" lastClr="FFFFFF"/>
      </a:lt1>
      <a:dk2>
        <a:srgbClr val="140078"/>
      </a:dk2>
      <a:lt2>
        <a:srgbClr val="FC0019"/>
      </a:lt2>
      <a:accent1>
        <a:srgbClr val="E1462D"/>
      </a:accent1>
      <a:accent2>
        <a:srgbClr val="F0BE2D"/>
      </a:accent2>
      <a:accent3>
        <a:srgbClr val="64AA41"/>
      </a:accent3>
      <a:accent4>
        <a:srgbClr val="5096C8"/>
      </a:accent4>
      <a:accent5>
        <a:srgbClr val="6978B4"/>
      </a:accent5>
      <a:accent6>
        <a:srgbClr val="825AAA"/>
      </a:accent6>
      <a:hlink>
        <a:srgbClr val="D7781E"/>
      </a:hlink>
      <a:folHlink>
        <a:srgbClr val="32966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solidFill>
            <a:schemeClr val="bg2"/>
          </a:solidFill>
          <a:headEnd type="none" w="med" len="med"/>
          <a:tailEnd type="none" w="med" len="med"/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bg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51225</TotalTime>
  <Words>783</Words>
  <Application>Microsoft Office PowerPoint</Application>
  <PresentationFormat>A4 210 x 297 mm</PresentationFormat>
  <Paragraphs>334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テーマ</vt:lpstr>
      <vt:lpstr>2.2 インタビュー結果サマリ追記｜③現状可視化［システム構成］</vt:lpstr>
      <vt:lpstr>2.2 インタビュー結果サマリ｜③現状可視化［システム構成］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大津 義行(イカリ消毒)</cp:lastModifiedBy>
  <cp:revision>60</cp:revision>
  <cp:lastPrinted>2022-02-08T09:54:07Z</cp:lastPrinted>
  <dcterms:created xsi:type="dcterms:W3CDTF">2014-03-24T05:53:06Z</dcterms:created>
  <dcterms:modified xsi:type="dcterms:W3CDTF">2025-11-11T00:12:33Z</dcterms:modified>
</cp:coreProperties>
</file>